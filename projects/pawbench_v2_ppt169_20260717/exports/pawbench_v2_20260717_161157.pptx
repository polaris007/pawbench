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0" y="0"/>
            <a:ext cx="7620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2950" y="2019300"/>
            <a:ext cx="3994595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952750"/>
            <a:ext cx="3048000" cy="190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1332" y="3297555"/>
            <a:ext cx="306811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spc="300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24450" y="1642110"/>
            <a:ext cx="307009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表现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4450" y="2308860"/>
            <a:ext cx="596665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= f(Model, Harness)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3048000"/>
            <a:ext cx="1905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132832" y="3488055"/>
            <a:ext cx="40165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交叉评测基准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43500" y="4095750"/>
            <a:ext cx="762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35880" y="4410075"/>
            <a:ext cx="30989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 AgentScope 团队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35880" y="4714875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2025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572000" y="6667500"/>
            <a:ext cx="7620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01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2356" y="1139190"/>
            <a:ext cx="69531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714500"/>
            <a:ext cx="5334000" cy="2286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714500"/>
            <a:ext cx="5715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9011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314575"/>
            <a:ext cx="37626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从模型升级到 Agent 框架迭代，效果好坏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600325"/>
            <a:ext cx="433654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 cherry-pick 案例判定，缺乏客观数据支撑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9630" y="28860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难以形成可靠的技术决策依据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143250" y="2000250"/>
            <a:ext cx="19050" cy="114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326892" y="194976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27273" y="2262664"/>
            <a:ext cx="22702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27273" y="2510314"/>
            <a:ext cx="17360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跑完出分，可横向对比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27273" y="2757964"/>
            <a:ext cx="190840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数据说话，告别感觉判断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714500"/>
            <a:ext cx="5334000" cy="2286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714500"/>
            <a:ext cx="5715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63106" y="1901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4630" y="2314575"/>
            <a:ext cx="30982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榜单不测工具调用能力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4630" y="2600325"/>
            <a:ext cx="38252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依赖公网，无法内网部署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4630" y="2886075"/>
            <a:ext cx="38749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自建 Ad-hoc 测试无统一标准，维护成本高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858250" y="2000250"/>
            <a:ext cx="19050" cy="114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041892" y="194976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42273" y="2262664"/>
            <a:ext cx="18828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42273" y="251031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完全私有化部署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42273" y="2757964"/>
            <a:ext cx="17360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381500"/>
            <a:ext cx="11049000" cy="5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352655" y="4565332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2356" y="523494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667375"/>
            <a:ext cx="3429000" cy="76200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54380" y="58197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5523" y="6110764"/>
            <a:ext cx="33352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Agent/LLM 升级后跑一遍，数据说话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191000" y="5667375"/>
            <a:ext cx="3429000" cy="76200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373880" y="58197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75023" y="6110764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5667375"/>
            <a:ext cx="3810000" cy="76200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993380" y="58197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94523" y="6110764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123950"/>
            <a:ext cx="11049000" cy="323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466" y="122015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2966" y="122015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52216" y="12201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57597" y="1228249"/>
            <a:ext cx="95552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完整Agent评测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14847" y="12282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内网运行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72097" y="12282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扩展能力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28966" y="12201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适用场景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447800"/>
            <a:ext cx="11049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33049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33347" y="1533049"/>
            <a:ext cx="14063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Benchmark 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52597" y="1533049"/>
            <a:ext cx="18834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Runtime + Model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5412" y="15411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62662" y="15411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19912" y="15411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29538" y="1541145"/>
            <a:ext cx="14002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 Agent 评测平台首选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1714500"/>
            <a:ext cx="11049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80847" y="1799749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33347" y="1799749"/>
            <a:ext cx="15393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Benchmark 数据集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52597" y="1799749"/>
            <a:ext cx="8171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长流程 Agent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05412" y="18078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62662" y="1807845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19912" y="18078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29538" y="1807845"/>
            <a:ext cx="15274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 Benchmark、能力验证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1981200"/>
            <a:ext cx="11049000" cy="2667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80847" y="2066449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33347" y="2066449"/>
            <a:ext cx="130660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能力 Benchmark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52597" y="2066449"/>
            <a:ext cx="17262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 / Memory / Knowledge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05412" y="20745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62662" y="20745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19912" y="20745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29538" y="2074545"/>
            <a:ext cx="7814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体系评估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2247900"/>
            <a:ext cx="11049000" cy="2667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80847" y="2333149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33347" y="2333149"/>
            <a:ext cx="15466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 Benchmark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52597" y="2333149"/>
            <a:ext cx="8229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05412" y="23412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62662" y="23412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919912" y="2341245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9538" y="2341245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2514600"/>
            <a:ext cx="11049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80847" y="2599849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33347" y="2599849"/>
            <a:ext cx="9989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 Benchmark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52597" y="2599849"/>
            <a:ext cx="9273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LLM-as-Agent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205412" y="2607945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062662" y="26079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19912" y="2607945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729538" y="2607945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学术研究、模型比较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2781300"/>
            <a:ext cx="11049000" cy="2667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80847" y="2866549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633347" y="2866549"/>
            <a:ext cx="14063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 Agent Benchmark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252597" y="2866549"/>
            <a:ext cx="68368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 Agent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205412" y="2874645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062662" y="2874645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919912" y="2874645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729538" y="2874645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能力对标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1500" y="3048000"/>
            <a:ext cx="11049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0847" y="3133249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633347" y="3133249"/>
            <a:ext cx="12644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 Benchmark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252597" y="3133249"/>
            <a:ext cx="95052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软件修复 Agent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05412" y="3141345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062662" y="31413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919912" y="3141345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729538" y="3141345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软件开发 Agent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3314700"/>
            <a:ext cx="11049000" cy="2667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680847" y="3399949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633347" y="3399949"/>
            <a:ext cx="14233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Evaluation Framework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252597" y="3399949"/>
            <a:ext cx="11785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205412" y="3408045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062662" y="34080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919912" y="34080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729538" y="340804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71500" y="3581400"/>
            <a:ext cx="11049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680847" y="3666649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633347" y="3666649"/>
            <a:ext cx="11085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Prompt/LLM Eval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252597" y="3666649"/>
            <a:ext cx="9895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205412" y="3674745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062662" y="36747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919912" y="36747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729538" y="3674745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86" name="Rectangle 86"/>
          <p:cNvSpPr/>
          <p:nvPr/>
        </p:nvSpPr>
        <p:spPr>
          <a:xfrm>
            <a:off x="571500" y="38481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7" name="Rectangle 87"/>
          <p:cNvSpPr/>
          <p:nvPr/>
        </p:nvSpPr>
        <p:spPr>
          <a:xfrm>
            <a:off x="571500" y="4048125"/>
            <a:ext cx="6667500" cy="952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8" name="Rectangle 88"/>
          <p:cNvSpPr/>
          <p:nvPr/>
        </p:nvSpPr>
        <p:spPr>
          <a:xfrm>
            <a:off x="571500" y="4048125"/>
            <a:ext cx="38100" cy="95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774192" y="41595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关键发现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74954" y="4461510"/>
            <a:ext cx="58795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PawBench 是唯一同时评估 Model + Harness + Task 完整 Agent 系统的评测平台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75335" y="4717256"/>
            <a:ext cx="51371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基于 OpenJudge 生态，Task / Judge / Runner 解耦，支持企业自定义任务</a:t>
            </a:r>
          </a:p>
        </p:txBody>
      </p:sp>
      <p:sp>
        <p:nvSpPr>
          <p:cNvPr id="92" name="Rectangle 92"/>
          <p:cNvSpPr/>
          <p:nvPr/>
        </p:nvSpPr>
        <p:spPr>
          <a:xfrm>
            <a:off x="7429500" y="4048125"/>
            <a:ext cx="4191000" cy="952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Rectangle 93"/>
          <p:cNvSpPr/>
          <p:nvPr/>
        </p:nvSpPr>
        <p:spPr>
          <a:xfrm>
            <a:off x="7429500" y="4048125"/>
            <a:ext cx="38100" cy="9525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7632192" y="4159568"/>
            <a:ext cx="20779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 Benchmark 的局限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633716" y="4439602"/>
            <a:ext cx="27302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accent5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榜单不测工具调用、多步编排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7633716" y="4649152"/>
            <a:ext cx="2506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accent5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依赖公网，不可复现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633716" y="4858702"/>
            <a:ext cx="22098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accent5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SWE-bench 仅覆盖代码修复场景</a:t>
            </a:r>
          </a:p>
        </p:txBody>
      </p:sp>
      <p:sp>
        <p:nvSpPr>
          <p:cNvPr id="98" name="Rectangle 98"/>
          <p:cNvSpPr/>
          <p:nvPr/>
        </p:nvSpPr>
        <p:spPr>
          <a:xfrm>
            <a:off x="571500" y="5191125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565785" y="540305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518285" y="5403056"/>
            <a:ext cx="358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 优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185035" y="5403056"/>
            <a:ext cx="358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 良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947035" y="5403056"/>
            <a:ext cx="358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 弱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65785" y="5688806"/>
            <a:ext cx="56782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注：PawBench 底层复用 OpenJudge 评测引擎，故本表不再单独对比 OpenJudge。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5795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核心特性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3429000" cy="12382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3429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核心公式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59639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74056"/>
            <a:ext cx="24053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Model：基座大模型，决定能力上限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183606"/>
            <a:ext cx="2735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Harness：Agent 运行时，决定稳定落地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524125"/>
            <a:ext cx="3429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2524125"/>
            <a:ext cx="3429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2480" y="26670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三维评测矩阵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1718" y="3012758"/>
            <a:ext cx="348162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9 Model × 3 Harness × 150 Task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1718" y="3327082"/>
            <a:ext cx="209250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= 4,050 个评测单元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3810000"/>
            <a:ext cx="3429000" cy="1428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93623" y="3977164"/>
            <a:ext cx="8904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9 个模型：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4766" y="4230052"/>
            <a:ext cx="34596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claude-opus-4.6, deepseek-v4-pro, qwen3.7-max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4766" y="4439602"/>
            <a:ext cx="35868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qwen3.6-max-preview, qwen3.6-plus, qwen3.6-27b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4766" y="4649152"/>
            <a:ext cx="26397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glm-5.1, kimi-k2.6, qwen3.6-35b-a3b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3623" y="4910614"/>
            <a:ext cx="12897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3 个 Harness：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4385" y="5136356"/>
            <a:ext cx="34674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QwenPaw（默认 baseline）/ OpenClaw / Hermes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191000" y="1143000"/>
            <a:ext cx="3619500" cy="23812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4191000" y="1143000"/>
            <a:ext cx="3619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411980" y="12858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三步入式评测流程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419600" y="1666875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531715" y="17592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70323" y="1767364"/>
            <a:ext cx="1681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 Harness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71466" y="2001202"/>
            <a:ext cx="27462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按 (Model, Harness, Task) 交叉矩阵组合</a:t>
            </a:r>
          </a:p>
        </p:txBody>
      </p:sp>
      <p:sp>
        <p:nvSpPr>
          <p:cNvPr id="31" name="Line 31"/>
          <p:cNvSpPr/>
          <p:nvPr/>
        </p:nvSpPr>
        <p:spPr>
          <a:xfrm>
            <a:off x="4591050" y="204787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4419600" y="2333625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531715" y="2426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70323" y="2434114"/>
            <a:ext cx="17662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71466" y="2667952"/>
            <a:ext cx="24772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每任务独立容器，workspace 按需挂载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71466" y="28394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严格超时与重试机制</a:t>
            </a:r>
          </a:p>
        </p:txBody>
      </p:sp>
      <p:sp>
        <p:nvSpPr>
          <p:cNvPr id="37" name="Line 37"/>
          <p:cNvSpPr/>
          <p:nvPr/>
        </p:nvSpPr>
        <p:spPr>
          <a:xfrm>
            <a:off x="4591050" y="271462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419600" y="3000375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31715" y="30927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70323" y="3100864"/>
            <a:ext cx="17908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 双重评分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71466" y="3334702"/>
            <a:ext cx="25338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Automated: Python grade() 断言检查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71466" y="3506152"/>
            <a:ext cx="14278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LLM Judge: 语义评估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191000" y="3667125"/>
            <a:ext cx="3619500" cy="714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413504" y="37947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413885" y="4050506"/>
            <a:ext cx="40521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automated（确定性）| llm_judge（语义）| hybrid（混合）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191000" y="4524375"/>
            <a:ext cx="3619500" cy="523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844500" y="4645342"/>
            <a:ext cx="231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Harness 极差可达 11.5 分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005959" y="48682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3"/>
                </a:solidFill>
                <a:latin typeface="Segoe UI"/>
                <a:ea typeface="Microsoft YaHei"/>
                <a:cs typeface="Segoe UI"/>
              </a:rPr>
              <a:t>接近一次大模型版本升级的收益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001000" y="1143000"/>
            <a:ext cx="36195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001000" y="1143000"/>
            <a:ext cx="3619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221980" y="12858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229600" y="1647825"/>
            <a:ext cx="1524000" cy="30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329041" y="17440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229600" y="2009775"/>
            <a:ext cx="152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329041" y="210597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229600" y="2371725"/>
            <a:ext cx="1524000" cy="30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329041" y="24679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229600" y="2733675"/>
            <a:ext cx="152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329041" y="282987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60" name="Rectangle 60"/>
          <p:cNvSpPr/>
          <p:nvPr/>
        </p:nvSpPr>
        <p:spPr>
          <a:xfrm>
            <a:off x="8229600" y="3095625"/>
            <a:ext cx="1524000" cy="30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329041" y="3191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229600" y="3457575"/>
            <a:ext cx="1524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329041" y="355377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229600" y="3819525"/>
            <a:ext cx="1524000" cy="30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329041" y="39157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862566" y="1744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862566" y="210597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862566" y="2467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862566" y="28298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862566" y="31918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任务规划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862566" y="35537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862566" y="3915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</a:t>
            </a:r>
          </a:p>
        </p:txBody>
      </p:sp>
      <p:sp>
        <p:nvSpPr>
          <p:cNvPr id="73" name="Rectangle 73"/>
          <p:cNvSpPr/>
          <p:nvPr/>
        </p:nvSpPr>
        <p:spPr>
          <a:xfrm>
            <a:off x="8001000" y="4238625"/>
            <a:ext cx="36195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8222742" y="4378642"/>
            <a:ext cx="1130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5 大应用场景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223885" y="4641056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222742" y="4902518"/>
            <a:ext cx="13208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3 个复杂度等级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223885" y="5164931"/>
            <a:ext cx="36516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L1（1-2步）· L2（3-5步）· L3（5步以上含分支）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评测任务体系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五维标签体系，支持精细化切片分析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2047875"/>
            <a:ext cx="3905250" cy="20002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20478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21717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5374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041" y="2763202"/>
            <a:ext cx="31038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Office_Productivity / Software_Engineering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7279" y="30327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8041" y="3258502"/>
            <a:ext cx="36533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Self-Verify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7279" y="352806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8041" y="3753802"/>
            <a:ext cx="32068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L1（1-2步）/ L2（3-5步）/ L3（5+步含分支）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090154" y="3985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090916" y="4211002"/>
            <a:ext cx="28235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090154" y="444246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090916" y="4668202"/>
            <a:ext cx="27104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closed（离线可复现）/ open（需联公网）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3118" y="4298632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切片分析的价值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4714875"/>
            <a:ext cx="3429000" cy="762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571500" y="4714875"/>
            <a:ext cx="38100" cy="7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74573" y="4862989"/>
            <a:ext cx="9176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按能力切片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75335" y="5136356"/>
            <a:ext cx="26108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Skill_Use 平均 47.2，所有能力中最弱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191000" y="4714875"/>
            <a:ext cx="3429000" cy="762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4191000" y="4714875"/>
            <a:ext cx="38100" cy="7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394073" y="4862989"/>
            <a:ext cx="9176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按模态切片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394835" y="5136356"/>
            <a:ext cx="31324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纯文本 74.1 vs 多模态 64.0，后者是共同短板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810500" y="4714875"/>
            <a:ext cx="3810000" cy="762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7810500" y="4714875"/>
            <a:ext cx="38100" cy="7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013573" y="4862989"/>
            <a:ext cx="109853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按复杂度切片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014335" y="5136356"/>
            <a:ext cx="26261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L3 长任务最易暴露模型/Harness 差异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5715000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3664209" y="5825014"/>
            <a:ext cx="486358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每道任务支持 5 维交叉筛选，任意组合切分，精准定位瓶颈所在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06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应用场景与集成路径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337548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 PawBench 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三阶段集成路径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00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1891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Phase 1 — 部署环境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⏱ 预计 2 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327910"/>
            <a:ext cx="52931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部署，拉取 PawBench 仓库，配置 API 密钥，跑通全量 150 任务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762250"/>
            <a:ext cx="53340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762250"/>
            <a:ext cx="57150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886075"/>
            <a:ext cx="1891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Phase 2 — 适配内网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042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⏱ 预计 2 周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470910"/>
            <a:ext cx="47535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改造依赖公网的任务为离线可运行，自定义 20-30 道业务相关任务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3905250"/>
            <a:ext cx="53340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3905250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029075"/>
            <a:ext cx="1891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Phase 3 — 持续优化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347210"/>
            <a:ext cx="8683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♾ 持续进行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613910"/>
            <a:ext cx="48071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迭代流程，每次发布自动评测，切片分析推动持续改进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143500"/>
            <a:ext cx="5334000" cy="3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143500"/>
            <a:ext cx="171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8096250" y="5143500"/>
            <a:ext cx="1714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9906000" y="5143500"/>
            <a:ext cx="171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6281166" y="5268278"/>
            <a:ext cx="5252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Phase 1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090916" y="5268278"/>
            <a:ext cx="5252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Phase 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900666" y="5268278"/>
            <a:ext cx="5252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Phase 3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286500" y="5619750"/>
            <a:ext cx="5334000" cy="523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6844482" y="5745956"/>
            <a:ext cx="42180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python run_bench.py --agents qwenpaw openclaw hermes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639002" y="5963602"/>
            <a:ext cx="26289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3"/>
                </a:solidFill>
                <a:latin typeface="Segoe UI"/>
                <a:ea typeface="Microsoft YaHei"/>
                <a:cs typeface="Segoe UI"/>
              </a:rPr>
              <a:t>支持 OpenAI 兼容 API 和私有化模型接入</a:t>
            </a:r>
          </a:p>
        </p:txBody>
      </p:sp>
      <p:sp>
        <p:nvSpPr>
          <p:cNvPr id="74" name="Rectangle 7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0" y="0"/>
            <a:ext cx="7620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2950" y="1958340"/>
            <a:ext cx="3203296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62250"/>
            <a:ext cx="1143000" cy="285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3618" y="3060382"/>
            <a:ext cx="24917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spc="225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AGENT EVALUATION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618" y="3441382"/>
            <a:ext cx="237759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spc="225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MADE SYSTEMATIC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8260" y="628650"/>
            <a:ext cx="428801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为什么选择 PawBench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11049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143500" y="1381125"/>
            <a:ext cx="3238500" cy="1905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143500" y="1381125"/>
            <a:ext cx="3238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410962" y="1421130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20868" y="1965008"/>
            <a:ext cx="18825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唯一交叉评测平台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23154" y="23279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 + Harness + Task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23154" y="2575560"/>
            <a:ext cx="26833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适合既自研 Agent 又调优模型的团队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23154" y="2823210"/>
            <a:ext cx="25038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Harness 差距量化 — 发现部署瓶颈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572500" y="1381125"/>
            <a:ext cx="3048000" cy="1905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8572500" y="1381125"/>
            <a:ext cx="3048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39962" y="1421130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49868" y="1965008"/>
            <a:ext cx="191758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开源生态 + 可扩展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2154" y="2327910"/>
            <a:ext cx="16070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基于 OpenJudge 生态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52154" y="2575560"/>
            <a:ext cx="16540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可自定义任务和 Judge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52154" y="28232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阿里通义实验室持续维护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143500" y="3476625"/>
            <a:ext cx="3238500" cy="1905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143500" y="3476625"/>
            <a:ext cx="323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410962" y="3516630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20868" y="40605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企业就绪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23154" y="44234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内网部署，数据不出网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23154" y="4671060"/>
            <a:ext cx="14545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可集成到 CI 流水线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23154" y="491871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每次发布自动回归测试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572500" y="3476625"/>
            <a:ext cx="3048000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621660" y="37271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开始使用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50197" y="4204335"/>
            <a:ext cx="8926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github.com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66916" y="4423410"/>
            <a:ext cx="20591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/agentscope-ai/PawBench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048750" y="4810125"/>
            <a:ext cx="2095500" cy="3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380815" y="4918710"/>
            <a:ext cx="14313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Star on GitHub ★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143500" y="5667375"/>
            <a:ext cx="6477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137404" y="5871210"/>
            <a:ext cx="53479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PawBench v1.0 | 150 tasks | 6 datasets | 3 Harnesses | 7 capabilities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37404" y="6137910"/>
            <a:ext cx="52206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License: Apache 2.0 | 技术栈: Python 3.11+ / Docker / Node.js 20+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07 / 07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572000" y="6667500"/>
            <a:ext cx="7620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2026-07-17T08:11:59Z</dcterms:created>
  <dcterms:modified xsi:type="dcterms:W3CDTF">2026-07-17T08:11:59Z</dcterms:modified>
  <cp:category/>
  <cp:contentStatus/>
</cp:coreProperties>
</file>