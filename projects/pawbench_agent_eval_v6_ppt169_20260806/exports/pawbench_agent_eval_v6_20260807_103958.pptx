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theme/theme2.xml" ContentType="application/vnd.openxmlformats-officedocument.theme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  <Relationship Id="rId21" Type="http://schemas.openxmlformats.org/officeDocument/2006/relationships/notesMaster" Target="notesMasters/notesMaster1.xml"/>
</Relationships>
</file>

<file path=ppt/notesMasters/_rels/notesMaster1.xml.rels><?xml version="1.0" encoding="UTF-8" standalone="yes"?>
<Relationships xmlns="http://schemas.openxmlformats.org/package/2006/relationships">
  <Relationship Id="rId1" Type="http://schemas.openxmlformats.org/officeDocument/2006/relationships/theme" Target="../theme/theme2.xml"/>
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marL="0" algn="l">
      <a:defRPr sz="1200" lang="en-US"/>
    </a:lvl1pPr>
  </p:notesStyle>
</p:notesMaster>
</file>

<file path=ppt/notesSlides/_rels/notesSlide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.xml"/>
</Relationships>
</file>

<file path=ppt/notesSlides/_rels/notesSlide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2.xml"/>
</Relationships>
</file>

<file path=ppt/notesSlides/_rels/notesSlide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3.xml"/>
</Relationships>
</file>

<file path=ppt/notesSlides/_rels/notesSlide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4.xml"/>
</Relationships>
</file>

<file path=ppt/notesSlides/_rels/notesSlide5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5.xml"/>
</Relationships>
</file>

<file path=ppt/notesSlides/_rels/notesSlide6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6.xml"/>
</Relationships>
</file>

<file path=ppt/notesSlides/_rels/notesSlide7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7.xml"/>
</Relationships>
</file>

<file path=ppt/notesSlides/_rels/notesSlide8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8.xml"/>
</Relationships>
</file>

<file path=ppt/notesSlides/_rels/notesSlide9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9.xml"/>
</Relationships>
</file>

<file path=ppt/notesSlides/_rels/notesSlide10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0.xml"/>
</Relationships>
</file>

<file path=ppt/notesSlides/_rels/notesSlide11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1.xml"/>
</Relationships>
</file>

<file path=ppt/notesSlides/_rels/notesSlide12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2.xml"/>
</Relationships>
</file>

<file path=ppt/notesSlides/_rels/notesSlide13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3.xml"/>
</Relationships>
</file>

<file path=ppt/notesSlides/_rels/notesSlide14.xml.rels><?xml version="1.0" encoding="UTF-8" standalone="yes"?>
<Relationships xmlns="http://schemas.openxmlformats.org/package/2006/relationships">
  <Relationship Id="rId1" Type="http://schemas.openxmlformats.org/officeDocument/2006/relationships/notesMaster" Target="../notesMasters/notesMaster1.xml"/>
  <Relationship Id="rId2" Type="http://schemas.openxmlformats.org/officeDocument/2006/relationships/slide" Target="../slides/slide14.xml"/>
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01 封面 - 演讲备注</a:t>
            </a:r>
          </a:p>
          <a:p>
            <a:endParaRPr lang="en-US" dirty="0"/>
          </a:p>
          <a:p>
            <a:r>
              <a:rPr lang="zh-CN" dirty="0"/>
              <a:t>时长建议: 30 秒</a:t>
            </a:r>
          </a:p>
          <a:p>
            <a:endParaRPr lang="en-US" dirty="0"/>
          </a:p>
          <a:p>
            <a:r>
              <a:rPr lang="zh-CN" dirty="0"/>
              <a:t>开场话术:</a:t>
            </a:r>
          </a:p>
          <a:p>
            <a:r>
              <a:rPr lang="zh-CN" dirty="0"/>
              <a:t>各位好，今天介绍基于 PawBench 的 Agent 评测。一句话概括核心：Agent 表现 = f(Model, Harness) —— 我们用 Model × Harness × Task 三维交叉评测体系，把"模型好不好"和"部署后好不好用"分开回答。</a:t>
            </a:r>
          </a:p>
          <a:p>
            <a:endParaRPr lang="en-US" dirty="0"/>
          </a:p>
          <a:p>
            <a:r>
              <a:rPr lang="zh-CN" dirty="0"/>
              <a:t>关键点:</a:t>
            </a:r>
          </a:p>
          <a:p>
            <a:r>
              <a:rPr lang="zh-CN" dirty="0"/>
              <a:t>• 三维交叉评测：Model 决定能力上限，Harness 决定稳定落地，Task 决定任务场景</a:t>
            </a:r>
          </a:p>
          <a:p>
            <a:r>
              <a:rPr lang="zh-CN" dirty="0"/>
              <a:t>• 三者独立评测，才能定位真实瓶颈</a:t>
            </a:r>
          </a:p>
          <a:p>
            <a:r>
              <a:rPr lang="zh-CN" dirty="0"/>
              <a:t>• 150 道标准化任务、自动评分引擎、Docker 内网隔离、七维原子能力诊断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为什么需要这样一套评测体系？下一页看两个核心痛点。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02 为什么需要 Agent 评测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痛点一：升级效果无法量化。模型或 Agent 升级后，过去靠人工挑几个案例来"感觉"好坏，缺乏客观数据，形成不了技术决策依据。PawBench 用 150 道标准化任务 + 自动评分引擎，跑完即出分、版本间可横向对比。</a:t>
            </a:r>
          </a:p>
          <a:p>
            <a:r>
              <a:rPr lang="zh-CN" dirty="0"/>
              <a:t>• 痛点二：现有方案局限。通用 LLM 榜单不测工具调用与 Agent 行为；学术 Benchmark 依赖公网，无法内网部署。PawBench 开源 + Docker 沙箱隔离，数据不出网、零外部依赖。</a:t>
            </a:r>
          </a:p>
          <a:p>
            <a:r>
              <a:rPr lang="zh-CN" dirty="0"/>
              <a:t>• 收束：需要一个标准化、可复现、内网可用的方案 → PawBench 带来三大价值：量化升级效果、精准定位短板、内网安全运行。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先看看市面上主流方案长什么样，PawBench 和它们有什么区别。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04 主流 Agent 评测方法论全景 - 演讲备注</a:t>
            </a:r>
          </a:p>
          <a:p>
            <a:endParaRPr lang="en-US" dirty="0"/>
          </a:p>
          <a:p>
            <a:r>
              <a:rPr lang="zh-CN" dirty="0"/>
              <a:t>时长建议: 120 秒（新增方法论页，重点讲解）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这一页梳理主流评测方法论六大范式，回答"怎么评"的问题。主流评测体系普遍是多种范式的混合实践。</a:t>
            </a:r>
          </a:p>
          <a:p>
            <a:r>
              <a:rPr lang="zh-CN" dirty="0"/>
              <a:t>• ① 最终状态评估：确定性后端 + 最终产物/状态比对。可复现、有标准答案，但构建确定性环境工程量大。代表：τ-bench、τ²-bench、AppWorld。</a:t>
            </a:r>
          </a:p>
          <a:p>
            <a:r>
              <a:rPr lang="zh-CN" dirty="0"/>
              <a:t>• ② 轨迹评估：黄金轨迹对齐，或用 LLM 评判轨迹质量。可定位失败步骤，但多路径正确性难以定义。代表：LangSmith、AgentEvals。</a:t>
            </a:r>
          </a:p>
          <a:p>
            <a:r>
              <a:rPr lang="zh-CN" dirty="0"/>
              <a:t>• ③ LLM-as-a-Judge：强模型 + Rubric 细则评分。可扩展、适合开放式任务，但需验证评判一致性。</a:t>
            </a:r>
          </a:p>
          <a:p>
            <a:r>
              <a:rPr lang="zh-CN" dirty="0"/>
              <a:t>• ④ 逐步评估：对每一步独立校验（工具选择、参数、输出）。错误定位精确，但忽略步骤间依赖。代表：Arize Phoenix、DeepEval。</a:t>
            </a:r>
          </a:p>
          <a:p>
            <a:r>
              <a:rPr lang="zh-CN" dirty="0"/>
              <a:t>• ⑤ pass@k 采样：k 次运行的成功率/全成功一致性。更诚实反映随机性，但成本随 k 上升。代表：Claw-Eval、CI 实践。</a:t>
            </a:r>
          </a:p>
          <a:p>
            <a:r>
              <a:rPr lang="zh-CN" dirty="0"/>
              <a:t>• ⑥ 沙箱环境模拟：Docker 隔离 + 离线快照可复现。真实性与可控性的折中，环境构建成本高。代表：GAIA、WebArena、OSWorld。</a:t>
            </a:r>
          </a:p>
          <a:p>
            <a:r>
              <a:rPr lang="zh-CN" dirty="0"/>
              <a:t>• 来源：ACL 2026《A Survey on Evaluation of LLM-based Agents》等公开文献与社区实践。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了解了主流范式，PawBench 的方法论站在哪里？下一页直接对比。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03 主流 Agent 评测方案对比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横向对比 9 个主流方案：PawBench、WildClawBench、SkillsBench、PinchBench、AgentBench、GAIA、SWE-bench、DeepEval、Promptfoo。</a:t>
            </a:r>
          </a:p>
          <a:p>
            <a:r>
              <a:rPr lang="zh-CN" dirty="0"/>
              <a:t>• 关键维度：定位、评测对象、完整 Agent 覆盖、内网部署能力、扩展能力、资料生态。</a:t>
            </a:r>
          </a:p>
          <a:p>
            <a:r>
              <a:rPr lang="zh-CN" dirty="0"/>
              <a:t>• 观察：完整 Agent 评测和内网部署往往不可兼得 —— 学术 Benchmark（GAIA/AgentBench）依赖公网，纯评测框架（DeepEval/Promptfoo）不提供 Agent 任务体系。</a:t>
            </a:r>
          </a:p>
          <a:p>
            <a:r>
              <a:rPr lang="zh-CN" dirty="0"/>
              <a:t>• PawBench 在完整 Agent、内网部署、扩展能力三项同时满星。</a:t>
            </a:r>
          </a:p>
          <a:p>
            <a:r>
              <a:rPr lang="zh-CN" dirty="0"/>
              <a:t>• 评分说明：内网部署 = 内网可运行 + 公网依赖度的综合评价。</a:t>
            </a:r>
          </a:p>
          <a:p>
            <a:r>
              <a:rPr lang="zh-CN" dirty="0"/>
              <a:t>• 数据来源：各项目公开文档及 GitHub 仓库，截至 2025 年 7 月。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这个表比的是"谁来评"，下一页我们看"怎么评"—— 主流的评测方法论。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05 PawBench 方法论 × 主流范式对比 - 演讲备注</a:t>
            </a:r>
          </a:p>
          <a:p>
            <a:endParaRPr lang="en-US" dirty="0"/>
          </a:p>
          <a:p>
            <a:r>
              <a:rPr lang="zh-CN" dirty="0"/>
              <a:t>时长建议: 120 秒（新增方法论页，重点讲解）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核心结论先行：PawBench 与主流"同源混合、交叉创新"。</a:t>
            </a:r>
          </a:p>
          <a:p>
            <a:r>
              <a:rPr lang="zh-CN" dirty="0"/>
              <a:t>• 与主流一致（同源）：</a:t>
            </a:r>
          </a:p>
          <a:p>
            <a:r>
              <a:rPr lang="zh-CN" dirty="0"/>
              <a:t>• 确定性断言检查（automated 自动评分）= 最终状态评估 ①</a:t>
            </a:r>
          </a:p>
          <a:p>
            <a:r>
              <a:rPr lang="zh-CN" dirty="0"/>
              <a:t>• LLM 评判 + Rubric 评分细则 = LLM-as-a-Judge ③</a:t>
            </a:r>
          </a:p>
          <a:p>
            <a:r>
              <a:rPr lang="zh-CN" dirty="0"/>
              <a:t>• Docker 沙箱隔离、离线可复现 = 沙箱环境模拟 ⑥</a:t>
            </a:r>
          </a:p>
          <a:p>
            <a:r>
              <a:rPr lang="zh-CN" dirty="0"/>
              <a:t>• 额外：以 transcript + 产物双重输入评分，兼顾过程信息与最终结果。</a:t>
            </a:r>
          </a:p>
          <a:p>
            <a:r>
              <a:rPr lang="zh-CN" dirty="0"/>
              <a:t>• PawBench 独特（差异化）：</a:t>
            </a:r>
          </a:p>
          <a:p>
            <a:r>
              <a:rPr lang="zh-CN" dirty="0"/>
              <a:t>• Model × Harness × Task 交叉矩阵：主流评测把 Harness/Scaffold 当隐藏变量，PawBench 显式化为独立评测维度，9×3×150 交叉矩阵可定位真实瓶颈在模型还是框架。</a:t>
            </a:r>
          </a:p>
          <a:p>
            <a:r>
              <a:rPr lang="zh-CN" dirty="0"/>
              <a:t>• hybrid 混合惩罚机制：自动分 &lt; 0.75 时 LLM 分清零，防止跳过任务、空文件刷分。</a:t>
            </a:r>
          </a:p>
          <a:p>
            <a:r>
              <a:rPr lang="zh-CN" dirty="0"/>
              <a:t>• 评分对框架中立、刻意不做轨迹对齐：区别于轨迹评估 ②，只依赖 transcript 与 workspace_path，多路径达成同样产物皆可得分。</a:t>
            </a:r>
          </a:p>
          <a:p>
            <a:r>
              <a:rPr lang="zh-CN" dirty="0"/>
              <a:t>• 结论：混合主流范式 + 交叉矩阵设计，使 PawBench 在完整 Agent 评测维度上更全面。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方法论讲清楚了，回到 PawBench 本身的优势。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06 PawBench 的优势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四大核心优势：完整 Agent 评测（Model×Harness×Task 同时评估）、内网安全运行（Docker 数据不出网）、Model×Harness 交叉评测（行业首创解耦设计）、开源可扩展（OpenJudge 生态、Apache 2.0、AgentScope 维护）。</a:t>
            </a:r>
          </a:p>
          <a:p>
            <a:r>
              <a:rPr lang="zh-CN" dirty="0"/>
              <a:t>• 差异化：非纯 LLM 榜单（区别于 GAIA/AgentBench/PinchBench 等依赖公网的方案）、非纯 Skill 评测（覆盖 7 大原子能力含完整流程）。</a:t>
            </a:r>
          </a:p>
          <a:p>
            <a:r>
              <a:rPr lang="zh-CN" dirty="0"/>
              <a:t>• 结论条：唯一在「完整 Agent」「内网部署」「可扩展」三项同时 ★★★★★ 的方案。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PawBench 具体怎么设计评测？下一页看能力与评测设计。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07 PawBench 能力与评测设计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核心设计理念：Agent 表现 = f(Model, Harness)。Model 决定能力上限，Harness 决定稳定落地，两者独立评测才能发现真实瓶颈。</a:t>
            </a:r>
          </a:p>
          <a:p>
            <a:r>
              <a:rPr lang="zh-CN" dirty="0"/>
              <a:t>• 三步评测流程：① 选择模型与 Harness 组合 → ② Docker 沙箱隔离运行（严格超时与重试，确保可复现）→ ③ 自动 + LLM 双重评分。</a:t>
            </a:r>
          </a:p>
          <a:p>
            <a:r>
              <a:rPr lang="zh-CN" dirty="0"/>
              <a:t>• 七种原子能力诊断：Tool_Use（工具调用与编排）、Skill_Use（Skill 发现与执行）、Code_Manipulation（代码操作与修复）、Logic_Reasoning（逻辑推理）、Planning（多步任务规划）、Math_Computation（数学计算）、Self_Verification（自我验证与纠错）。</a:t>
            </a:r>
          </a:p>
          <a:p>
            <a:r>
              <a:rPr lang="zh-CN" dirty="0"/>
              <a:t>• 评分模式：automated（确定性断言检查）、llm_judge（语义评估）、hybrid（混合）。</a:t>
            </a:r>
          </a:p>
          <a:p>
            <a:r>
              <a:rPr lang="zh-CN" dirty="0"/>
              <a:t>• 覆盖场景：办公协同、软件工程、数据分析、信息检索、自动化脚本；任务复杂度 L1/L2/L3。</a:t>
            </a:r>
          </a:p>
          <a:p>
            <a:r>
              <a:rPr lang="zh-CN" dirty="0"/>
              <a:t>• 规模：9 模型 × 3 Harness × 150 任务 = 4,050 个评测单元。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设计落地后的官方评测结果，下一页看评分矩阵。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08 官方评测结果 - 演讲备注</a:t>
            </a:r>
          </a:p>
          <a:p>
            <a:endParaRPr lang="en-US" dirty="0"/>
          </a:p>
          <a:p>
            <a:r>
              <a:rPr lang="zh-CN" dirty="0"/>
              <a:t>时长建议: 45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全景 150 个任务（文本 + 多模态），9 模型 × 3 Harness，Overall 综合得分矩阵。</a:t>
            </a:r>
          </a:p>
          <a:p>
            <a:r>
              <a:rPr lang="zh-CN" dirty="0"/>
              <a:t>• 单元格颜色深浅代表分数高低，跨 harness 加权平均分。</a:t>
            </a:r>
          </a:p>
          <a:p>
            <a:r>
              <a:rPr lang="zh-CN" dirty="0"/>
              <a:t>• 强调：同一模型在不同 Harness 下得分差异，正是"交叉评测定位瓶颈"的证据。</a:t>
            </a:r>
          </a:p>
          <a:p>
            <a:r>
              <a:rPr lang="zh-CN" dirty="0"/>
              <a:t>• 数据来源：PawBench OpenJudge 评测引擎，截至 2025 年 7 月。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这些分数背后是任务体系支撑的，下一页看 150 道任务怎么组织。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09 评测任务体系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150 道任务来自 6 个源数据集：自建 21、claweval 52、qwenclawbench 29、pinchbench 23、skillsbench 15、wildclawbench 10。</a:t>
            </a:r>
          </a:p>
          <a:p>
            <a:r>
              <a:rPr lang="zh-CN" dirty="0"/>
              <a:t>• 五维标签体系：场景 scenario、能力 capabilities（Logic/Math/Code/Tool/Skill/Plan/Verify 七类）、复杂度 complexity（L1 1-2 步 / L2 3-5 步 / L3 5+ 含分支）、输入模态 modality（text / multimodal）、运行环境 environment（closed 离线复现 / open 需联公网）。</a:t>
            </a:r>
          </a:p>
          <a:p>
            <a:r>
              <a:rPr lang="zh-CN" dirty="0"/>
              <a:t>• 五维标签如何赋能：按场景分类对比（排除噪声）、按能力定向诊断（精准定位短板）、按复杂度分层评估（识别多步推理退化点）。</a:t>
            </a:r>
          </a:p>
          <a:p>
            <a:r>
              <a:rPr lang="zh-CN" dirty="0"/>
              <a:t>• 每道任务 5 维标签可任意组合筛选，灵活构建定制化评测维度。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抽象体系之外，看一个具体任务怎么跑完整个链路。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10 任务执行与评分实战 T053 -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任务 T053：来源 pinchbench，类型内容创作·写作，复杂度 L1，环境 closed，评分 hybrid（自动 0.6 + LLM 0.4）。指令：撰写约 500 词博客并保存为 blog_post.md。</a:t>
            </a:r>
          </a:p>
          <a:p>
            <a:r>
              <a:rPr lang="zh-CN" dirty="0"/>
              <a:t>• ① 沙箱执行：Agent 在 Docker 容器中隔离运行，无外部依赖、可离线复现、超时 300s。</a:t>
            </a:r>
          </a:p>
          <a:p>
            <a:r>
              <a:rPr lang="zh-CN" dirty="0"/>
              <a:t>• ② 结果采集：harness 把 OpenClaw session 归一化为 transcript 事件流（message/toolCall/toolResult），新生成文件内容注入 transcript，产物落盘 workspace_path。</a:t>
            </a:r>
          </a:p>
          <a:p>
            <a:r>
              <a:rPr lang="zh-CN" dirty="0"/>
              <a:t>• ③ 双重评分：自动检查（文件存在、词数 450-550 区间打分、标题+段落结构、关键词命中）+ LLM 评判（质量/结构/写作/词数/完成度 Rubric）。</a:t>
            </a:r>
          </a:p>
          <a:p>
            <a:r>
              <a:rPr lang="zh-CN" dirty="0"/>
              <a:t>• ④ 汇总得分：score = 0.6×自动分 + 0.4×LLM 分；混合惩罚机制：自动分 &lt; 0.75 时 LLM 分清零，防止跳过任务/空文件刷分（API 真实失败时豁免）。</a:t>
            </a:r>
          </a:p>
          <a:p>
            <a:r>
              <a:rPr lang="zh-CN" dirty="0"/>
              <a:t>• 强调：一张任务卡 = Prompt + Expected Behavior + 自动检查 + LLM 评分细则；评分仅依赖 transcript 与 workspace_path，对 Agent 框架保持中立。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T053 是内容创作，那日常办公任务呢？下一页看映射关系。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11 任务 ↔ 日常工作能力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日常 7 类使用场景中，6 类在 PawBench 都有强匹配任务，走完全相同的「执行→采集→评分→汇总」链路。</a:t>
            </a:r>
          </a:p>
          <a:p>
            <a:r>
              <a:rPr lang="zh-CN" dirty="0"/>
              <a:t>• 表格逐行简述：邮件处理（T016 混合评分）、通讯录/CRM（T026/027）、内部新闻/资讯（T025 RSS 筛选摘要）、Excel/表格（T140 修复 xlsx 缺值）、文档 PDF（T055/T058 纯 LLM 评判）、代码处理（T064 Playwright E2E）、Skill 创建/使用（T076-T094、SkillsBench T126-T140）。</a:t>
            </a:r>
          </a:p>
          <a:p>
            <a:r>
              <a:rPr lang="zh-CN" dirty="0"/>
              <a:t>• 强调：这些任务均为 hybrid 评分（自动检查 + LLM 评判），与日常使用 OpenClaw 处理邮件/表格/文档/代码/Skill 的能力高度对应，评测结果可直接指导工作流选型。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这样的体系在企业里怎么落地？下一页看应用场景与集成。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12 应用场景与集成方式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典型应用场景：模型升级评估（固定 Harness 横跑新旧模型）、Agent 框架迭代（固定模型横跑不同 Harness 版本）、自定义 Skill 验证、回归测试流水线（CI 自动触发）。</a:t>
            </a:r>
          </a:p>
          <a:p>
            <a:r>
              <a:rPr lang="zh-CN" dirty="0"/>
              <a:t>• 集成方式：环境部署（Docker 一键、配置 API 密钥即可跑通 150 道任务）、内网适配（公网任务改造离线、自定义扩展）、持续迭代（嵌入开发流程自动评测）。</a:t>
            </a:r>
          </a:p>
          <a:p>
            <a:r>
              <a:rPr lang="zh-CN" dirty="0"/>
              <a:t>• 企业需求适配表：内网私有化部署 ✓、评测完整 Agent 系统 ✓、自定义任务扩展 ✓、Skill 能力评估 ✓、量化回归 ✓。</a:t>
            </a:r>
          </a:p>
          <a:p>
            <a:r>
              <a:rPr lang="zh-CN" dirty="0"/>
              <a:t>• 技术特点：OpenAI 兼容 API、纯 Python 无专有依赖、Task/Judge/Runner 解耦可独立定制替换。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「Agent 框架迭代」场景刚讲完——下一页就用 OpenClaw 4.14 升级 5.28 的真实评测案例，验证这个场景的实际效果。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13 实战评测案例 - 演讲备注</a:t>
            </a:r>
          </a:p>
          <a:p>
            <a:endParaRPr lang="en-US" dirty="0"/>
          </a:p>
          <a:p>
            <a:r>
              <a:rPr lang="zh-CN" dirty="0"/>
              <a:t>时长建议: 90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这是我们用 PawBench 做的真实评测：同一 LLM（QWen35-397b）下，OpenClaw 框架从 4.14 升级到 5.28，得分从 68.1 / 66.0 / 70.3（平均 0.6774）降到 60.3 / 61.2 / 59.7（平均 0.6144），平均分下降 6.3 分。</a:t>
            </a:r>
          </a:p>
          <a:p>
            <a:r>
              <a:rPr lang="zh-CN" dirty="0"/>
              <a:t>• 关键差异：4.14 错误后能重试恢复 107 次（78.1%），5.28 恢复 0 次。</a:t>
            </a:r>
          </a:p>
          <a:p>
            <a:r>
              <a:rPr lang="zh-CN" dirty="0"/>
              <a:t>• 根因一（核心）：5.28 重构了错误处理为「incomplete-turn + retry 级联」，截断的 tool call 被判定为 incomplete terminal，不进入重试级联，直接放弃；4.14 是简单 error→重试（至多 5 次）。官方 PR openclaw/openclaw #87571 确认了这一架构缺陷。</a:t>
            </a:r>
          </a:p>
          <a:p>
            <a:r>
              <a:rPr lang="zh-CN" dirty="0"/>
              <a:t>• 根因二（诱因）：5.28 的 LLM 输出被更早/更频繁终止——completion_tokens 平均少 64%（2147→1311）、&gt;1000 tokens 任务少 14 个；timeout 时间分散（2.7-13.1min）发生在 LLM 输出阶段，非固定框架超时。</a:t>
            </a:r>
          </a:p>
          <a:p>
            <a:r>
              <a:rPr lang="zh-CN" dirty="0"/>
              <a:t>• 根因三（诱因）：5.28 对「对话长度」管得更严——对话内容一接近模型容量上限，就中途停止生成并报「上下文超限」错误（4.14 实测从未出现）。源码佐证：5.28 新增溢出识别（src/llm/utils/overflow.ts）与工具循环中途预检（midturn-precheck.ts），且溢出错误明确不重试。</a:t>
            </a:r>
          </a:p>
          <a:p>
            <a:r>
              <a:rPr lang="zh-CN" dirty="0"/>
              <a:t>• 根因四（放大）：5.28 会把「没写完的半截指令」仍当作完整指令执行（agent-loop 只在 error/aborted 时跳过，length 截断仍执行 toolCall；PR #97140 证实），缺参数的操作产生错误副作用；且因系统认为「已经操作过了」而禁止重试，任务无法挽回，恢复 0 次。</a:t>
            </a:r>
          </a:p>
          <a:p>
            <a:r>
              <a:rPr lang="zh-CN" dirty="0"/>
              <a:t>• 结论：版本升级未必带来收益，PawBench 让「Agent 框架迭代」效果可量化、可归因。</a:t>
            </a:r>
          </a:p>
          <a:p>
            <a:endParaRPr lang="en-US" dirty="0"/>
          </a:p>
          <a:p>
            <a:r>
              <a:rPr lang="zh-CN" dirty="0"/>
              <a:t>过渡语:</a:t>
            </a:r>
          </a:p>
          <a:p>
            <a:r>
              <a:rPr lang="zh-CN" dirty="0"/>
              <a:t>这个案例说明，框架升级是好是坏不能凭感觉——最后我们总结一下 PawBench 的核心价值。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zh-CN" dirty="0"/>
              <a:t>14 总结 - 演讲备注</a:t>
            </a:r>
          </a:p>
          <a:p>
            <a:endParaRPr lang="en-US" dirty="0"/>
          </a:p>
          <a:p>
            <a:r>
              <a:rPr lang="zh-CN" dirty="0"/>
              <a:t>时长建议: 60 秒</a:t>
            </a:r>
          </a:p>
          <a:p>
            <a:endParaRPr lang="en-US" dirty="0"/>
          </a:p>
          <a:p>
            <a:r>
              <a:rPr lang="zh-CN" dirty="0"/>
              <a:t>讲解要点:</a:t>
            </a:r>
          </a:p>
          <a:p>
            <a:r>
              <a:rPr lang="zh-CN" dirty="0"/>
              <a:t>• 三大支柱收束：</a:t>
            </a:r>
          </a:p>
          <a:p>
            <a:r>
              <a:rPr lang="zh-CN" dirty="0"/>
              <a:t>• 01 交叉评测矩阵：同时评估 Model、Harness、Task，回答的不只是"模型好不好"，更是"部署后的 Agent 好不好用"。9×3×150 = 4,050 评测单元。</a:t>
            </a:r>
          </a:p>
          <a:p>
            <a:r>
              <a:rPr lang="zh-CN" dirty="0"/>
              <a:t>• 02 灵活可扩展：Task/Judge/Runner 解耦，可自定义任务与评分规则，五维标签支持精细化切片分析。AgentScope 团队出品、Apache 2.0。</a:t>
            </a:r>
          </a:p>
          <a:p>
            <a:r>
              <a:rPr lang="zh-CN" dirty="0"/>
              <a:t>• 03 内网安全就绪：Docker 沙箱隔离、数据不出网，可集成 CI/CD 自动回归，支持 OpenAI 兼容 API。</a:t>
            </a:r>
          </a:p>
          <a:p>
            <a:r>
              <a:rPr lang="zh-CN" dirty="0"/>
              <a:t>• 结语：Agent 评测正处于关键转折期 —— 从手工挑选个别案例做主观判断，转向标准化、自动化、多维度量化评测，是 Agent 从实验走向生产的前提；完整评测体系需同时覆盖模型能力、任务框架和运行环境三个独立变量。</a:t>
            </a:r>
          </a:p>
          <a:p>
            <a:endParaRPr lang="en-US" dirty="0"/>
          </a:p>
          <a:p>
            <a:r>
              <a:rPr lang="zh-CN" dirty="0"/>
              <a:t>收尾话术:</a:t>
            </a:r>
          </a:p>
          <a:p>
            <a:r>
              <a:rPr lang="zh-CN" dirty="0"/>
              <a:t>谢谢大家，欢迎会后交流或直接部署试用。</a:t>
            </a:r>
          </a:p>
        </p:txBody>
      </p:sp>
    </p:spTree>
  </p:cSld>
  <p:clrMapOvr>
    <a:masterClrMapping/>
  </p:clrMapOvr>
</p:note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pawbench_agent_eval_v6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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pawbench_agent_eval_v6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31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7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45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25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1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0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9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.xml"/>
</Relationships>
</file>

<file path=ppt/slides/_rels/slide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2.xml"/>
</Relationships>
</file>

<file path=ppt/slides/_rels/slide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3.xml"/>
</Relationships>
</file>

<file path=ppt/slides/_rels/slide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4.xml"/>
</Relationships>
</file>

<file path=ppt/slides/_rels/slide5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5.xml"/>
</Relationships>
</file>

<file path=ppt/slides/_rels/slide6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6.xml"/>
</Relationships>
</file>

<file path=ppt/slides/_rels/slide7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7.xml"/>
</Relationships>
</file>

<file path=ppt/slides/_rels/slide8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image" Target="../media/image_30fd55ac1d42cb33.jpg"/>
  <Relationship Id="rId3" Type="http://schemas.openxmlformats.org/officeDocument/2006/relationships/notesSlide" Target="../notesSlides/notesSlide8.xml"/>
</Relationships>
</file>

<file path=ppt/slides/_rels/slide9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9.xml"/>
</Relationships>
</file>

<file path=ppt/slides/_rels/slide10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0.xml"/>
</Relationships>
</file>

<file path=ppt/slides/_rels/slide11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1.xml"/>
</Relationships>
</file>

<file path=ppt/slides/_rels/slide12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2.xml"/>
</Relationships>
</file>

<file path=ppt/slides/_rels/slide13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3.xml"/>
</Relationships>
</file>

<file path=ppt/slides/_rels/slide14.xml.rels><?xml version="1.0" encoding="UTF-8" standalone="yes"?>
<Relationships xmlns="http://schemas.openxmlformats.org/package/2006/relationships">
  <Relationship Id="rId1"
                Type="http://schemas.openxmlformats.org/officeDocument/2006/relationships/slideLayout"
                Target="../slideLayouts/slideLayout7.xml"/>
  <Relationship Id="rId2" Type="http://schemas.openxmlformats.org/officeDocument/2006/relationships/notesSlide" Target="../notesSlides/notesSlide14.xml"/>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7"/>
          <p:cNvGrpSpPr/>
          <p:nvPr/>
        </p:nvGrpSpPr>
        <p:grpSpPr>
          <a:xfrm>
            <a:off x="762000" y="1428750"/>
            <a:ext cx="9713608" cy="2118551"/>
            <a:chOff x="762000" y="1428750"/>
            <a:chExt cx="9713608" cy="2118551"/>
          </a:xfrm>
        </p:grpSpPr>
        <p:sp>
          <p:nvSpPr>
            <p:cNvPr id="2" name="Rectangle 2"/>
            <p:cNvSpPr/>
            <p:nvPr/>
          </p:nvSpPr>
          <p:spPr>
            <a:xfrm>
              <a:off x="762000" y="1428750"/>
              <a:ext cx="57150" cy="1143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1133856" y="1520190"/>
              <a:ext cx="331755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PawBench · Agent 评测平台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1123950" y="1910715"/>
              <a:ext cx="9351658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基于 PawBench 的 Agent 评测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1130808" y="2788920"/>
              <a:ext cx="5966993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4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三维交叉评测 · Model × Harness × Task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1136142" y="3283268"/>
              <a:ext cx="54071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Agent 表现 = f(Model, Harness) — 三者独立评测，定位真实瓶颈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1133856" y="4286250"/>
            <a:ext cx="10245242" cy="633984"/>
            <a:chOff x="1133856" y="4286250"/>
            <a:chExt cx="10245242" cy="633984"/>
          </a:xfrm>
        </p:grpSpPr>
        <p:sp>
          <p:nvSpPr>
            <p:cNvPr id="8" name="Rectangle 8"/>
            <p:cNvSpPr/>
            <p:nvPr/>
          </p:nvSpPr>
          <p:spPr>
            <a:xfrm>
              <a:off x="1143000" y="4286250"/>
              <a:ext cx="99060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133856" y="4568190"/>
              <a:ext cx="20410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150 道标准化任务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3991356" y="4568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自动评分引擎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658356" y="4568190"/>
              <a:ext cx="19702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Docker 内网隔离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325356" y="456819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七维原子能力诊断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136142" y="6140768"/>
            <a:ext cx="3404723" cy="264033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zh-CN" sz="135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阿里通义实验室 AgentScope 团队 · 2025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4692570" cy="657035"/>
            <a:chOff x="745998" y="571500"/>
            <a:chExt cx="4692570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469257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为什么需要 Agent 评测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333500"/>
            <a:ext cx="7731798" cy="1524000"/>
            <a:chOff x="762000" y="1333500"/>
            <a:chExt cx="7731798" cy="1524000"/>
          </a:xfrm>
        </p:grpSpPr>
        <p:sp>
          <p:nvSpPr>
            <p:cNvPr id="8" name="Rectangle 8"/>
            <p:cNvSpPr/>
            <p:nvPr/>
          </p:nvSpPr>
          <p:spPr>
            <a:xfrm>
              <a:off x="762000" y="1333500"/>
              <a:ext cx="590550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9" name="Rectangle 9"/>
            <p:cNvSpPr/>
            <p:nvPr/>
          </p:nvSpPr>
          <p:spPr>
            <a:xfrm>
              <a:off x="762000" y="1333500"/>
              <a:ext cx="38100" cy="152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0" name="TextBox 10"/>
            <p:cNvSpPr txBox="1"/>
            <p:nvPr/>
          </p:nvSpPr>
          <p:spPr>
            <a:xfrm>
              <a:off x="1038606" y="1472565"/>
              <a:ext cx="310963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痛点一 · 升级效果无法量化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0892" y="1902142"/>
              <a:ext cx="4829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模型 / Agent 升级后效果好坏，依赖人工挑选少量案例判定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0892" y="2140268"/>
              <a:ext cx="4011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缺乏客观数据支撑，无法形成可靠的技术决策依据</a:t>
              </a:r>
            </a:p>
          </p:txBody>
        </p:sp>
        <p:sp>
          <p:nvSpPr>
            <p:cNvPr id="13" name="Rectangle 13"/>
            <p:cNvSpPr/>
            <p:nvPr/>
          </p:nvSpPr>
          <p:spPr>
            <a:xfrm>
              <a:off x="1047750" y="24955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155192" y="2473642"/>
              <a:ext cx="733860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 PawBench 解法：150 道标准化任务 + 自动评分引擎，版本间可横向对比，数据说话</a:t>
              </a:r>
            </a:p>
          </p:txBody>
        </p:sp>
      </p:grpSp>
      <p:grpSp>
        <p:nvGrpSpPr>
          <p:cNvPr id="23" name="Group 23"/>
          <p:cNvGrpSpPr/>
          <p:nvPr/>
        </p:nvGrpSpPr>
        <p:grpSpPr>
          <a:xfrm>
            <a:off x="6858000" y="1333500"/>
            <a:ext cx="4762500" cy="1524000"/>
            <a:chOff x="6858000" y="1333500"/>
            <a:chExt cx="4762500" cy="1524000"/>
          </a:xfrm>
        </p:grpSpPr>
        <p:sp>
          <p:nvSpPr>
            <p:cNvPr id="16" name="Rectangle 16"/>
            <p:cNvSpPr/>
            <p:nvPr/>
          </p:nvSpPr>
          <p:spPr>
            <a:xfrm>
              <a:off x="6858000" y="1333500"/>
              <a:ext cx="4762500" cy="1524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6858000" y="1333500"/>
              <a:ext cx="38100" cy="1524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7134606" y="1472565"/>
              <a:ext cx="260077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痛点二 · 现有方案局限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136892" y="1902142"/>
              <a:ext cx="371395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通用 LLM 榜单不评估工具调用与 Agent 行为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7136892" y="2140268"/>
              <a:ext cx="41742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学术 Benchmark 依赖公网服务，无法满足内网部署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143750" y="24955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251192" y="2473642"/>
              <a:ext cx="340390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→ 开源 + Docker 沙箱隔离，数据不出网</a:t>
              </a:r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762000" y="3143250"/>
            <a:ext cx="10858500" cy="533400"/>
            <a:chOff x="762000" y="3143250"/>
            <a:chExt cx="10858500" cy="533400"/>
          </a:xfrm>
        </p:grpSpPr>
        <p:sp>
          <p:nvSpPr>
            <p:cNvPr id="24" name="Rectangle 24"/>
            <p:cNvSpPr/>
            <p:nvPr/>
          </p:nvSpPr>
          <p:spPr>
            <a:xfrm>
              <a:off x="762000" y="3143250"/>
              <a:ext cx="10858500" cy="5334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38606" y="3291840"/>
              <a:ext cx="777672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需要一个标准化、可复现、内网可用的 Agent 评测方案 — PawBench</a:t>
              </a:r>
            </a:p>
          </p:txBody>
        </p:sp>
      </p:grpSp>
      <p:grpSp>
        <p:nvGrpSpPr>
          <p:cNvPr id="32" name="Group 32"/>
          <p:cNvGrpSpPr/>
          <p:nvPr/>
        </p:nvGrpSpPr>
        <p:grpSpPr>
          <a:xfrm>
            <a:off x="762000" y="4000500"/>
            <a:ext cx="3467100" cy="1238250"/>
            <a:chOff x="762000" y="4000500"/>
            <a:chExt cx="3467100" cy="1238250"/>
          </a:xfrm>
        </p:grpSpPr>
        <p:sp>
          <p:nvSpPr>
            <p:cNvPr id="27" name="Rectangle 27"/>
            <p:cNvSpPr/>
            <p:nvPr/>
          </p:nvSpPr>
          <p:spPr>
            <a:xfrm>
              <a:off x="762000" y="4000500"/>
              <a:ext cx="3467100" cy="1238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8" name="Rectangle 28"/>
            <p:cNvSpPr/>
            <p:nvPr/>
          </p:nvSpPr>
          <p:spPr>
            <a:xfrm>
              <a:off x="762000" y="4000500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1038606" y="4139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量化升级效果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40892" y="4521518"/>
              <a:ext cx="288233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每次 Agent / LLM 升级后跑一遍，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40892" y="4759642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数据说话，支持横向对比</a:t>
              </a:r>
            </a:p>
          </p:txBody>
        </p:sp>
      </p:grpSp>
      <p:grpSp>
        <p:nvGrpSpPr>
          <p:cNvPr id="38" name="Group 38"/>
          <p:cNvGrpSpPr/>
          <p:nvPr/>
        </p:nvGrpSpPr>
        <p:grpSpPr>
          <a:xfrm>
            <a:off x="4457700" y="4000500"/>
            <a:ext cx="3467100" cy="1238250"/>
            <a:chOff x="4457700" y="4000500"/>
            <a:chExt cx="3467100" cy="1238250"/>
          </a:xfrm>
        </p:grpSpPr>
        <p:sp>
          <p:nvSpPr>
            <p:cNvPr id="33" name="Rectangle 33"/>
            <p:cNvSpPr/>
            <p:nvPr/>
          </p:nvSpPr>
          <p:spPr>
            <a:xfrm>
              <a:off x="4457700" y="4000500"/>
              <a:ext cx="3467100" cy="1238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4" name="Rectangle 34"/>
            <p:cNvSpPr/>
            <p:nvPr/>
          </p:nvSpPr>
          <p:spPr>
            <a:xfrm>
              <a:off x="4457700" y="4000500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34306" y="4139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精准定位短板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36592" y="45215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切片分析可定位具体能力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4736592" y="4759642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和场景的退化点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8153400" y="4000500"/>
            <a:ext cx="3467100" cy="1238250"/>
            <a:chOff x="8153400" y="4000500"/>
            <a:chExt cx="3467100" cy="1238250"/>
          </a:xfrm>
        </p:grpSpPr>
        <p:sp>
          <p:nvSpPr>
            <p:cNvPr id="39" name="Rectangle 39"/>
            <p:cNvSpPr/>
            <p:nvPr/>
          </p:nvSpPr>
          <p:spPr>
            <a:xfrm>
              <a:off x="8153400" y="4000500"/>
              <a:ext cx="3467100" cy="1238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0" name="Rectangle 40"/>
            <p:cNvSpPr/>
            <p:nvPr/>
          </p:nvSpPr>
          <p:spPr>
            <a:xfrm>
              <a:off x="8153400" y="4000500"/>
              <a:ext cx="38100" cy="12382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8430006" y="413956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内网安全运行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8432292" y="4521518"/>
              <a:ext cx="1958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隔离，任务数据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8432292" y="4759642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可改造为离线运行</a:t>
              </a:r>
            </a:p>
          </p:txBody>
        </p:sp>
      </p:grpSp>
      <p:sp>
        <p:nvSpPr>
          <p:cNvPr id="45" name="TextBox 45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02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04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5593163" cy="657035"/>
            <a:chOff x="745998" y="571500"/>
            <a:chExt cx="5593163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5593163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主流 Agent 评测方法论全景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7251421" cy="352044"/>
            <a:chOff x="752856" y="1139190"/>
            <a:chExt cx="7251421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725142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六大范式回答「怎么评」— 主流评测体系普遍是多种范式的混合实践</a:t>
              </a:r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762000" y="1619250"/>
            <a:ext cx="3467100" cy="2057400"/>
            <a:chOff x="762000" y="1619250"/>
            <a:chExt cx="3467100" cy="20574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最终状态评估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892" y="2140268"/>
              <a:ext cx="279429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确定性后端 + 最终产物 / 状态比对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892" y="24069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可复现、有标准答案；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6355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但构建确定性环境工程量大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10477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155192" y="3054668"/>
              <a:ext cx="28730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τ-bench / τ²-bench / AppWorld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4457700" y="1619250"/>
            <a:ext cx="3467100" cy="2057400"/>
            <a:chOff x="4457700" y="1619250"/>
            <a:chExt cx="3467100" cy="2057400"/>
          </a:xfrm>
        </p:grpSpPr>
        <p:sp>
          <p:nvSpPr>
            <p:cNvPr id="19" name="Rectangle 19"/>
            <p:cNvSpPr/>
            <p:nvPr/>
          </p:nvSpPr>
          <p:spPr>
            <a:xfrm>
              <a:off x="44577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44577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4734306" y="1758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轨迹评估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36592" y="2140268"/>
              <a:ext cx="303809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黄金轨迹对齐 或 LLM 评判轨迹质量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36592" y="24069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可定位失败步骤；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36592" y="26355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多路径正确性难以定义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47434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4850892" y="3054668"/>
              <a:ext cx="219572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LangSmith / AgentEvals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8153400" y="1619250"/>
            <a:ext cx="3467100" cy="2057400"/>
            <a:chOff x="8153400" y="1619250"/>
            <a:chExt cx="3467100" cy="2057400"/>
          </a:xfrm>
        </p:grpSpPr>
        <p:sp>
          <p:nvSpPr>
            <p:cNvPr id="28" name="Rectangle 28"/>
            <p:cNvSpPr/>
            <p:nvPr/>
          </p:nvSpPr>
          <p:spPr>
            <a:xfrm>
              <a:off x="8153400" y="1619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8153400" y="1619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8430006" y="1758315"/>
              <a:ext cx="2290390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LLM-as-a-Judge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2292" y="2140268"/>
              <a:ext cx="21234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强模型 + Rubric 细则评分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2292" y="240696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可扩展、适合开放式任务；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8432292" y="26355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需验证评判一致性</a:t>
              </a:r>
            </a:p>
          </p:txBody>
        </p:sp>
        <p:sp>
          <p:nvSpPr>
            <p:cNvPr id="34" name="Rectangle 34"/>
            <p:cNvSpPr/>
            <p:nvPr/>
          </p:nvSpPr>
          <p:spPr>
            <a:xfrm>
              <a:off x="8439150" y="3067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8546592" y="305466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通用开放任务评测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762000" y="3905250"/>
            <a:ext cx="3981869" cy="2057400"/>
            <a:chOff x="762000" y="3905250"/>
            <a:chExt cx="3981869" cy="2057400"/>
          </a:xfrm>
        </p:grpSpPr>
        <p:sp>
          <p:nvSpPr>
            <p:cNvPr id="37" name="Rectangle 37"/>
            <p:cNvSpPr/>
            <p:nvPr/>
          </p:nvSpPr>
          <p:spPr>
            <a:xfrm>
              <a:off x="7620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8" name="Rectangle 38"/>
            <p:cNvSpPr/>
            <p:nvPr/>
          </p:nvSpPr>
          <p:spPr>
            <a:xfrm>
              <a:off x="7620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1038606" y="404431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逐步评估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0892" y="4426268"/>
              <a:ext cx="370297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对每一步独立校验（工具选择 / 参数 / 输出）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1040892" y="46929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错误定位精确；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10408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忽略步骤间依赖</a:t>
              </a:r>
            </a:p>
          </p:txBody>
        </p:sp>
        <p:sp>
          <p:nvSpPr>
            <p:cNvPr id="43" name="Rectangle 43"/>
            <p:cNvSpPr/>
            <p:nvPr/>
          </p:nvSpPr>
          <p:spPr>
            <a:xfrm>
              <a:off x="10477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1155192" y="5340668"/>
              <a:ext cx="22716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Arize Phoenix / DeepEval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4457700" y="3905250"/>
            <a:ext cx="3467100" cy="2057400"/>
            <a:chOff x="4457700" y="3905250"/>
            <a:chExt cx="3467100" cy="2057400"/>
          </a:xfrm>
        </p:grpSpPr>
        <p:sp>
          <p:nvSpPr>
            <p:cNvPr id="46" name="Rectangle 46"/>
            <p:cNvSpPr/>
            <p:nvPr/>
          </p:nvSpPr>
          <p:spPr>
            <a:xfrm>
              <a:off x="44577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7" name="Rectangle 47"/>
            <p:cNvSpPr/>
            <p:nvPr/>
          </p:nvSpPr>
          <p:spPr>
            <a:xfrm>
              <a:off x="44577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4734306" y="4044315"/>
              <a:ext cx="16593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⑤ pass@k 采样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4736592" y="44262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k 次运行的成功率 / 全成功一致性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4736592" y="4692968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更诚实反映随机性；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736592" y="492156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评测成本随 k 上升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47434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4850892" y="5340668"/>
              <a:ext cx="176025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Claw-Eval / CI 实践</a:t>
              </a:r>
            </a:p>
          </p:txBody>
        </p:sp>
      </p:grpSp>
      <p:grpSp>
        <p:nvGrpSpPr>
          <p:cNvPr id="63" name="Group 63"/>
          <p:cNvGrpSpPr/>
          <p:nvPr/>
        </p:nvGrpSpPr>
        <p:grpSpPr>
          <a:xfrm>
            <a:off x="8153400" y="3905250"/>
            <a:ext cx="3467100" cy="2057400"/>
            <a:chOff x="8153400" y="3905250"/>
            <a:chExt cx="3467100" cy="2057400"/>
          </a:xfrm>
        </p:grpSpPr>
        <p:sp>
          <p:nvSpPr>
            <p:cNvPr id="55" name="Rectangle 55"/>
            <p:cNvSpPr/>
            <p:nvPr/>
          </p:nvSpPr>
          <p:spPr>
            <a:xfrm>
              <a:off x="8153400" y="3905250"/>
              <a:ext cx="3467100" cy="20574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6" name="Rectangle 56"/>
            <p:cNvSpPr/>
            <p:nvPr/>
          </p:nvSpPr>
          <p:spPr>
            <a:xfrm>
              <a:off x="8153400" y="3905250"/>
              <a:ext cx="38100" cy="2057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8430006" y="4044315"/>
              <a:ext cx="176114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⑥ 沙箱环境模拟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8432292" y="4426268"/>
              <a:ext cx="253617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Docker 隔离 + 离线快照可复现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8432292" y="46929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真实性与可控性的折中；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432292" y="4921568"/>
              <a:ext cx="12858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环境构建成本高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439150" y="5353050"/>
              <a:ext cx="381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546592" y="5340668"/>
              <a:ext cx="25315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GAIA / WebArena / OSWorld</a:t>
              </a:r>
            </a:p>
          </p:txBody>
        </p:sp>
      </p:grpSp>
      <p:grpSp>
        <p:nvGrpSpPr>
          <p:cNvPr id="66" name="Group 66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64" name="TextBox 64"/>
            <p:cNvSpPr txBox="1"/>
            <p:nvPr/>
          </p:nvSpPr>
          <p:spPr>
            <a:xfrm>
              <a:off x="755904" y="6442710"/>
              <a:ext cx="664398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来源：ACL 2026《A Survey on Evaluation of LLM-based Agents》等公开文献与社区实践</a:t>
              </a:r>
            </a:p>
          </p:txBody>
        </p:sp>
        <p:sp>
          <p:nvSpPr>
            <p:cNvPr id="65" name="TextBox 65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5142867" cy="657035"/>
            <a:chOff x="745998" y="571500"/>
            <a:chExt cx="5142867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51428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主流 Agent 评测方案对比</a:t>
              </a:r>
            </a:p>
          </p:txBody>
        </p:sp>
      </p:grpSp>
      <p:grpSp>
        <p:nvGrpSpPr>
          <p:cNvPr id="88" name="Group 88"/>
          <p:cNvGrpSpPr/>
          <p:nvPr/>
        </p:nvGrpSpPr>
        <p:grpSpPr>
          <a:xfrm>
            <a:off x="762000" y="1219200"/>
            <a:ext cx="10668000" cy="4305300"/>
            <a:chOff x="762000" y="1219200"/>
            <a:chExt cx="10668000" cy="4305300"/>
          </a:xfrm>
        </p:grpSpPr>
        <p:sp>
          <p:nvSpPr>
            <p:cNvPr id="8" name="Rectangle 8"/>
            <p:cNvSpPr/>
            <p:nvPr/>
          </p:nvSpPr>
          <p:spPr>
            <a:xfrm>
              <a:off x="762000" y="1219200"/>
              <a:ext cx="10668000" cy="3619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1060704" y="13277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工具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584704" y="1327785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定位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44897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评测对象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204204" y="1327785"/>
              <a:ext cx="82701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完整Agent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75377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内网部署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8712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扩展能力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014204" y="13277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资料生态</a:t>
              </a:r>
            </a:p>
          </p:txBody>
        </p:sp>
        <p:sp>
          <p:nvSpPr>
            <p:cNvPr id="16" name="Rectangle 16"/>
            <p:cNvSpPr/>
            <p:nvPr/>
          </p:nvSpPr>
          <p:spPr>
            <a:xfrm>
              <a:off x="762000" y="15811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1059942" y="1711642"/>
              <a:ext cx="9039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PawBench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2584704" y="1727835"/>
              <a:ext cx="1163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评测平台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489704" y="1727835"/>
              <a:ext cx="18161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 + Harness + Task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204204" y="1727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7537704" y="1727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8871204" y="17278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014204" y="17278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24" name="Rectangle 24"/>
            <p:cNvSpPr/>
            <p:nvPr/>
          </p:nvSpPr>
          <p:spPr>
            <a:xfrm>
              <a:off x="762000" y="20193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1059942" y="2149792"/>
              <a:ext cx="132826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WildClawBench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2584704" y="2165985"/>
              <a:ext cx="11639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交互评测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489704" y="2165985"/>
              <a:ext cx="1081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System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6204204" y="21659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537704" y="2165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871204" y="21659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10014204" y="21659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32" name="Rectangle 32"/>
            <p:cNvSpPr/>
            <p:nvPr/>
          </p:nvSpPr>
          <p:spPr>
            <a:xfrm>
              <a:off x="762000" y="24574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59942" y="2587942"/>
              <a:ext cx="103549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SkillsBench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584704" y="2604135"/>
              <a:ext cx="7146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评测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4489704" y="2604135"/>
              <a:ext cx="83722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Skill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6204204" y="26041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7537704" y="26041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8871204" y="26041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014204" y="26041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2000" y="28956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59942" y="3026092"/>
              <a:ext cx="10268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PinchBench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2584704" y="3042285"/>
              <a:ext cx="12783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多模态Agent评测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489704" y="3042285"/>
              <a:ext cx="14851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+ Multimodal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6204204" y="30422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7537704" y="30422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871204" y="30422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014204" y="30422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48" name="Rectangle 48"/>
            <p:cNvSpPr/>
            <p:nvPr/>
          </p:nvSpPr>
          <p:spPr>
            <a:xfrm>
              <a:off x="762000" y="33337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59942" y="3464242"/>
              <a:ext cx="10751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AgentBench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2584704" y="3480435"/>
              <a:ext cx="13475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Benchmark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4489704" y="3480435"/>
              <a:ext cx="108119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Agent System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6204204" y="34804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7537704" y="348043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871204" y="34804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55" name="TextBox 55"/>
            <p:cNvSpPr txBox="1"/>
            <p:nvPr/>
          </p:nvSpPr>
          <p:spPr>
            <a:xfrm>
              <a:off x="10014204" y="34804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56" name="Rectangle 56"/>
            <p:cNvSpPr/>
            <p:nvPr/>
          </p:nvSpPr>
          <p:spPr>
            <a:xfrm>
              <a:off x="762000" y="37719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59942" y="3902392"/>
              <a:ext cx="40688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GAIA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2584704" y="3918585"/>
              <a:ext cx="84002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通用AI评测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489704" y="3918585"/>
              <a:ext cx="96735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+ Agent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6204204" y="39185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61" name="TextBox 61"/>
            <p:cNvSpPr txBox="1"/>
            <p:nvPr/>
          </p:nvSpPr>
          <p:spPr>
            <a:xfrm>
              <a:off x="7537704" y="3918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62" name="TextBox 62"/>
            <p:cNvSpPr txBox="1"/>
            <p:nvPr/>
          </p:nvSpPr>
          <p:spPr>
            <a:xfrm>
              <a:off x="8871204" y="391858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10014204" y="39185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64" name="Rectangle 64"/>
            <p:cNvSpPr/>
            <p:nvPr/>
          </p:nvSpPr>
          <p:spPr>
            <a:xfrm>
              <a:off x="762000" y="42100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5" name="TextBox 65"/>
            <p:cNvSpPr txBox="1"/>
            <p:nvPr/>
          </p:nvSpPr>
          <p:spPr>
            <a:xfrm>
              <a:off x="1059942" y="4340542"/>
              <a:ext cx="10173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SWE-bench</a:t>
              </a:r>
            </a:p>
          </p:txBody>
        </p:sp>
        <p:sp>
          <p:nvSpPr>
            <p:cNvPr id="66" name="TextBox 66"/>
            <p:cNvSpPr txBox="1"/>
            <p:nvPr/>
          </p:nvSpPr>
          <p:spPr>
            <a:xfrm>
              <a:off x="2584704" y="4356735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代码修复评测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4489704" y="4356735"/>
              <a:ext cx="10077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Coding Agent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6204204" y="43567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69" name="TextBox 69"/>
            <p:cNvSpPr txBox="1"/>
            <p:nvPr/>
          </p:nvSpPr>
          <p:spPr>
            <a:xfrm>
              <a:off x="7537704" y="435673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★★★★</a:t>
              </a:r>
            </a:p>
          </p:txBody>
        </p:sp>
        <p:sp>
          <p:nvSpPr>
            <p:cNvPr id="70" name="TextBox 70"/>
            <p:cNvSpPr txBox="1"/>
            <p:nvPr/>
          </p:nvSpPr>
          <p:spPr>
            <a:xfrm>
              <a:off x="8871204" y="43567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10014204" y="43567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72" name="Rectangle 72"/>
            <p:cNvSpPr/>
            <p:nvPr/>
          </p:nvSpPr>
          <p:spPr>
            <a:xfrm>
              <a:off x="762000" y="464820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3" name="TextBox 73"/>
            <p:cNvSpPr txBox="1"/>
            <p:nvPr/>
          </p:nvSpPr>
          <p:spPr>
            <a:xfrm>
              <a:off x="1059942" y="4778692"/>
              <a:ext cx="81684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DeepEval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2584704" y="47948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评测框架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489704" y="4794885"/>
              <a:ext cx="14431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 / RAG / Agent</a:t>
              </a:r>
            </a:p>
          </p:txBody>
        </p:sp>
        <p:sp>
          <p:nvSpPr>
            <p:cNvPr id="76" name="TextBox 76"/>
            <p:cNvSpPr txBox="1"/>
            <p:nvPr/>
          </p:nvSpPr>
          <p:spPr>
            <a:xfrm>
              <a:off x="6204204" y="4794885"/>
              <a:ext cx="49682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★★★</a:t>
              </a:r>
            </a:p>
          </p:txBody>
        </p:sp>
        <p:sp>
          <p:nvSpPr>
            <p:cNvPr id="77" name="TextBox 77"/>
            <p:cNvSpPr txBox="1"/>
            <p:nvPr/>
          </p:nvSpPr>
          <p:spPr>
            <a:xfrm>
              <a:off x="7537704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78" name="TextBox 78"/>
            <p:cNvSpPr txBox="1"/>
            <p:nvPr/>
          </p:nvSpPr>
          <p:spPr>
            <a:xfrm>
              <a:off x="8871204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10014204" y="479488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80" name="Rectangle 80"/>
            <p:cNvSpPr/>
            <p:nvPr/>
          </p:nvSpPr>
          <p:spPr>
            <a:xfrm>
              <a:off x="762000" y="508635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81" name="TextBox 81"/>
            <p:cNvSpPr txBox="1"/>
            <p:nvPr/>
          </p:nvSpPr>
          <p:spPr>
            <a:xfrm>
              <a:off x="1059942" y="5216842"/>
              <a:ext cx="100264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Promptfoo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2584704" y="5233035"/>
              <a:ext cx="957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Prompt 评测</a:t>
              </a:r>
            </a:p>
          </p:txBody>
        </p:sp>
        <p:sp>
          <p:nvSpPr>
            <p:cNvPr id="83" name="TextBox 83"/>
            <p:cNvSpPr txBox="1"/>
            <p:nvPr/>
          </p:nvSpPr>
          <p:spPr>
            <a:xfrm>
              <a:off x="4489704" y="5233035"/>
              <a:ext cx="12117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Prompt + Model</a:t>
              </a:r>
            </a:p>
          </p:txBody>
        </p:sp>
        <p:sp>
          <p:nvSpPr>
            <p:cNvPr id="84" name="TextBox 84"/>
            <p:cNvSpPr txBox="1"/>
            <p:nvPr/>
          </p:nvSpPr>
          <p:spPr>
            <a:xfrm>
              <a:off x="6204204" y="5233035"/>
              <a:ext cx="33528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★★</a:t>
              </a:r>
            </a:p>
          </p:txBody>
        </p:sp>
        <p:sp>
          <p:nvSpPr>
            <p:cNvPr id="85" name="TextBox 85"/>
            <p:cNvSpPr txBox="1"/>
            <p:nvPr/>
          </p:nvSpPr>
          <p:spPr>
            <a:xfrm>
              <a:off x="7537704" y="52330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86" name="TextBox 86"/>
            <p:cNvSpPr txBox="1"/>
            <p:nvPr/>
          </p:nvSpPr>
          <p:spPr>
            <a:xfrm>
              <a:off x="8871204" y="52330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  <p:sp>
          <p:nvSpPr>
            <p:cNvPr id="87" name="TextBox 87"/>
            <p:cNvSpPr txBox="1"/>
            <p:nvPr/>
          </p:nvSpPr>
          <p:spPr>
            <a:xfrm>
              <a:off x="10014204" y="5233035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★★★★★</a:t>
              </a:r>
            </a:p>
          </p:txBody>
        </p:sp>
      </p:grpSp>
      <p:grpSp>
        <p:nvGrpSpPr>
          <p:cNvPr id="91" name="Group 91"/>
          <p:cNvGrpSpPr/>
          <p:nvPr/>
        </p:nvGrpSpPr>
        <p:grpSpPr>
          <a:xfrm>
            <a:off x="762000" y="5753100"/>
            <a:ext cx="10668000" cy="495300"/>
            <a:chOff x="762000" y="5753100"/>
            <a:chExt cx="10668000" cy="495300"/>
          </a:xfrm>
        </p:grpSpPr>
        <p:sp>
          <p:nvSpPr>
            <p:cNvPr id="89" name="Rectangle 89"/>
            <p:cNvSpPr/>
            <p:nvPr/>
          </p:nvSpPr>
          <p:spPr>
            <a:xfrm>
              <a:off x="762000" y="5753100"/>
              <a:ext cx="10668000" cy="4953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90" name="TextBox 90"/>
            <p:cNvSpPr txBox="1"/>
            <p:nvPr/>
          </p:nvSpPr>
          <p:spPr>
            <a:xfrm>
              <a:off x="1059942" y="5931218"/>
              <a:ext cx="908739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评分说明：★★★★★ 优 · ★★★★ 良 · ★★★ 中 · ★★ 弱 ｜ 内网部署 = 内网可运行 + 公网依赖度综合</a:t>
              </a:r>
            </a:p>
          </p:txBody>
        </p:sp>
      </p:grpSp>
      <p:sp>
        <p:nvSpPr>
          <p:cNvPr id="92" name="TextBox 92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04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05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6827928" cy="657035"/>
            <a:chOff x="745998" y="571500"/>
            <a:chExt cx="6827928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682792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方法论 × 主流范式对比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9786652" cy="352044"/>
            <a:chOff x="752856" y="1139190"/>
            <a:chExt cx="9786652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78665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PawBench 与主流「同源混合、交叉创新」— 混合采用主流范式，并以交叉矩阵走出差异化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1619250"/>
            <a:ext cx="5334000" cy="4000500"/>
            <a:chOff x="762000" y="1619250"/>
            <a:chExt cx="5334000" cy="4000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400050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758315"/>
              <a:ext cx="209190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与主流一致 · 同源</a:t>
              </a:r>
            </a:p>
          </p:txBody>
        </p:sp>
        <p:grpSp>
          <p:nvGrpSpPr>
            <p:cNvPr id="16" name="Group 16"/>
            <p:cNvGrpSpPr/>
            <p:nvPr/>
          </p:nvGrpSpPr>
          <p:grpSpPr>
            <a:xfrm>
              <a:off x="1047750" y="2190750"/>
              <a:ext cx="4762500" cy="704850"/>
              <a:chOff x="1047750" y="2190750"/>
              <a:chExt cx="4762500" cy="704850"/>
            </a:xfrm>
          </p:grpSpPr>
          <p:sp>
            <p:nvSpPr>
              <p:cNvPr id="13" name="Rectangle 13"/>
              <p:cNvSpPr/>
              <p:nvPr/>
            </p:nvSpPr>
            <p:spPr>
              <a:xfrm>
                <a:off x="1047750" y="21907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1231392" y="2330768"/>
                <a:ext cx="353441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确定性断言检查（automated 自动评分）</a:t>
                </a:r>
              </a:p>
            </p:txBody>
          </p:sp>
          <p:sp>
            <p:nvSpPr>
              <p:cNvPr id="15" name="TextBox 15"/>
              <p:cNvSpPr txBox="1"/>
              <p:nvPr/>
            </p:nvSpPr>
            <p:spPr>
              <a:xfrm>
                <a:off x="1231392" y="25974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最终状态评估 ①</a:t>
                </a:r>
              </a:p>
            </p:txBody>
          </p:sp>
        </p:grpSp>
        <p:grpSp>
          <p:nvGrpSpPr>
            <p:cNvPr id="20" name="Group 20"/>
            <p:cNvGrpSpPr/>
            <p:nvPr/>
          </p:nvGrpSpPr>
          <p:grpSpPr>
            <a:xfrm>
              <a:off x="1047750" y="3048000"/>
              <a:ext cx="4762500" cy="704850"/>
              <a:chOff x="1047750" y="3048000"/>
              <a:chExt cx="4762500" cy="704850"/>
            </a:xfrm>
          </p:grpSpPr>
          <p:sp>
            <p:nvSpPr>
              <p:cNvPr id="17" name="Rectangle 17"/>
              <p:cNvSpPr/>
              <p:nvPr/>
            </p:nvSpPr>
            <p:spPr>
              <a:xfrm>
                <a:off x="1047750" y="304800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18" name="TextBox 18"/>
              <p:cNvSpPr txBox="1"/>
              <p:nvPr/>
            </p:nvSpPr>
            <p:spPr>
              <a:xfrm>
                <a:off x="1231392" y="3188018"/>
                <a:ext cx="248836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LLM 评判 + Rubric 评分细则</a:t>
                </a:r>
              </a:p>
            </p:txBody>
          </p:sp>
          <p:sp>
            <p:nvSpPr>
              <p:cNvPr id="19" name="TextBox 19"/>
              <p:cNvSpPr txBox="1"/>
              <p:nvPr/>
            </p:nvSpPr>
            <p:spPr>
              <a:xfrm>
                <a:off x="1231392" y="3454718"/>
                <a:ext cx="1794302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en-US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LLM-as-a-Judge ③</a:t>
                </a:r>
              </a:p>
            </p:txBody>
          </p:sp>
        </p:grpSp>
        <p:grpSp>
          <p:nvGrpSpPr>
            <p:cNvPr id="24" name="Group 24"/>
            <p:cNvGrpSpPr/>
            <p:nvPr/>
          </p:nvGrpSpPr>
          <p:grpSpPr>
            <a:xfrm>
              <a:off x="1047750" y="3905250"/>
              <a:ext cx="4762500" cy="704850"/>
              <a:chOff x="1047750" y="3905250"/>
              <a:chExt cx="4762500" cy="704850"/>
            </a:xfrm>
          </p:grpSpPr>
          <p:sp>
            <p:nvSpPr>
              <p:cNvPr id="21" name="Rectangle 21"/>
              <p:cNvSpPr/>
              <p:nvPr/>
            </p:nvSpPr>
            <p:spPr>
              <a:xfrm>
                <a:off x="1047750" y="3905250"/>
                <a:ext cx="4762500" cy="70485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22" name="TextBox 22"/>
              <p:cNvSpPr txBox="1"/>
              <p:nvPr/>
            </p:nvSpPr>
            <p:spPr>
              <a:xfrm>
                <a:off x="1231392" y="4045268"/>
                <a:ext cx="2633403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Docker 沙箱隔离、离线可复现</a:t>
                </a:r>
              </a:p>
            </p:txBody>
          </p:sp>
          <p:sp>
            <p:nvSpPr>
              <p:cNvPr id="23" name="TextBox 23"/>
              <p:cNvSpPr txBox="1"/>
              <p:nvPr/>
            </p:nvSpPr>
            <p:spPr>
              <a:xfrm>
                <a:off x="1231392" y="4311968"/>
                <a:ext cx="141309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= 沙箱环境模拟 ⑥</a:t>
                </a:r>
              </a:p>
            </p:txBody>
          </p:sp>
        </p:grpSp>
        <p:sp>
          <p:nvSpPr>
            <p:cNvPr id="25" name="TextBox 25"/>
            <p:cNvSpPr txBox="1"/>
            <p:nvPr/>
          </p:nvSpPr>
          <p:spPr>
            <a:xfrm>
              <a:off x="1040892" y="4997768"/>
              <a:ext cx="34121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此外以 transcript + 产物双重输入评分，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1040892" y="524541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兼顾过程信息与最终结果</a:t>
              </a:r>
            </a:p>
          </p:txBody>
        </p:sp>
      </p:grpSp>
      <p:grpSp>
        <p:nvGrpSpPr>
          <p:cNvPr id="46" name="Group 46"/>
          <p:cNvGrpSpPr/>
          <p:nvPr/>
        </p:nvGrpSpPr>
        <p:grpSpPr>
          <a:xfrm>
            <a:off x="6286500" y="1619250"/>
            <a:ext cx="5334000" cy="4000500"/>
            <a:chOff x="6286500" y="1619250"/>
            <a:chExt cx="5334000" cy="4000500"/>
          </a:xfrm>
        </p:grpSpPr>
        <p:sp>
          <p:nvSpPr>
            <p:cNvPr id="28" name="Rectangle 28"/>
            <p:cNvSpPr/>
            <p:nvPr/>
          </p:nvSpPr>
          <p:spPr>
            <a:xfrm>
              <a:off x="6286500" y="1619250"/>
              <a:ext cx="5334000" cy="4000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Rectangle 29"/>
            <p:cNvSpPr/>
            <p:nvPr/>
          </p:nvSpPr>
          <p:spPr>
            <a:xfrm>
              <a:off x="6286500" y="1619250"/>
              <a:ext cx="38100" cy="40005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6563106" y="1758315"/>
              <a:ext cx="286954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PawBench 独特 · 差异化</a:t>
              </a:r>
            </a:p>
          </p:txBody>
        </p:sp>
        <p:grpSp>
          <p:nvGrpSpPr>
            <p:cNvPr id="35" name="Group 35"/>
            <p:cNvGrpSpPr/>
            <p:nvPr/>
          </p:nvGrpSpPr>
          <p:grpSpPr>
            <a:xfrm>
              <a:off x="6572250" y="2190750"/>
              <a:ext cx="4762500" cy="990600"/>
              <a:chOff x="6572250" y="2190750"/>
              <a:chExt cx="4762500" cy="990600"/>
            </a:xfrm>
          </p:grpSpPr>
          <p:sp>
            <p:nvSpPr>
              <p:cNvPr id="31" name="Rectangle 31"/>
              <p:cNvSpPr/>
              <p:nvPr/>
            </p:nvSpPr>
            <p:spPr>
              <a:xfrm>
                <a:off x="6572250" y="2190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2" name="TextBox 32"/>
              <p:cNvSpPr txBox="1"/>
              <p:nvPr/>
            </p:nvSpPr>
            <p:spPr>
              <a:xfrm>
                <a:off x="6755892" y="2311718"/>
                <a:ext cx="29739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Model × Harness × Task 交叉矩阵</a:t>
                </a:r>
              </a:p>
            </p:txBody>
          </p:sp>
          <p:sp>
            <p:nvSpPr>
              <p:cNvPr id="33" name="TextBox 33"/>
              <p:cNvSpPr txBox="1"/>
              <p:nvPr/>
            </p:nvSpPr>
            <p:spPr>
              <a:xfrm>
                <a:off x="6755892" y="2559368"/>
                <a:ext cx="333120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主流把 Harness 当隐藏变量，PawBench</a:t>
                </a:r>
              </a:p>
            </p:txBody>
          </p:sp>
          <p:sp>
            <p:nvSpPr>
              <p:cNvPr id="34" name="TextBox 34"/>
              <p:cNvSpPr txBox="1"/>
              <p:nvPr/>
            </p:nvSpPr>
            <p:spPr>
              <a:xfrm>
                <a:off x="6755892" y="2787968"/>
                <a:ext cx="3103245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显式化为独立评测维度，定位真实瓶颈</a:t>
                </a:r>
              </a:p>
            </p:txBody>
          </p:sp>
        </p:grpSp>
        <p:grpSp>
          <p:nvGrpSpPr>
            <p:cNvPr id="40" name="Group 40"/>
            <p:cNvGrpSpPr/>
            <p:nvPr/>
          </p:nvGrpSpPr>
          <p:grpSpPr>
            <a:xfrm>
              <a:off x="6572250" y="3333750"/>
              <a:ext cx="4762500" cy="990600"/>
              <a:chOff x="6572250" y="3333750"/>
              <a:chExt cx="4762500" cy="990600"/>
            </a:xfrm>
          </p:grpSpPr>
          <p:sp>
            <p:nvSpPr>
              <p:cNvPr id="36" name="Rectangle 36"/>
              <p:cNvSpPr/>
              <p:nvPr/>
            </p:nvSpPr>
            <p:spPr>
              <a:xfrm>
                <a:off x="6572250" y="3333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37" name="TextBox 37"/>
              <p:cNvSpPr txBox="1"/>
              <p:nvPr/>
            </p:nvSpPr>
            <p:spPr>
              <a:xfrm>
                <a:off x="6755892" y="3454718"/>
                <a:ext cx="1797919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hybrid 混合惩罚机制</a:t>
                </a:r>
              </a:p>
            </p:txBody>
          </p:sp>
          <p:sp>
            <p:nvSpPr>
              <p:cNvPr id="38" name="TextBox 38"/>
              <p:cNvSpPr txBox="1"/>
              <p:nvPr/>
            </p:nvSpPr>
            <p:spPr>
              <a:xfrm>
                <a:off x="6755892" y="3702368"/>
                <a:ext cx="272125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自动分 &lt; 0.75 时 LLM 分清零，</a:t>
                </a:r>
              </a:p>
            </p:txBody>
          </p:sp>
          <p:sp>
            <p:nvSpPr>
              <p:cNvPr id="39" name="TextBox 39"/>
              <p:cNvSpPr txBox="1"/>
              <p:nvPr/>
            </p:nvSpPr>
            <p:spPr>
              <a:xfrm>
                <a:off x="6755892" y="3930968"/>
                <a:ext cx="2221821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防止跳过任务 / 空文件刷分</a:t>
                </a:r>
              </a:p>
            </p:txBody>
          </p:sp>
        </p:grpSp>
        <p:grpSp>
          <p:nvGrpSpPr>
            <p:cNvPr id="45" name="Group 45"/>
            <p:cNvGrpSpPr/>
            <p:nvPr/>
          </p:nvGrpSpPr>
          <p:grpSpPr>
            <a:xfrm>
              <a:off x="6572250" y="4476750"/>
              <a:ext cx="4762500" cy="990600"/>
              <a:chOff x="6572250" y="4476750"/>
              <a:chExt cx="4762500" cy="990600"/>
            </a:xfrm>
          </p:grpSpPr>
          <p:sp>
            <p:nvSpPr>
              <p:cNvPr id="41" name="Rectangle 41"/>
              <p:cNvSpPr/>
              <p:nvPr/>
            </p:nvSpPr>
            <p:spPr>
              <a:xfrm>
                <a:off x="6572250" y="4476750"/>
                <a:ext cx="4762500" cy="990600"/>
              </a:xfrm>
              <a:prstGeom prst="rect">
                <a:avLst/>
              </a:prstGeom>
              <a:solidFill>
                <a:schemeClr val="lt1"/>
              </a:solidFill>
              <a:ln>
                <a:noFill/>
              </a:ln>
            </p:spPr>
          </p:sp>
          <p:sp>
            <p:nvSpPr>
              <p:cNvPr id="42" name="TextBox 42"/>
              <p:cNvSpPr txBox="1"/>
              <p:nvPr/>
            </p:nvSpPr>
            <p:spPr>
              <a:xfrm>
                <a:off x="6755892" y="4597718"/>
                <a:ext cx="2685250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b="1" dirty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rPr>
                  <a:t>评分对框架中立，不做轨迹对齐</a:t>
                </a:r>
              </a:p>
            </p:txBody>
          </p:sp>
          <p:sp>
            <p:nvSpPr>
              <p:cNvPr id="43" name="TextBox 43"/>
              <p:cNvSpPr txBox="1"/>
              <p:nvPr/>
            </p:nvSpPr>
            <p:spPr>
              <a:xfrm>
                <a:off x="6755892" y="4845368"/>
                <a:ext cx="3539414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刻意区别于轨迹评估 ②：只依赖 transcript</a:t>
                </a:r>
              </a:p>
            </p:txBody>
          </p:sp>
          <p:sp>
            <p:nvSpPr>
              <p:cNvPr id="44" name="TextBox 44"/>
              <p:cNvSpPr txBox="1"/>
              <p:nvPr/>
            </p:nvSpPr>
            <p:spPr>
              <a:xfrm>
                <a:off x="6755892" y="5073968"/>
                <a:ext cx="3503066" cy="26403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anchor="t" anchorCtr="0">
                <a:spAutoFit/>
              </a:bodyPr>
              <a:lstStyle/>
              <a:p>
                <a:pPr algn="l"/>
                <a:r>
                  <a:rPr lang="zh-CN" sz="1350" dirty="0">
                    <a:solidFill>
                      <a:schemeClr val="dk2"/>
                    </a:solidFill>
                    <a:latin typeface="+mn-lt"/>
                    <a:ea typeface="+mn-ea"/>
                    <a:cs typeface="+mn-cs"/>
                  </a:rPr>
                  <a:t>与 workspace_path，多路径正确皆可得分</a:t>
                </a:r>
              </a:p>
            </p:txBody>
          </p:sp>
        </p:grpSp>
      </p:grpSp>
      <p:grpSp>
        <p:nvGrpSpPr>
          <p:cNvPr id="49" name="Group 49"/>
          <p:cNvGrpSpPr/>
          <p:nvPr/>
        </p:nvGrpSpPr>
        <p:grpSpPr>
          <a:xfrm>
            <a:off x="762000" y="5867400"/>
            <a:ext cx="10858500" cy="495300"/>
            <a:chOff x="762000" y="5867400"/>
            <a:chExt cx="10858500" cy="495300"/>
          </a:xfrm>
        </p:grpSpPr>
        <p:sp>
          <p:nvSpPr>
            <p:cNvPr id="47" name="Rectangle 47"/>
            <p:cNvSpPr/>
            <p:nvPr/>
          </p:nvSpPr>
          <p:spPr>
            <a:xfrm>
              <a:off x="762000" y="5867400"/>
              <a:ext cx="10858500" cy="4953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48" name="TextBox 48"/>
            <p:cNvSpPr txBox="1"/>
            <p:nvPr/>
          </p:nvSpPr>
          <p:spPr>
            <a:xfrm>
              <a:off x="1038606" y="5996940"/>
              <a:ext cx="973566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结论：混合主流范式 + 交叉矩阵设计，使 PawBench 在完整 Agent 评测维度上更全面</a:t>
              </a:r>
            </a:p>
          </p:txBody>
        </p:sp>
      </p:grpSp>
      <p:sp>
        <p:nvSpPr>
          <p:cNvPr id="50" name="TextBox 50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05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06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3599300" cy="657035"/>
            <a:chOff x="745998" y="571500"/>
            <a:chExt cx="3599300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359930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的优势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5813938" cy="352044"/>
            <a:chOff x="752856" y="1139190"/>
            <a:chExt cx="5813938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5813938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综合 9 个主流方案对比 + 企业级 Agent 评测落地需求</a:t>
              </a:r>
            </a:p>
          </p:txBody>
        </p:sp>
      </p:grpSp>
      <p:grpSp>
        <p:nvGrpSpPr>
          <p:cNvPr id="17" name="Group 17"/>
          <p:cNvGrpSpPr/>
          <p:nvPr/>
        </p:nvGrpSpPr>
        <p:grpSpPr>
          <a:xfrm>
            <a:off x="762000" y="1619250"/>
            <a:ext cx="3467100" cy="1714500"/>
            <a:chOff x="762000" y="1619250"/>
            <a:chExt cx="3467100" cy="1714500"/>
          </a:xfrm>
        </p:grpSpPr>
        <p:sp>
          <p:nvSpPr>
            <p:cNvPr id="10" name="Rectangle 10"/>
            <p:cNvSpPr/>
            <p:nvPr/>
          </p:nvSpPr>
          <p:spPr>
            <a:xfrm>
              <a:off x="762000" y="16192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6192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5558" y="1645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514856" y="1758315"/>
              <a:ext cx="190953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完整 Agent 评测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0892" y="2235518"/>
              <a:ext cx="301665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同时评估 Model × Harness × Task，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1040892" y="2483168"/>
              <a:ext cx="255803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独立衡量模型能力与工程稳定性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40892" y="2807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核心优势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4457700" y="1619250"/>
            <a:ext cx="3467100" cy="1714500"/>
            <a:chOff x="4457700" y="1619250"/>
            <a:chExt cx="3467100" cy="1714500"/>
          </a:xfrm>
        </p:grpSpPr>
        <p:sp>
          <p:nvSpPr>
            <p:cNvPr id="18" name="Rectangle 18"/>
            <p:cNvSpPr/>
            <p:nvPr/>
          </p:nvSpPr>
          <p:spPr>
            <a:xfrm>
              <a:off x="4457700" y="16192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9" name="Rectangle 19"/>
            <p:cNvSpPr/>
            <p:nvPr/>
          </p:nvSpPr>
          <p:spPr>
            <a:xfrm>
              <a:off x="4457700" y="16192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0" name="TextBox 20"/>
            <p:cNvSpPr txBox="1"/>
            <p:nvPr/>
          </p:nvSpPr>
          <p:spPr>
            <a:xfrm>
              <a:off x="4731258" y="1645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210556" y="1758315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内网安全运行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4736592" y="2235518"/>
              <a:ext cx="269210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沙箱隔离，数据不出网，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4736592" y="2483168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零外部依赖、安全可控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736592" y="2807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核心优势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8153400" y="1619250"/>
            <a:ext cx="3853129" cy="1714500"/>
            <a:chOff x="8153400" y="1619250"/>
            <a:chExt cx="3853129" cy="1714500"/>
          </a:xfrm>
        </p:grpSpPr>
        <p:sp>
          <p:nvSpPr>
            <p:cNvPr id="26" name="Rectangle 26"/>
            <p:cNvSpPr/>
            <p:nvPr/>
          </p:nvSpPr>
          <p:spPr>
            <a:xfrm>
              <a:off x="8153400" y="16192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Rectangle 27"/>
            <p:cNvSpPr/>
            <p:nvPr/>
          </p:nvSpPr>
          <p:spPr>
            <a:xfrm>
              <a:off x="8153400" y="16192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8" name="TextBox 28"/>
            <p:cNvSpPr txBox="1"/>
            <p:nvPr/>
          </p:nvSpPr>
          <p:spPr>
            <a:xfrm>
              <a:off x="8426958" y="16459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06256" y="1758315"/>
              <a:ext cx="310027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Model × Harness 交叉评测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32292" y="2235518"/>
              <a:ext cx="318742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行业首创 Model × Harness 解耦设计，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32292" y="2483168"/>
              <a:ext cx="146761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定位真实瓶颈来源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8432292" y="2807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核心优势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3562350"/>
            <a:ext cx="3592636" cy="1714500"/>
            <a:chOff x="762000" y="3562350"/>
            <a:chExt cx="3592636" cy="1714500"/>
          </a:xfrm>
        </p:grpSpPr>
        <p:sp>
          <p:nvSpPr>
            <p:cNvPr id="34" name="Rectangle 34"/>
            <p:cNvSpPr/>
            <p:nvPr/>
          </p:nvSpPr>
          <p:spPr>
            <a:xfrm>
              <a:off x="762000" y="356235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762000" y="356235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35558" y="3589020"/>
              <a:ext cx="210967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514856" y="3701415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开源可扩展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0892" y="4178618"/>
              <a:ext cx="29268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Task / Judge / Runner 完全解耦，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040892" y="4426268"/>
              <a:ext cx="295442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基于 OpenJudge 生态，Apache 2.0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1040892" y="4750118"/>
              <a:ext cx="331374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阿里通义实验室 AgentScope 团队维护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4457700" y="3562350"/>
            <a:ext cx="3681146" cy="1714500"/>
            <a:chOff x="4457700" y="3562350"/>
            <a:chExt cx="3681146" cy="1714500"/>
          </a:xfrm>
        </p:grpSpPr>
        <p:sp>
          <p:nvSpPr>
            <p:cNvPr id="42" name="Rectangle 42"/>
            <p:cNvSpPr/>
            <p:nvPr/>
          </p:nvSpPr>
          <p:spPr>
            <a:xfrm>
              <a:off x="4457700" y="3562350"/>
              <a:ext cx="3467100" cy="1714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3" name="Rectangle 43"/>
            <p:cNvSpPr/>
            <p:nvPr/>
          </p:nvSpPr>
          <p:spPr>
            <a:xfrm>
              <a:off x="4457700" y="3562350"/>
              <a:ext cx="38100" cy="1714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44" name="TextBox 44"/>
            <p:cNvSpPr txBox="1"/>
            <p:nvPr/>
          </p:nvSpPr>
          <p:spPr>
            <a:xfrm>
              <a:off x="4734306" y="36537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差异化</a:t>
              </a:r>
            </a:p>
          </p:txBody>
        </p:sp>
        <p:sp>
          <p:nvSpPr>
            <p:cNvPr id="45" name="TextBox 45"/>
            <p:cNvSpPr txBox="1"/>
            <p:nvPr/>
          </p:nvSpPr>
          <p:spPr>
            <a:xfrm>
              <a:off x="4736592" y="4083368"/>
              <a:ext cx="278846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非纯 LLM 榜单（不测工具调用）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4736592" y="4331018"/>
              <a:ext cx="3402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区别于 GAIA / AgentBench / PinchBench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4736592" y="4578668"/>
              <a:ext cx="193395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等依赖公网 API 的方案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8153400" y="3562350"/>
            <a:ext cx="3467100" cy="1714500"/>
            <a:chOff x="8153400" y="3562350"/>
            <a:chExt cx="3467100" cy="1714500"/>
          </a:xfrm>
        </p:grpSpPr>
        <p:sp>
          <p:nvSpPr>
            <p:cNvPr id="49" name="Rectangle 49"/>
            <p:cNvSpPr/>
            <p:nvPr/>
          </p:nvSpPr>
          <p:spPr>
            <a:xfrm>
              <a:off x="8153400" y="3562350"/>
              <a:ext cx="3467100" cy="17145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0" name="Rectangle 50"/>
            <p:cNvSpPr/>
            <p:nvPr/>
          </p:nvSpPr>
          <p:spPr>
            <a:xfrm>
              <a:off x="8153400" y="3562350"/>
              <a:ext cx="38100" cy="171450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8430006" y="3653790"/>
              <a:ext cx="78158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差异化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432292" y="4083368"/>
              <a:ext cx="269711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非纯 Skill 评测（不测完整流程）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8432292" y="4331018"/>
              <a:ext cx="149487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覆盖 7 大原子能力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8432292" y="4578668"/>
              <a:ext cx="18199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含 Skill_Use 完整流程</a:t>
              </a:r>
            </a:p>
          </p:txBody>
        </p:sp>
      </p:grpSp>
      <p:grpSp>
        <p:nvGrpSpPr>
          <p:cNvPr id="58" name="Group 58"/>
          <p:cNvGrpSpPr/>
          <p:nvPr/>
        </p:nvGrpSpPr>
        <p:grpSpPr>
          <a:xfrm>
            <a:off x="762000" y="5505450"/>
            <a:ext cx="10858500" cy="533400"/>
            <a:chOff x="762000" y="5505450"/>
            <a:chExt cx="10858500" cy="533400"/>
          </a:xfrm>
        </p:grpSpPr>
        <p:sp>
          <p:nvSpPr>
            <p:cNvPr id="56" name="Rectangle 56"/>
            <p:cNvSpPr/>
            <p:nvPr/>
          </p:nvSpPr>
          <p:spPr>
            <a:xfrm>
              <a:off x="762000" y="5505450"/>
              <a:ext cx="10858500" cy="5334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38606" y="5654040"/>
              <a:ext cx="86768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唯一在「完整 Agent」「内网部署」「可扩展」三项同时 ★★★★★ 的方案</a:t>
              </a:r>
            </a:p>
          </p:txBody>
        </p:sp>
      </p:grpSp>
      <p:sp>
        <p:nvSpPr>
          <p:cNvPr id="59" name="TextBox 59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06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07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5405526" cy="657035"/>
            <a:chOff x="745998" y="571500"/>
            <a:chExt cx="5405526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5405526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能力与评测设计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10707395" cy="352044"/>
            <a:chOff x="752856" y="1139190"/>
            <a:chExt cx="10707395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1070739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核心设计理念：Agent 表现 = f(Model, Harness) — Model 决定能力上限 · Harness 决定稳定落地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1524000"/>
            <a:ext cx="10858500" cy="1047750"/>
            <a:chOff x="762000" y="1524000"/>
            <a:chExt cx="10858500" cy="1047750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28575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524000"/>
              <a:ext cx="3810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38606" y="1663065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1 选择组合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0892" y="2045018"/>
              <a:ext cx="17450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模型与 Harness 组合</a:t>
              </a:r>
            </a:p>
          </p:txBody>
        </p:sp>
        <p:sp>
          <p:nvSpPr>
            <p:cNvPr id="14" name="Rectangle 14"/>
            <p:cNvSpPr/>
            <p:nvPr/>
          </p:nvSpPr>
          <p:spPr>
            <a:xfrm>
              <a:off x="3771900" y="1952625"/>
              <a:ext cx="381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152900" y="1524000"/>
              <a:ext cx="28575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Rectangle 16"/>
            <p:cNvSpPr/>
            <p:nvPr/>
          </p:nvSpPr>
          <p:spPr>
            <a:xfrm>
              <a:off x="4152900" y="1524000"/>
              <a:ext cx="3810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429506" y="1663065"/>
              <a:ext cx="218851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2 Docker 隔离运行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431792" y="2045018"/>
              <a:ext cx="219456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沙箱隔离，严格超时与重试</a:t>
              </a:r>
            </a:p>
          </p:txBody>
        </p:sp>
        <p:sp>
          <p:nvSpPr>
            <p:cNvPr id="19" name="Rectangle 19"/>
            <p:cNvSpPr/>
            <p:nvPr/>
          </p:nvSpPr>
          <p:spPr>
            <a:xfrm>
              <a:off x="7162800" y="1952625"/>
              <a:ext cx="381000" cy="381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20" name="Rectangle 20"/>
            <p:cNvSpPr/>
            <p:nvPr/>
          </p:nvSpPr>
          <p:spPr>
            <a:xfrm>
              <a:off x="7543800" y="1524000"/>
              <a:ext cx="40767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1" name="Rectangle 21"/>
            <p:cNvSpPr/>
            <p:nvPr/>
          </p:nvSpPr>
          <p:spPr>
            <a:xfrm>
              <a:off x="7543800" y="1524000"/>
              <a:ext cx="38100" cy="10477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7820406" y="1663065"/>
              <a:ext cx="274694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3 自动 + LLM 双重评分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7822692" y="2045018"/>
              <a:ext cx="350306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automated · llm_judge · hybrid 三种模式</a:t>
              </a:r>
            </a:p>
          </p:txBody>
        </p:sp>
      </p:grpSp>
      <p:grpSp>
        <p:nvGrpSpPr>
          <p:cNvPr id="27" name="Group 27"/>
          <p:cNvGrpSpPr/>
          <p:nvPr/>
        </p:nvGrpSpPr>
        <p:grpSpPr>
          <a:xfrm>
            <a:off x="762000" y="2857500"/>
            <a:ext cx="2235098" cy="367284"/>
            <a:chOff x="762000" y="2857500"/>
            <a:chExt cx="2235098" cy="367284"/>
          </a:xfrm>
        </p:grpSpPr>
        <p:sp>
          <p:nvSpPr>
            <p:cNvPr id="25" name="Rectangle 25"/>
            <p:cNvSpPr/>
            <p:nvPr/>
          </p:nvSpPr>
          <p:spPr>
            <a:xfrm>
              <a:off x="762000" y="28575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943356" y="2872740"/>
              <a:ext cx="205374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七种原子能力诊断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3238500"/>
            <a:ext cx="1695450" cy="819150"/>
            <a:chOff x="762000" y="3238500"/>
            <a:chExt cx="1695450" cy="819150"/>
          </a:xfrm>
        </p:grpSpPr>
        <p:sp>
          <p:nvSpPr>
            <p:cNvPr id="28" name="Rectangle 28"/>
            <p:cNvSpPr/>
            <p:nvPr/>
          </p:nvSpPr>
          <p:spPr>
            <a:xfrm>
              <a:off x="76200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9" name="TextBox 29"/>
            <p:cNvSpPr txBox="1"/>
            <p:nvPr/>
          </p:nvSpPr>
          <p:spPr>
            <a:xfrm>
              <a:off x="945642" y="3378518"/>
              <a:ext cx="81844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Tool_Use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946404" y="36423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工具调用与编排</a:t>
              </a:r>
            </a:p>
          </p:txBody>
        </p:sp>
      </p:grpSp>
      <p:grpSp>
        <p:nvGrpSpPr>
          <p:cNvPr id="35" name="Group 35"/>
          <p:cNvGrpSpPr/>
          <p:nvPr/>
        </p:nvGrpSpPr>
        <p:grpSpPr>
          <a:xfrm>
            <a:off x="2609850" y="3238500"/>
            <a:ext cx="1695450" cy="819150"/>
            <a:chOff x="2609850" y="3238500"/>
            <a:chExt cx="1695450" cy="819150"/>
          </a:xfrm>
        </p:grpSpPr>
        <p:sp>
          <p:nvSpPr>
            <p:cNvPr id="32" name="Rectangle 32"/>
            <p:cNvSpPr/>
            <p:nvPr/>
          </p:nvSpPr>
          <p:spPr>
            <a:xfrm>
              <a:off x="260985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2793492" y="3378518"/>
              <a:ext cx="82651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Skill_Use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2794254" y="3642360"/>
              <a:ext cx="120481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Skill 发现与执行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4457700" y="3238500"/>
            <a:ext cx="1888489" cy="819150"/>
            <a:chOff x="4457700" y="3238500"/>
            <a:chExt cx="1888489" cy="819150"/>
          </a:xfrm>
        </p:grpSpPr>
        <p:sp>
          <p:nvSpPr>
            <p:cNvPr id="36" name="Rectangle 36"/>
            <p:cNvSpPr/>
            <p:nvPr/>
          </p:nvSpPr>
          <p:spPr>
            <a:xfrm>
              <a:off x="445770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7" name="TextBox 37"/>
            <p:cNvSpPr txBox="1"/>
            <p:nvPr/>
          </p:nvSpPr>
          <p:spPr>
            <a:xfrm>
              <a:off x="4641342" y="3378518"/>
              <a:ext cx="170484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Code_Manipulation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4642104" y="364236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代码操作与修复</a:t>
              </a:r>
            </a:p>
          </p:txBody>
        </p:sp>
      </p:grpSp>
      <p:grpSp>
        <p:nvGrpSpPr>
          <p:cNvPr id="43" name="Group 43"/>
          <p:cNvGrpSpPr/>
          <p:nvPr/>
        </p:nvGrpSpPr>
        <p:grpSpPr>
          <a:xfrm>
            <a:off x="6305550" y="3238500"/>
            <a:ext cx="1695450" cy="819150"/>
            <a:chOff x="6305550" y="3238500"/>
            <a:chExt cx="1695450" cy="819150"/>
          </a:xfrm>
        </p:grpSpPr>
        <p:sp>
          <p:nvSpPr>
            <p:cNvPr id="40" name="Rectangle 40"/>
            <p:cNvSpPr/>
            <p:nvPr/>
          </p:nvSpPr>
          <p:spPr>
            <a:xfrm>
              <a:off x="630555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6489192" y="3378518"/>
              <a:ext cx="1504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Logic_Reasoning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489954" y="3642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逻辑推理</a:t>
              </a:r>
            </a:p>
          </p:txBody>
        </p:sp>
      </p:grpSp>
      <p:grpSp>
        <p:nvGrpSpPr>
          <p:cNvPr id="47" name="Group 47"/>
          <p:cNvGrpSpPr/>
          <p:nvPr/>
        </p:nvGrpSpPr>
        <p:grpSpPr>
          <a:xfrm>
            <a:off x="8153400" y="3238500"/>
            <a:ext cx="1695450" cy="819150"/>
            <a:chOff x="8153400" y="3238500"/>
            <a:chExt cx="1695450" cy="819150"/>
          </a:xfrm>
        </p:grpSpPr>
        <p:sp>
          <p:nvSpPr>
            <p:cNvPr id="44" name="Rectangle 44"/>
            <p:cNvSpPr/>
            <p:nvPr/>
          </p:nvSpPr>
          <p:spPr>
            <a:xfrm>
              <a:off x="8153400" y="3238500"/>
              <a:ext cx="16954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5" name="TextBox 45"/>
            <p:cNvSpPr txBox="1"/>
            <p:nvPr/>
          </p:nvSpPr>
          <p:spPr>
            <a:xfrm>
              <a:off x="8337042" y="3378518"/>
              <a:ext cx="7631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Planning</a:t>
              </a:r>
            </a:p>
          </p:txBody>
        </p:sp>
        <p:sp>
          <p:nvSpPr>
            <p:cNvPr id="46" name="TextBox 46"/>
            <p:cNvSpPr txBox="1"/>
            <p:nvPr/>
          </p:nvSpPr>
          <p:spPr>
            <a:xfrm>
              <a:off x="8337804" y="364236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多步任务规划</a:t>
              </a:r>
            </a:p>
          </p:txBody>
        </p:sp>
      </p:grpSp>
      <p:grpSp>
        <p:nvGrpSpPr>
          <p:cNvPr id="51" name="Group 51"/>
          <p:cNvGrpSpPr/>
          <p:nvPr/>
        </p:nvGrpSpPr>
        <p:grpSpPr>
          <a:xfrm>
            <a:off x="10001250" y="3238500"/>
            <a:ext cx="1918121" cy="819150"/>
            <a:chOff x="10001250" y="3238500"/>
            <a:chExt cx="1918121" cy="819150"/>
          </a:xfrm>
        </p:grpSpPr>
        <p:sp>
          <p:nvSpPr>
            <p:cNvPr id="48" name="Rectangle 48"/>
            <p:cNvSpPr/>
            <p:nvPr/>
          </p:nvSpPr>
          <p:spPr>
            <a:xfrm>
              <a:off x="10001250" y="3238500"/>
              <a:ext cx="161925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9" name="TextBox 49"/>
            <p:cNvSpPr txBox="1"/>
            <p:nvPr/>
          </p:nvSpPr>
          <p:spPr>
            <a:xfrm>
              <a:off x="10184892" y="3378518"/>
              <a:ext cx="17344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Math_Computation</a:t>
              </a:r>
            </a:p>
          </p:txBody>
        </p:sp>
        <p:sp>
          <p:nvSpPr>
            <p:cNvPr id="50" name="TextBox 50"/>
            <p:cNvSpPr txBox="1"/>
            <p:nvPr/>
          </p:nvSpPr>
          <p:spPr>
            <a:xfrm>
              <a:off x="10185654" y="364236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数学计算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762000" y="4248150"/>
            <a:ext cx="3467100" cy="819150"/>
            <a:chOff x="762000" y="4248150"/>
            <a:chExt cx="3467100" cy="819150"/>
          </a:xfrm>
        </p:grpSpPr>
        <p:sp>
          <p:nvSpPr>
            <p:cNvPr id="52" name="Rectangle 52"/>
            <p:cNvSpPr/>
            <p:nvPr/>
          </p:nvSpPr>
          <p:spPr>
            <a:xfrm>
              <a:off x="762000" y="4248150"/>
              <a:ext cx="34671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945642" y="4388168"/>
              <a:ext cx="161836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Self_Verification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46404" y="4652010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自我验证与纠错</a:t>
              </a:r>
            </a:p>
          </p:txBody>
        </p:sp>
      </p:grpSp>
      <p:grpSp>
        <p:nvGrpSpPr>
          <p:cNvPr id="60" name="Group 60"/>
          <p:cNvGrpSpPr/>
          <p:nvPr/>
        </p:nvGrpSpPr>
        <p:grpSpPr>
          <a:xfrm>
            <a:off x="4457700" y="4248150"/>
            <a:ext cx="5025085" cy="819150"/>
            <a:chOff x="4457700" y="4248150"/>
            <a:chExt cx="5025085" cy="819150"/>
          </a:xfrm>
        </p:grpSpPr>
        <p:sp>
          <p:nvSpPr>
            <p:cNvPr id="56" name="Rectangle 56"/>
            <p:cNvSpPr/>
            <p:nvPr/>
          </p:nvSpPr>
          <p:spPr>
            <a:xfrm>
              <a:off x="4457700" y="4248150"/>
              <a:ext cx="34671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7" name="Rectangle 57"/>
            <p:cNvSpPr/>
            <p:nvPr/>
          </p:nvSpPr>
          <p:spPr>
            <a:xfrm>
              <a:off x="4457700" y="4248150"/>
              <a:ext cx="38100" cy="819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58" name="TextBox 58"/>
            <p:cNvSpPr txBox="1"/>
            <p:nvPr/>
          </p:nvSpPr>
          <p:spPr>
            <a:xfrm>
              <a:off x="4736592" y="43881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评分模式</a:t>
              </a:r>
            </a:p>
          </p:txBody>
        </p:sp>
        <p:sp>
          <p:nvSpPr>
            <p:cNvPr id="59" name="TextBox 59"/>
            <p:cNvSpPr txBox="1"/>
            <p:nvPr/>
          </p:nvSpPr>
          <p:spPr>
            <a:xfrm>
              <a:off x="4737354" y="4652010"/>
              <a:ext cx="474543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automated（确定性断言）· llm_judge（语义）· hybrid（混合）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8153400" y="4248150"/>
            <a:ext cx="3961638" cy="819150"/>
            <a:chOff x="8153400" y="4248150"/>
            <a:chExt cx="3961638" cy="819150"/>
          </a:xfrm>
        </p:grpSpPr>
        <p:sp>
          <p:nvSpPr>
            <p:cNvPr id="61" name="Rectangle 61"/>
            <p:cNvSpPr/>
            <p:nvPr/>
          </p:nvSpPr>
          <p:spPr>
            <a:xfrm>
              <a:off x="8153400" y="4248150"/>
              <a:ext cx="3467100" cy="819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2" name="Rectangle 62"/>
            <p:cNvSpPr/>
            <p:nvPr/>
          </p:nvSpPr>
          <p:spPr>
            <a:xfrm>
              <a:off x="8153400" y="4248150"/>
              <a:ext cx="38100" cy="81915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8432292" y="4388168"/>
              <a:ext cx="15689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覆盖场景 · 复杂度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433054" y="4652010"/>
              <a:ext cx="3681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办公协同 / 软件工程 / 数据分析 · L1-L3 复杂度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" y="5295900"/>
            <a:ext cx="10858500" cy="533400"/>
            <a:chOff x="762000" y="5295900"/>
            <a:chExt cx="10858500" cy="533400"/>
          </a:xfrm>
        </p:grpSpPr>
        <p:sp>
          <p:nvSpPr>
            <p:cNvPr id="66" name="Rectangle 66"/>
            <p:cNvSpPr/>
            <p:nvPr/>
          </p:nvSpPr>
          <p:spPr>
            <a:xfrm>
              <a:off x="762000" y="5295900"/>
              <a:ext cx="10858500" cy="5334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1038606" y="5444490"/>
              <a:ext cx="104242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Model × Harness × Task 三维交叉设计 — 9 模型 × 3 Harness × 150 任务 = 4,050 评测单元</a:t>
              </a:r>
            </a:p>
          </p:txBody>
        </p:sp>
      </p:grpSp>
      <p:sp>
        <p:nvSpPr>
          <p:cNvPr id="69" name="TextBox 69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07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08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10861630" cy="657035"/>
            <a:chOff x="745998" y="571500"/>
            <a:chExt cx="10861630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10861630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官方评测结果 · Model × Harness 评分矩阵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8311439" cy="352044"/>
            <a:chOff x="752856" y="1139190"/>
            <a:chExt cx="8311439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83114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全景 150 个任务（文本 + 多模态）· 9 模型 × 3 Harness · Overall 综合得分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524000"/>
            <a:ext cx="10668000" cy="4191000"/>
            <a:chOff x="762000" y="1524000"/>
            <a:chExt cx="10668000" cy="4191000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10668000" cy="41910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pic>
          <p:nvPicPr>
            <p:cNvPr id="11" name="Image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021967" y="1714500"/>
              <a:ext cx="8147971" cy="3810000"/>
            </a:xfrm>
            <a:prstGeom prst="rect">
              <a:avLst/>
            </a:prstGeom>
          </p:spPr>
        </p:pic>
      </p:grpSp>
      <p:grpSp>
        <p:nvGrpSpPr>
          <p:cNvPr id="15" name="Group 15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13" name="TextBox 13"/>
            <p:cNvSpPr txBox="1"/>
            <p:nvPr/>
          </p:nvSpPr>
          <p:spPr>
            <a:xfrm>
              <a:off x="755904" y="6442710"/>
              <a:ext cx="90380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数据来源：PawBench OpenJudge 评测引擎 · 截至 2025 年 7 月 · 平均分 = 跨 harness 加权 · 单元格颜色深浅代表分数高低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08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09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4953969" cy="657035"/>
            <a:chOff x="745998" y="571500"/>
            <a:chExt cx="4953969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4953969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评测任务体系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7069684" cy="352044"/>
            <a:chOff x="752856" y="1139190"/>
            <a:chExt cx="7069684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706968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150 道任务 × 6 个源数据集 × 五维标签体系，支持精细化评测分析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524000"/>
            <a:ext cx="1217371" cy="367284"/>
            <a:chOff x="762000" y="1524000"/>
            <a:chExt cx="1217371" cy="367284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3356" y="15392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任务来源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762000" y="1905000"/>
            <a:ext cx="5659450" cy="2286000"/>
            <a:chOff x="762000" y="1905000"/>
            <a:chExt cx="5659450" cy="2286000"/>
          </a:xfrm>
        </p:grpSpPr>
        <p:sp>
          <p:nvSpPr>
            <p:cNvPr id="13" name="Rectangle 13"/>
            <p:cNvSpPr/>
            <p:nvPr/>
          </p:nvSpPr>
          <p:spPr>
            <a:xfrm>
              <a:off x="762000" y="1905000"/>
              <a:ext cx="51435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4" name="TextBox 14"/>
            <p:cNvSpPr txBox="1"/>
            <p:nvPr/>
          </p:nvSpPr>
          <p:spPr>
            <a:xfrm>
              <a:off x="1041654" y="20040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来源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3137154" y="20040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数量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4089654" y="200406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主要覆盖领域</a:t>
              </a:r>
            </a:p>
          </p:txBody>
        </p:sp>
        <p:sp>
          <p:nvSpPr>
            <p:cNvPr id="17" name="Rectangle 17"/>
            <p:cNvSpPr/>
            <p:nvPr/>
          </p:nvSpPr>
          <p:spPr>
            <a:xfrm>
              <a:off x="762000" y="2247900"/>
              <a:ext cx="51435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41654" y="232791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自建任务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3232404" y="23279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21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089654" y="2327910"/>
              <a:ext cx="23317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Office / SE / DA / IR / 自动化</a:t>
              </a:r>
            </a:p>
          </p:txBody>
        </p:sp>
        <p:sp>
          <p:nvSpPr>
            <p:cNvPr id="21" name="Rectangle 21"/>
            <p:cNvSpPr/>
            <p:nvPr/>
          </p:nvSpPr>
          <p:spPr>
            <a:xfrm>
              <a:off x="762000" y="2571750"/>
              <a:ext cx="51435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1041654" y="2651760"/>
              <a:ext cx="67452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claweval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232404" y="26517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52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089654" y="265176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办公协同 / 数据分析 / 内容创作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2895600"/>
              <a:ext cx="51435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41654" y="2975610"/>
              <a:ext cx="119146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qwenclawbench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232404" y="29756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29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4089654" y="2975610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自动化 / 软件工程 / 安全对齐</a:t>
              </a:r>
            </a:p>
          </p:txBody>
        </p:sp>
        <p:sp>
          <p:nvSpPr>
            <p:cNvPr id="29" name="Rectangle 29"/>
            <p:cNvSpPr/>
            <p:nvPr/>
          </p:nvSpPr>
          <p:spPr>
            <a:xfrm>
              <a:off x="762000" y="3219450"/>
              <a:ext cx="51435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41654" y="3299460"/>
              <a:ext cx="86029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pinchbench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232404" y="32994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23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4089654" y="3299460"/>
              <a:ext cx="232227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办公流程 / 软件工程 / 信息检索</a:t>
              </a:r>
            </a:p>
          </p:txBody>
        </p:sp>
        <p:sp>
          <p:nvSpPr>
            <p:cNvPr id="33" name="Rectangle 33"/>
            <p:cNvSpPr/>
            <p:nvPr/>
          </p:nvSpPr>
          <p:spPr>
            <a:xfrm>
              <a:off x="762000" y="3543300"/>
              <a:ext cx="5143500" cy="323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4" name="TextBox 34"/>
            <p:cNvSpPr txBox="1"/>
            <p:nvPr/>
          </p:nvSpPr>
          <p:spPr>
            <a:xfrm>
              <a:off x="1041654" y="3623310"/>
              <a:ext cx="86837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skillsbench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3232404" y="362331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15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089654" y="3623310"/>
              <a:ext cx="1719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长程 Skill / 领域自动化</a:t>
              </a:r>
            </a:p>
          </p:txBody>
        </p:sp>
        <p:sp>
          <p:nvSpPr>
            <p:cNvPr id="37" name="Rectangle 37"/>
            <p:cNvSpPr/>
            <p:nvPr/>
          </p:nvSpPr>
          <p:spPr>
            <a:xfrm>
              <a:off x="762000" y="3867150"/>
              <a:ext cx="5143500" cy="3238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8" name="TextBox 38"/>
            <p:cNvSpPr txBox="1"/>
            <p:nvPr/>
          </p:nvSpPr>
          <p:spPr>
            <a:xfrm>
              <a:off x="1041654" y="3947160"/>
              <a:ext cx="11106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wildclawbench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3232404" y="3947160"/>
              <a:ext cx="18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089654" y="3947160"/>
              <a:ext cx="1490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办公流程 / 安全对齐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286500" y="1524000"/>
            <a:ext cx="1726235" cy="367284"/>
            <a:chOff x="6286500" y="1524000"/>
            <a:chExt cx="1726235" cy="367284"/>
          </a:xfrm>
        </p:grpSpPr>
        <p:sp>
          <p:nvSpPr>
            <p:cNvPr id="42" name="Rectangle 42"/>
            <p:cNvSpPr/>
            <p:nvPr/>
          </p:nvSpPr>
          <p:spPr>
            <a:xfrm>
              <a:off x="6286500" y="15240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6467856" y="153924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五维标签体系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6286500" y="1905000"/>
            <a:ext cx="5334000" cy="438150"/>
            <a:chOff x="6286500" y="1905000"/>
            <a:chExt cx="5334000" cy="438150"/>
          </a:xfrm>
        </p:grpSpPr>
        <p:sp>
          <p:nvSpPr>
            <p:cNvPr id="45" name="Rectangle 45"/>
            <p:cNvSpPr/>
            <p:nvPr/>
          </p:nvSpPr>
          <p:spPr>
            <a:xfrm>
              <a:off x="6286500" y="1905000"/>
              <a:ext cx="5334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6565392" y="2035492"/>
              <a:ext cx="124453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场景 scenario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8756904" y="2051685"/>
              <a:ext cx="216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自动化 / 信息检索 / 安全对齐</a:t>
              </a:r>
            </a:p>
          </p:txBody>
        </p:sp>
      </p:grpSp>
      <p:grpSp>
        <p:nvGrpSpPr>
          <p:cNvPr id="53" name="Group 53"/>
          <p:cNvGrpSpPr/>
          <p:nvPr/>
        </p:nvGrpSpPr>
        <p:grpSpPr>
          <a:xfrm>
            <a:off x="6286500" y="2438400"/>
            <a:ext cx="5334000" cy="543306"/>
            <a:chOff x="6286500" y="2438400"/>
            <a:chExt cx="5334000" cy="543306"/>
          </a:xfrm>
        </p:grpSpPr>
        <p:sp>
          <p:nvSpPr>
            <p:cNvPr id="49" name="Rectangle 49"/>
            <p:cNvSpPr/>
            <p:nvPr/>
          </p:nvSpPr>
          <p:spPr>
            <a:xfrm>
              <a:off x="6286500" y="2438400"/>
              <a:ext cx="5334000" cy="5334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6565392" y="2568892"/>
              <a:ext cx="152122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能力 capabilities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8756904" y="2556510"/>
              <a:ext cx="257287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Logic / Math / Code / Tool / Skill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8756904" y="2747010"/>
              <a:ext cx="115580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Plan / Verify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6286500" y="3067050"/>
            <a:ext cx="5964631" cy="438150"/>
            <a:chOff x="6286500" y="3067050"/>
            <a:chExt cx="5964631" cy="438150"/>
          </a:xfrm>
        </p:grpSpPr>
        <p:sp>
          <p:nvSpPr>
            <p:cNvPr id="54" name="Rectangle 54"/>
            <p:cNvSpPr/>
            <p:nvPr/>
          </p:nvSpPr>
          <p:spPr>
            <a:xfrm>
              <a:off x="6286500" y="3067050"/>
              <a:ext cx="5334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5" name="TextBox 55"/>
            <p:cNvSpPr txBox="1"/>
            <p:nvPr/>
          </p:nvSpPr>
          <p:spPr>
            <a:xfrm>
              <a:off x="6565392" y="3197542"/>
              <a:ext cx="16357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复杂度 complexity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8756904" y="3213735"/>
              <a:ext cx="34942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L1（1-2步）/ L2（3-5步）/ L3（5+含分支）</a:t>
              </a:r>
            </a:p>
          </p:txBody>
        </p:sp>
      </p:grpSp>
      <p:grpSp>
        <p:nvGrpSpPr>
          <p:cNvPr id="61" name="Group 61"/>
          <p:cNvGrpSpPr/>
          <p:nvPr/>
        </p:nvGrpSpPr>
        <p:grpSpPr>
          <a:xfrm>
            <a:off x="6286500" y="3600450"/>
            <a:ext cx="5697322" cy="438150"/>
            <a:chOff x="6286500" y="3600450"/>
            <a:chExt cx="5697322" cy="438150"/>
          </a:xfrm>
        </p:grpSpPr>
        <p:sp>
          <p:nvSpPr>
            <p:cNvPr id="58" name="Rectangle 58"/>
            <p:cNvSpPr/>
            <p:nvPr/>
          </p:nvSpPr>
          <p:spPr>
            <a:xfrm>
              <a:off x="6286500" y="3600450"/>
              <a:ext cx="5334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6565392" y="3730942"/>
              <a:ext cx="16166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输入模态 modality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8756904" y="3747135"/>
              <a:ext cx="322691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text / multimodal（image, audio, video）</a:t>
              </a:r>
            </a:p>
          </p:txBody>
        </p:sp>
      </p:grpSp>
      <p:grpSp>
        <p:nvGrpSpPr>
          <p:cNvPr id="65" name="Group 65"/>
          <p:cNvGrpSpPr/>
          <p:nvPr/>
        </p:nvGrpSpPr>
        <p:grpSpPr>
          <a:xfrm>
            <a:off x="6286500" y="4133850"/>
            <a:ext cx="5406542" cy="438150"/>
            <a:chOff x="6286500" y="4133850"/>
            <a:chExt cx="5406542" cy="438150"/>
          </a:xfrm>
        </p:grpSpPr>
        <p:sp>
          <p:nvSpPr>
            <p:cNvPr id="62" name="Rectangle 62"/>
            <p:cNvSpPr/>
            <p:nvPr/>
          </p:nvSpPr>
          <p:spPr>
            <a:xfrm>
              <a:off x="6286500" y="4133850"/>
              <a:ext cx="5334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3" name="TextBox 63"/>
            <p:cNvSpPr txBox="1"/>
            <p:nvPr/>
          </p:nvSpPr>
          <p:spPr>
            <a:xfrm>
              <a:off x="6565392" y="4264342"/>
              <a:ext cx="19792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运行环境 environment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8756904" y="4280535"/>
              <a:ext cx="29361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closed（离线复现）/ open（需联公网）</a:t>
              </a:r>
            </a:p>
          </p:txBody>
        </p:sp>
      </p:grpSp>
      <p:grpSp>
        <p:nvGrpSpPr>
          <p:cNvPr id="68" name="Group 68"/>
          <p:cNvGrpSpPr/>
          <p:nvPr/>
        </p:nvGrpSpPr>
        <p:grpSpPr>
          <a:xfrm>
            <a:off x="762000" y="4476750"/>
            <a:ext cx="2743962" cy="367284"/>
            <a:chOff x="762000" y="4476750"/>
            <a:chExt cx="2743962" cy="367284"/>
          </a:xfrm>
        </p:grpSpPr>
        <p:sp>
          <p:nvSpPr>
            <p:cNvPr id="66" name="Rectangle 66"/>
            <p:cNvSpPr/>
            <p:nvPr/>
          </p:nvSpPr>
          <p:spPr>
            <a:xfrm>
              <a:off x="762000" y="447675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7" name="TextBox 67"/>
            <p:cNvSpPr txBox="1"/>
            <p:nvPr/>
          </p:nvSpPr>
          <p:spPr>
            <a:xfrm>
              <a:off x="943356" y="4491990"/>
              <a:ext cx="256260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五维标签如何赋能评测</a:t>
              </a:r>
            </a:p>
          </p:txBody>
        </p:sp>
      </p:grpSp>
      <p:grpSp>
        <p:nvGrpSpPr>
          <p:cNvPr id="72" name="Group 72"/>
          <p:cNvGrpSpPr/>
          <p:nvPr/>
        </p:nvGrpSpPr>
        <p:grpSpPr>
          <a:xfrm>
            <a:off x="762000" y="4838700"/>
            <a:ext cx="3467100" cy="857250"/>
            <a:chOff x="762000" y="4838700"/>
            <a:chExt cx="3467100" cy="857250"/>
          </a:xfrm>
        </p:grpSpPr>
        <p:sp>
          <p:nvSpPr>
            <p:cNvPr id="69" name="Rectangle 69"/>
            <p:cNvSpPr/>
            <p:nvPr/>
          </p:nvSpPr>
          <p:spPr>
            <a:xfrm>
              <a:off x="762000" y="4838700"/>
              <a:ext cx="34671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0" name="TextBox 70"/>
            <p:cNvSpPr txBox="1"/>
            <p:nvPr/>
          </p:nvSpPr>
          <p:spPr>
            <a:xfrm>
              <a:off x="945642" y="49787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按场景分类对比</a:t>
              </a:r>
            </a:p>
          </p:txBody>
        </p:sp>
        <p:sp>
          <p:nvSpPr>
            <p:cNvPr id="71" name="TextBox 71"/>
            <p:cNvSpPr txBox="1"/>
            <p:nvPr/>
          </p:nvSpPr>
          <p:spPr>
            <a:xfrm>
              <a:off x="946404" y="5261610"/>
              <a:ext cx="32430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只在办公协同场景下对比模型表现，排除噪声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4457700" y="4838700"/>
            <a:ext cx="3545738" cy="857250"/>
            <a:chOff x="4457700" y="4838700"/>
            <a:chExt cx="3545738" cy="857250"/>
          </a:xfrm>
        </p:grpSpPr>
        <p:sp>
          <p:nvSpPr>
            <p:cNvPr id="73" name="Rectangle 73"/>
            <p:cNvSpPr/>
            <p:nvPr/>
          </p:nvSpPr>
          <p:spPr>
            <a:xfrm>
              <a:off x="4457700" y="4838700"/>
              <a:ext cx="34671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4" name="TextBox 74"/>
            <p:cNvSpPr txBox="1"/>
            <p:nvPr/>
          </p:nvSpPr>
          <p:spPr>
            <a:xfrm>
              <a:off x="4641342" y="49787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按能力定向诊断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4642104" y="5261610"/>
              <a:ext cx="33613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单独筛选 Tool_Use / Planning，精准定位短板</a:t>
              </a:r>
            </a:p>
          </p:txBody>
        </p:sp>
      </p:grpSp>
      <p:grpSp>
        <p:nvGrpSpPr>
          <p:cNvPr id="80" name="Group 80"/>
          <p:cNvGrpSpPr/>
          <p:nvPr/>
        </p:nvGrpSpPr>
        <p:grpSpPr>
          <a:xfrm>
            <a:off x="8153400" y="4838700"/>
            <a:ext cx="3781044" cy="857250"/>
            <a:chOff x="8153400" y="4838700"/>
            <a:chExt cx="3781044" cy="857250"/>
          </a:xfrm>
        </p:grpSpPr>
        <p:sp>
          <p:nvSpPr>
            <p:cNvPr id="77" name="Rectangle 77"/>
            <p:cNvSpPr/>
            <p:nvPr/>
          </p:nvSpPr>
          <p:spPr>
            <a:xfrm>
              <a:off x="8153400" y="4838700"/>
              <a:ext cx="3467100" cy="8572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78" name="TextBox 78"/>
            <p:cNvSpPr txBox="1"/>
            <p:nvPr/>
          </p:nvSpPr>
          <p:spPr>
            <a:xfrm>
              <a:off x="8337042" y="4978718"/>
              <a:ext cx="15403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按复杂度分层评估</a:t>
              </a:r>
            </a:p>
          </p:txBody>
        </p:sp>
        <p:sp>
          <p:nvSpPr>
            <p:cNvPr id="79" name="TextBox 79"/>
            <p:cNvSpPr txBox="1"/>
            <p:nvPr/>
          </p:nvSpPr>
          <p:spPr>
            <a:xfrm>
              <a:off x="8337804" y="5261610"/>
              <a:ext cx="35966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对比 L1/L2/L3 表现差异，识别多步推理退化点</a:t>
              </a:r>
            </a:p>
          </p:txBody>
        </p:sp>
      </p:grpSp>
      <p:grpSp>
        <p:nvGrpSpPr>
          <p:cNvPr id="83" name="Group 83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81" name="TextBox 81"/>
            <p:cNvSpPr txBox="1"/>
            <p:nvPr/>
          </p:nvSpPr>
          <p:spPr>
            <a:xfrm>
              <a:off x="755904" y="6442710"/>
              <a:ext cx="53673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每道任务 5 维标签可任意组合筛选，灵活构建定制化的评测维度与对比视图</a:t>
              </a:r>
            </a:p>
          </p:txBody>
        </p:sp>
        <p:sp>
          <p:nvSpPr>
            <p:cNvPr id="82" name="TextBox 82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09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10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7535822" cy="657035"/>
            <a:chOff x="745998" y="571500"/>
            <a:chExt cx="7535822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753582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任务执行与评分实战 · 以 T053 为例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9967874" cy="352044"/>
            <a:chOff x="752856" y="1139190"/>
            <a:chExt cx="9967874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9678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借 T053 看清 PawBench「执行 → 采集 → 评分 → 汇总」评测链路 — 同样适用于其它日常任务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524000"/>
            <a:ext cx="10668000" cy="619506"/>
            <a:chOff x="762000" y="1524000"/>
            <a:chExt cx="10668000" cy="619506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10668000" cy="6096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1" name="Rectangle 11"/>
            <p:cNvSpPr/>
            <p:nvPr/>
          </p:nvSpPr>
          <p:spPr>
            <a:xfrm>
              <a:off x="762000" y="1524000"/>
              <a:ext cx="38100" cy="6096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40892" y="1625918"/>
              <a:ext cx="92102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任务 T053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2851404" y="1642110"/>
              <a:ext cx="79641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来源 pinchbench ｜ 类型 内容创作·写作 ｜ 复杂度 L1 ｜ 环境 closed ｜ 评分 hybrid（自动 0.6 + LLM 0.4）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1654" y="1908810"/>
              <a:ext cx="77824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指令：撰写约 500 词《远程办公对软件开发者的好处》博客并保存为 blog_post.md（纯文本、无外部依赖）</a:t>
              </a:r>
            </a:p>
          </p:txBody>
        </p:sp>
      </p:grpSp>
      <p:grpSp>
        <p:nvGrpSpPr>
          <p:cNvPr id="24" name="Group 24"/>
          <p:cNvGrpSpPr/>
          <p:nvPr/>
        </p:nvGrpSpPr>
        <p:grpSpPr>
          <a:xfrm>
            <a:off x="762000" y="2381250"/>
            <a:ext cx="3874230" cy="2000250"/>
            <a:chOff x="762000" y="2381250"/>
            <a:chExt cx="3874230" cy="2000250"/>
          </a:xfrm>
        </p:grpSpPr>
        <p:sp>
          <p:nvSpPr>
            <p:cNvPr id="16" name="Rectangle 16"/>
            <p:cNvSpPr/>
            <p:nvPr/>
          </p:nvSpPr>
          <p:spPr>
            <a:xfrm>
              <a:off x="762000" y="2381250"/>
              <a:ext cx="25527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17" name="Rectangle 17"/>
            <p:cNvSpPr/>
            <p:nvPr/>
          </p:nvSpPr>
          <p:spPr>
            <a:xfrm>
              <a:off x="7620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8" name="TextBox 18"/>
            <p:cNvSpPr txBox="1"/>
            <p:nvPr/>
          </p:nvSpPr>
          <p:spPr>
            <a:xfrm>
              <a:off x="1038606" y="247269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① 沙箱执行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1654" y="2880360"/>
              <a:ext cx="35945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Agent 在 Docker 容器中隔离运行，独立执行任务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41654" y="3147060"/>
              <a:ext cx="17571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纯文本创作，无需联网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41654" y="3375660"/>
              <a:ext cx="194294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无外部依赖 / 无预置文件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1041654" y="3604260"/>
              <a:ext cx="29202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environment = closed（可离线复现）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1041654" y="3832860"/>
              <a:ext cx="2508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超时 300s 内产出 blog_post.md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3543300" y="2381250"/>
            <a:ext cx="4432645" cy="2000250"/>
            <a:chOff x="3543300" y="2381250"/>
            <a:chExt cx="4432645" cy="2000250"/>
          </a:xfrm>
        </p:grpSpPr>
        <p:sp>
          <p:nvSpPr>
            <p:cNvPr id="25" name="Rectangle 25"/>
            <p:cNvSpPr/>
            <p:nvPr/>
          </p:nvSpPr>
          <p:spPr>
            <a:xfrm>
              <a:off x="3543300" y="2381250"/>
              <a:ext cx="25527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6" name="Rectangle 26"/>
            <p:cNvSpPr/>
            <p:nvPr/>
          </p:nvSpPr>
          <p:spPr>
            <a:xfrm>
              <a:off x="35433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3819906" y="247269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结果采集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3822954" y="2880360"/>
              <a:ext cx="22980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harness 采集运行产物与过程：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3822954" y="3147060"/>
              <a:ext cx="23553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OpenClaw session → 归一化为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3822954" y="3375660"/>
              <a:ext cx="415299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transcript 事件流（message / toolCall / toolResult）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22954" y="3604260"/>
              <a:ext cx="249219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新生成文件内容注入 transcript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822954" y="3832860"/>
              <a:ext cx="21125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产物落盘 workspace_path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6324600" y="2381250"/>
            <a:ext cx="3280715" cy="2029206"/>
            <a:chOff x="6324600" y="2381250"/>
            <a:chExt cx="3280715" cy="2029206"/>
          </a:xfrm>
        </p:grpSpPr>
        <p:sp>
          <p:nvSpPr>
            <p:cNvPr id="34" name="Rectangle 34"/>
            <p:cNvSpPr/>
            <p:nvPr/>
          </p:nvSpPr>
          <p:spPr>
            <a:xfrm>
              <a:off x="6324600" y="2381250"/>
              <a:ext cx="25527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5" name="Rectangle 35"/>
            <p:cNvSpPr/>
            <p:nvPr/>
          </p:nvSpPr>
          <p:spPr>
            <a:xfrm>
              <a:off x="63246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6601206" y="2472690"/>
              <a:ext cx="2320896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双重评分 · hybrid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6604254" y="2880360"/>
              <a:ext cx="141156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自动检查 权重 0.6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6604254" y="3108960"/>
              <a:ext cx="22660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文件 blog_post.md 是否存在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6604254" y="3318510"/>
              <a:ext cx="25568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词数 450-550 → 1.0（区间打分）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6604254" y="3528060"/>
              <a:ext cx="200756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标题 + 段落结构（≥3 段）</a:t>
              </a:r>
            </a:p>
          </p:txBody>
        </p:sp>
        <p:sp>
          <p:nvSpPr>
            <p:cNvPr id="41" name="TextBox 41"/>
            <p:cNvSpPr txBox="1"/>
            <p:nvPr/>
          </p:nvSpPr>
          <p:spPr>
            <a:xfrm>
              <a:off x="6604254" y="3737610"/>
              <a:ext cx="2508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remote / developer 关键词命中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6604254" y="3966210"/>
              <a:ext cx="15176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LLM 评判 权重 0.4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6604254" y="4175760"/>
              <a:ext cx="300106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质量30 结构25 写作20 词数15 完成度10</a:t>
              </a:r>
            </a:p>
          </p:txBody>
        </p:sp>
      </p:grpSp>
      <p:grpSp>
        <p:nvGrpSpPr>
          <p:cNvPr id="55" name="Group 55"/>
          <p:cNvGrpSpPr/>
          <p:nvPr/>
        </p:nvGrpSpPr>
        <p:grpSpPr>
          <a:xfrm>
            <a:off x="9105900" y="2381250"/>
            <a:ext cx="2802484" cy="2029206"/>
            <a:chOff x="9105900" y="2381250"/>
            <a:chExt cx="2802484" cy="2029206"/>
          </a:xfrm>
        </p:grpSpPr>
        <p:sp>
          <p:nvSpPr>
            <p:cNvPr id="45" name="Rectangle 45"/>
            <p:cNvSpPr/>
            <p:nvPr/>
          </p:nvSpPr>
          <p:spPr>
            <a:xfrm>
              <a:off x="9105900" y="2381250"/>
              <a:ext cx="2324100" cy="20002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6" name="Rectangle 46"/>
            <p:cNvSpPr/>
            <p:nvPr/>
          </p:nvSpPr>
          <p:spPr>
            <a:xfrm>
              <a:off x="9105900" y="2381250"/>
              <a:ext cx="38100" cy="20002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9382506" y="2472690"/>
              <a:ext cx="125228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汇总得分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9385554" y="2880360"/>
              <a:ext cx="157916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score = 0.6 × 自动分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9385554" y="3108960"/>
              <a:ext cx="117287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+ 0.4 × LLM 分</a:t>
              </a:r>
            </a:p>
          </p:txBody>
        </p:sp>
        <p:sp>
          <p:nvSpPr>
            <p:cNvPr id="50" name="Rectangle 50"/>
            <p:cNvSpPr/>
            <p:nvPr/>
          </p:nvSpPr>
          <p:spPr>
            <a:xfrm>
              <a:off x="9391650" y="3390900"/>
              <a:ext cx="1714500" cy="9525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9385554" y="3509010"/>
              <a:ext cx="102991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混合惩罚机制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9385554" y="3737610"/>
              <a:ext cx="25228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自动分 &lt; 0.75 时 → LLM 分清零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9385554" y="3966210"/>
              <a:ext cx="21044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防止跳过任务 / 空文件刷分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385554" y="4175760"/>
              <a:ext cx="18385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（API 真实失败时豁免）</a:t>
              </a:r>
            </a:p>
          </p:txBody>
        </p:sp>
      </p:grpSp>
      <p:grpSp>
        <p:nvGrpSpPr>
          <p:cNvPr id="59" name="Group 59"/>
          <p:cNvGrpSpPr/>
          <p:nvPr/>
        </p:nvGrpSpPr>
        <p:grpSpPr>
          <a:xfrm>
            <a:off x="762000" y="4629150"/>
            <a:ext cx="10668000" cy="838200"/>
            <a:chOff x="762000" y="4629150"/>
            <a:chExt cx="10668000" cy="838200"/>
          </a:xfrm>
        </p:grpSpPr>
        <p:sp>
          <p:nvSpPr>
            <p:cNvPr id="56" name="Rectangle 56"/>
            <p:cNvSpPr/>
            <p:nvPr/>
          </p:nvSpPr>
          <p:spPr>
            <a:xfrm>
              <a:off x="762000" y="4629150"/>
              <a:ext cx="10668000" cy="83820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57" name="TextBox 57"/>
            <p:cNvSpPr txBox="1"/>
            <p:nvPr/>
          </p:nvSpPr>
          <p:spPr>
            <a:xfrm>
              <a:off x="1040892" y="4769168"/>
              <a:ext cx="69380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一张任务卡 = Prompt + Expected Behavior + 自动检查（代码）+ LLM 评分细则</a:t>
              </a:r>
            </a:p>
          </p:txBody>
        </p:sp>
        <p:sp>
          <p:nvSpPr>
            <p:cNvPr id="58" name="TextBox 58"/>
            <p:cNvSpPr txBox="1"/>
            <p:nvPr/>
          </p:nvSpPr>
          <p:spPr>
            <a:xfrm>
              <a:off x="1040892" y="5073968"/>
              <a:ext cx="83085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评分仅依赖 transcript 与 workspace_path，对 Agent 框架保持中立 — 多路径达成同样产物皆可得分</a:t>
              </a:r>
            </a:p>
          </p:txBody>
        </p:sp>
      </p:grpSp>
      <p:sp>
        <p:nvSpPr>
          <p:cNvPr id="60" name="TextBox 60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10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11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6376372" cy="657035"/>
            <a:chOff x="745998" y="571500"/>
            <a:chExt cx="6376372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6376372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任务 ↔ 日常工作能力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2856" y="1139190"/>
            <a:ext cx="9930841" cy="352044"/>
            <a:chOff x="752856" y="1139190"/>
            <a:chExt cx="9930841" cy="352044"/>
          </a:xfrm>
        </p:grpSpPr>
        <p:sp>
          <p:nvSpPr>
            <p:cNvPr id="8" name="TextBox 8"/>
            <p:cNvSpPr txBox="1"/>
            <p:nvPr/>
          </p:nvSpPr>
          <p:spPr>
            <a:xfrm>
              <a:off x="752856" y="1139190"/>
              <a:ext cx="9930841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日常 7 类使用场景中，6 类在 PawBench 都有强匹配任务 — 与 T053 走完全相同的评测链路</a:t>
              </a:r>
            </a:p>
          </p:txBody>
        </p:sp>
      </p:grpSp>
      <p:grpSp>
        <p:nvGrpSpPr>
          <p:cNvPr id="50" name="Group 50"/>
          <p:cNvGrpSpPr/>
          <p:nvPr/>
        </p:nvGrpSpPr>
        <p:grpSpPr>
          <a:xfrm>
            <a:off x="762000" y="1524000"/>
            <a:ext cx="11441697" cy="3409950"/>
            <a:chOff x="762000" y="1524000"/>
            <a:chExt cx="11441697" cy="3409950"/>
          </a:xfrm>
        </p:grpSpPr>
        <p:sp>
          <p:nvSpPr>
            <p:cNvPr id="10" name="Rectangle 10"/>
            <p:cNvSpPr/>
            <p:nvPr/>
          </p:nvSpPr>
          <p:spPr>
            <a:xfrm>
              <a:off x="762000" y="1524000"/>
              <a:ext cx="106680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1060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日常能力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3346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对应任务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5632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评分方式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7918704" y="1623060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考察核心</a:t>
              </a:r>
            </a:p>
          </p:txBody>
        </p:sp>
        <p:sp>
          <p:nvSpPr>
            <p:cNvPr id="15" name="Rectangle 15"/>
            <p:cNvSpPr/>
            <p:nvPr/>
          </p:nvSpPr>
          <p:spPr>
            <a:xfrm>
              <a:off x="762000" y="18669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1060704" y="201358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邮件处理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3346704" y="2013585"/>
              <a:ext cx="137198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T016 Email Triage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5632704" y="2013585"/>
              <a:ext cx="14499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0.35 / 0.65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18704" y="2013585"/>
              <a:ext cx="374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读收件箱 → 分类（需回复/通知/垃圾）→ 结构化输出</a:t>
              </a:r>
            </a:p>
          </p:txBody>
        </p:sp>
        <p:sp>
          <p:nvSpPr>
            <p:cNvPr id="20" name="Rectangle 20"/>
            <p:cNvSpPr/>
            <p:nvPr/>
          </p:nvSpPr>
          <p:spPr>
            <a:xfrm>
              <a:off x="762000" y="230505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21" name="TextBox 21"/>
            <p:cNvSpPr txBox="1"/>
            <p:nvPr/>
          </p:nvSpPr>
          <p:spPr>
            <a:xfrm>
              <a:off x="1060704" y="2451735"/>
              <a:ext cx="108752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通讯录 / CRM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346704" y="2451735"/>
              <a:ext cx="18939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T026 / T027 CRM Export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5632704" y="245173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0.5 / 0.5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7918704" y="2451735"/>
              <a:ext cx="35027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从 CRM 导出客户与通讯录数据，并做错误恢复</a:t>
              </a:r>
            </a:p>
          </p:txBody>
        </p:sp>
        <p:sp>
          <p:nvSpPr>
            <p:cNvPr id="25" name="Rectangle 25"/>
            <p:cNvSpPr/>
            <p:nvPr/>
          </p:nvSpPr>
          <p:spPr>
            <a:xfrm>
              <a:off x="762000" y="27432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6" name="TextBox 26"/>
            <p:cNvSpPr txBox="1"/>
            <p:nvPr/>
          </p:nvSpPr>
          <p:spPr>
            <a:xfrm>
              <a:off x="1060704" y="2889885"/>
              <a:ext cx="12249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内部新闻 / 资讯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3346704" y="2889885"/>
              <a:ext cx="20332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T025 Newsletter Curation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5632704" y="288988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0.4 / 0.6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7918704" y="2889885"/>
              <a:ext cx="317845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多源 RSS 筛选 → 编辑摘要 → 形成技术简报</a:t>
              </a:r>
            </a:p>
          </p:txBody>
        </p:sp>
        <p:sp>
          <p:nvSpPr>
            <p:cNvPr id="30" name="Rectangle 30"/>
            <p:cNvSpPr/>
            <p:nvPr/>
          </p:nvSpPr>
          <p:spPr>
            <a:xfrm>
              <a:off x="762000" y="318135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31" name="TextBox 31"/>
            <p:cNvSpPr txBox="1"/>
            <p:nvPr/>
          </p:nvSpPr>
          <p:spPr>
            <a:xfrm>
              <a:off x="1060704" y="3328035"/>
              <a:ext cx="98140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Excel / 表格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3346704" y="3328035"/>
              <a:ext cx="183070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T140 Xlsx Recover Data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5632704" y="332803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0.6 / 0.4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7918704" y="3328035"/>
              <a:ext cx="37438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读 xlsx → 修复 15 个缺值（跨 4 工作表）→ 存新文件</a:t>
              </a:r>
            </a:p>
          </p:txBody>
        </p:sp>
        <p:sp>
          <p:nvSpPr>
            <p:cNvPr id="35" name="Rectangle 35"/>
            <p:cNvSpPr/>
            <p:nvPr/>
          </p:nvSpPr>
          <p:spPr>
            <a:xfrm>
              <a:off x="762000" y="36195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60704" y="3766185"/>
              <a:ext cx="1024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文档（PDF）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3346704" y="3766185"/>
              <a:ext cx="24274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T055 合同分析 / T058 论文摘要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5632704" y="3766185"/>
              <a:ext cx="72298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llm_judge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7918704" y="3766185"/>
              <a:ext cx="428499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读 PDF 合同 → 条款与风险评估 → .md；论文 → 摘要 → .txt</a:t>
              </a:r>
            </a:p>
          </p:txBody>
        </p:sp>
        <p:sp>
          <p:nvSpPr>
            <p:cNvPr id="40" name="Rectangle 40"/>
            <p:cNvSpPr/>
            <p:nvPr/>
          </p:nvSpPr>
          <p:spPr>
            <a:xfrm>
              <a:off x="762000" y="4057650"/>
              <a:ext cx="10668000" cy="4381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1060704" y="4204335"/>
              <a:ext cx="6906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代码处理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3346704" y="4204335"/>
              <a:ext cx="159824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T064 Playwright E2E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5632704" y="4204335"/>
              <a:ext cx="127223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0.5 / 0.5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7918704" y="4204335"/>
              <a:ext cx="356616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编写并调试端到端表单测试代码（真实代码操作）</a:t>
              </a:r>
            </a:p>
          </p:txBody>
        </p:sp>
        <p:sp>
          <p:nvSpPr>
            <p:cNvPr id="45" name="Rectangle 45"/>
            <p:cNvSpPr/>
            <p:nvPr/>
          </p:nvSpPr>
          <p:spPr>
            <a:xfrm>
              <a:off x="762000" y="4495800"/>
              <a:ext cx="10668000" cy="4381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60704" y="4642485"/>
              <a:ext cx="12901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Skill 创建 / 使用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3346704" y="4642485"/>
              <a:ext cx="276279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T076-T094 / SkillsBench T126-T140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5632704" y="4642485"/>
              <a:ext cx="10379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hybrid 按任务</a:t>
              </a:r>
            </a:p>
          </p:txBody>
        </p:sp>
        <p:sp>
          <p:nvSpPr>
            <p:cNvPr id="49" name="TextBox 49"/>
            <p:cNvSpPr txBox="1"/>
            <p:nvPr/>
          </p:nvSpPr>
          <p:spPr>
            <a:xfrm>
              <a:off x="7918704" y="4642485"/>
              <a:ext cx="35507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编写可复用 SKILL.md → 用该 skill 完成实际任务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762000" y="5181600"/>
            <a:ext cx="10668000" cy="651701"/>
            <a:chOff x="762000" y="5181600"/>
            <a:chExt cx="10668000" cy="651701"/>
          </a:xfrm>
        </p:grpSpPr>
        <p:sp>
          <p:nvSpPr>
            <p:cNvPr id="51" name="Rectangle 51"/>
            <p:cNvSpPr/>
            <p:nvPr/>
          </p:nvSpPr>
          <p:spPr>
            <a:xfrm>
              <a:off x="762000" y="5181600"/>
              <a:ext cx="10668000" cy="628650"/>
            </a:xfrm>
            <a:prstGeom prst="rect">
              <a:avLst/>
            </a:prstGeom>
            <a:solidFill>
              <a:schemeClr val="accent1">
                <a:alpha val="8000"/>
              </a:schemeClr>
            </a:solidFill>
            <a:ln>
              <a:noFill/>
            </a:ln>
          </p:spPr>
        </p:sp>
        <p:sp>
          <p:nvSpPr>
            <p:cNvPr id="52" name="TextBox 52"/>
            <p:cNvSpPr txBox="1"/>
            <p:nvPr/>
          </p:nvSpPr>
          <p:spPr>
            <a:xfrm>
              <a:off x="1040892" y="5321618"/>
              <a:ext cx="4864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注：上述任务均为 hybrid 评分（自动检查 + LLM 评判）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1040892" y="5569268"/>
              <a:ext cx="904435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与日常使用 OpenClaw 处理邮件 / 表格 / 文档 / 代码 / Skill 的能力高度对应，评测结果可直接指导工作流选型</a:t>
              </a:r>
            </a:p>
          </p:txBody>
        </p:sp>
      </p:grpSp>
      <p:sp>
        <p:nvSpPr>
          <p:cNvPr id="55" name="TextBox 55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11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12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6308638" cy="657035"/>
            <a:chOff x="745998" y="571500"/>
            <a:chExt cx="6308638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6308638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PawBench 应用场景与集成方式</a:t>
              </a:r>
            </a:p>
          </p:txBody>
        </p:sp>
      </p:grpSp>
      <p:grpSp>
        <p:nvGrpSpPr>
          <p:cNvPr id="10" name="Group 10"/>
          <p:cNvGrpSpPr/>
          <p:nvPr/>
        </p:nvGrpSpPr>
        <p:grpSpPr>
          <a:xfrm>
            <a:off x="762000" y="1238250"/>
            <a:ext cx="1726235" cy="367284"/>
            <a:chOff x="762000" y="1238250"/>
            <a:chExt cx="1726235" cy="367284"/>
          </a:xfrm>
        </p:grpSpPr>
        <p:sp>
          <p:nvSpPr>
            <p:cNvPr id="8" name="Rectangle 8"/>
            <p:cNvSpPr/>
            <p:nvPr/>
          </p:nvSpPr>
          <p:spPr>
            <a:xfrm>
              <a:off x="762000" y="123825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9" name="TextBox 9"/>
            <p:cNvSpPr txBox="1"/>
            <p:nvPr/>
          </p:nvSpPr>
          <p:spPr>
            <a:xfrm>
              <a:off x="943356" y="12534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典型应用场景</a:t>
              </a:r>
            </a:p>
          </p:txBody>
        </p:sp>
      </p:grpSp>
      <p:grpSp>
        <p:nvGrpSpPr>
          <p:cNvPr id="15" name="Group 15"/>
          <p:cNvGrpSpPr/>
          <p:nvPr/>
        </p:nvGrpSpPr>
        <p:grpSpPr>
          <a:xfrm>
            <a:off x="762000" y="1581150"/>
            <a:ext cx="4387531" cy="1047750"/>
            <a:chOff x="762000" y="1581150"/>
            <a:chExt cx="4387531" cy="1047750"/>
          </a:xfrm>
        </p:grpSpPr>
        <p:sp>
          <p:nvSpPr>
            <p:cNvPr id="11" name="Rectangle 11"/>
            <p:cNvSpPr/>
            <p:nvPr/>
          </p:nvSpPr>
          <p:spPr>
            <a:xfrm>
              <a:off x="762000" y="158115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2" name="TextBox 12"/>
            <p:cNvSpPr txBox="1"/>
            <p:nvPr/>
          </p:nvSpPr>
          <p:spPr>
            <a:xfrm>
              <a:off x="1040892" y="1721168"/>
              <a:ext cx="11586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模型升级评估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41654" y="2004060"/>
              <a:ext cx="410787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固定 Harness，横向跑新旧模型，看整体分和切片分变化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1041654" y="227076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升级效果数据说话，形成可靠决策依据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4457700" y="1581150"/>
            <a:ext cx="4550381" cy="1047750"/>
            <a:chOff x="4457700" y="1581150"/>
            <a:chExt cx="4550381" cy="1047750"/>
          </a:xfrm>
        </p:grpSpPr>
        <p:sp>
          <p:nvSpPr>
            <p:cNvPr id="16" name="Rectangle 16"/>
            <p:cNvSpPr/>
            <p:nvPr/>
          </p:nvSpPr>
          <p:spPr>
            <a:xfrm>
              <a:off x="4457700" y="158115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4736592" y="1721168"/>
              <a:ext cx="1374254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框架迭代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37354" y="2004060"/>
              <a:ext cx="42707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固定模型，横向跑不同版本 Harness，验证改动未引入退化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37354" y="2270760"/>
              <a:ext cx="24353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框架稳定性可量化，回归一目了然</a:t>
              </a:r>
            </a:p>
          </p:txBody>
        </p:sp>
      </p:grpSp>
      <p:grpSp>
        <p:nvGrpSpPr>
          <p:cNvPr id="25" name="Group 25"/>
          <p:cNvGrpSpPr/>
          <p:nvPr/>
        </p:nvGrpSpPr>
        <p:grpSpPr>
          <a:xfrm>
            <a:off x="8153400" y="1581150"/>
            <a:ext cx="4147444" cy="1047750"/>
            <a:chOff x="8153400" y="1581150"/>
            <a:chExt cx="4147444" cy="1047750"/>
          </a:xfrm>
        </p:grpSpPr>
        <p:sp>
          <p:nvSpPr>
            <p:cNvPr id="21" name="Rectangle 21"/>
            <p:cNvSpPr/>
            <p:nvPr/>
          </p:nvSpPr>
          <p:spPr>
            <a:xfrm>
              <a:off x="8153400" y="158115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TextBox 22"/>
            <p:cNvSpPr txBox="1"/>
            <p:nvPr/>
          </p:nvSpPr>
          <p:spPr>
            <a:xfrm>
              <a:off x="8432292" y="1721168"/>
              <a:ext cx="148039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自定义 Skill 验证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8433054" y="2004060"/>
              <a:ext cx="38677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新增业务 Skill 后，在相关切片上验证发现和执行效果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8433054" y="2270760"/>
              <a:ext cx="227380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自定义业务任务，支持持续沉淀</a:t>
              </a:r>
            </a:p>
          </p:txBody>
        </p:sp>
      </p:grpSp>
      <p:grpSp>
        <p:nvGrpSpPr>
          <p:cNvPr id="30" name="Group 30"/>
          <p:cNvGrpSpPr/>
          <p:nvPr/>
        </p:nvGrpSpPr>
        <p:grpSpPr>
          <a:xfrm>
            <a:off x="762000" y="2857500"/>
            <a:ext cx="4205043" cy="1047750"/>
            <a:chOff x="762000" y="2857500"/>
            <a:chExt cx="4205043" cy="1047750"/>
          </a:xfrm>
        </p:grpSpPr>
        <p:sp>
          <p:nvSpPr>
            <p:cNvPr id="26" name="Rectangle 26"/>
            <p:cNvSpPr/>
            <p:nvPr/>
          </p:nvSpPr>
          <p:spPr>
            <a:xfrm>
              <a:off x="762000" y="2857500"/>
              <a:ext cx="3467100" cy="1047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7" name="TextBox 27"/>
            <p:cNvSpPr txBox="1"/>
            <p:nvPr/>
          </p:nvSpPr>
          <p:spPr>
            <a:xfrm>
              <a:off x="1040892" y="2997518"/>
              <a:ext cx="134948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回归测试流水线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1041654" y="3280410"/>
              <a:ext cx="392538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集成到 CI 流程，每次 Agent / 模型发布自动触发评测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1041654" y="354711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利用五维标签切片分析，精准定位能力变化</a:t>
              </a:r>
            </a:p>
          </p:txBody>
        </p:sp>
      </p:grpSp>
      <p:grpSp>
        <p:nvGrpSpPr>
          <p:cNvPr id="33" name="Group 33"/>
          <p:cNvGrpSpPr/>
          <p:nvPr/>
        </p:nvGrpSpPr>
        <p:grpSpPr>
          <a:xfrm>
            <a:off x="4457700" y="2857500"/>
            <a:ext cx="1217371" cy="367284"/>
            <a:chOff x="4457700" y="2857500"/>
            <a:chExt cx="1217371" cy="367284"/>
          </a:xfrm>
        </p:grpSpPr>
        <p:sp>
          <p:nvSpPr>
            <p:cNvPr id="31" name="Rectangle 31"/>
            <p:cNvSpPr/>
            <p:nvPr/>
          </p:nvSpPr>
          <p:spPr>
            <a:xfrm>
              <a:off x="4457700" y="28575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2" name="TextBox 32"/>
            <p:cNvSpPr txBox="1"/>
            <p:nvPr/>
          </p:nvSpPr>
          <p:spPr>
            <a:xfrm>
              <a:off x="4639056" y="2872740"/>
              <a:ext cx="103601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集成方式</a:t>
              </a:r>
            </a:p>
          </p:txBody>
        </p:sp>
      </p:grpSp>
      <p:grpSp>
        <p:nvGrpSpPr>
          <p:cNvPr id="37" name="Group 37"/>
          <p:cNvGrpSpPr/>
          <p:nvPr/>
        </p:nvGrpSpPr>
        <p:grpSpPr>
          <a:xfrm>
            <a:off x="4457700" y="3200400"/>
            <a:ext cx="4928870" cy="704850"/>
            <a:chOff x="4457700" y="3200400"/>
            <a:chExt cx="4928870" cy="704850"/>
          </a:xfrm>
        </p:grpSpPr>
        <p:sp>
          <p:nvSpPr>
            <p:cNvPr id="34" name="Rectangle 34"/>
            <p:cNvSpPr/>
            <p:nvPr/>
          </p:nvSpPr>
          <p:spPr>
            <a:xfrm>
              <a:off x="4457700" y="3200400"/>
              <a:ext cx="34671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5" name="TextBox 35"/>
            <p:cNvSpPr txBox="1"/>
            <p:nvPr/>
          </p:nvSpPr>
          <p:spPr>
            <a:xfrm>
              <a:off x="4736592" y="33404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环境部署</a:t>
              </a:r>
            </a:p>
          </p:txBody>
        </p:sp>
        <p:sp>
          <p:nvSpPr>
            <p:cNvPr id="36" name="TextBox 36"/>
            <p:cNvSpPr txBox="1"/>
            <p:nvPr/>
          </p:nvSpPr>
          <p:spPr>
            <a:xfrm>
              <a:off x="4737354" y="3604260"/>
              <a:ext cx="464921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一键部署，拉取仓库 + 配置 API 密钥即跑通 150 道任务</a:t>
              </a:r>
            </a:p>
          </p:txBody>
        </p:sp>
      </p:grpSp>
      <p:grpSp>
        <p:nvGrpSpPr>
          <p:cNvPr id="41" name="Group 41"/>
          <p:cNvGrpSpPr/>
          <p:nvPr/>
        </p:nvGrpSpPr>
        <p:grpSpPr>
          <a:xfrm>
            <a:off x="4457700" y="4019550"/>
            <a:ext cx="4491990" cy="704850"/>
            <a:chOff x="4457700" y="4019550"/>
            <a:chExt cx="4491990" cy="704850"/>
          </a:xfrm>
        </p:grpSpPr>
        <p:sp>
          <p:nvSpPr>
            <p:cNvPr id="38" name="Rectangle 38"/>
            <p:cNvSpPr/>
            <p:nvPr/>
          </p:nvSpPr>
          <p:spPr>
            <a:xfrm>
              <a:off x="4457700" y="4019550"/>
              <a:ext cx="34671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39" name="TextBox 39"/>
            <p:cNvSpPr txBox="1"/>
            <p:nvPr/>
          </p:nvSpPr>
          <p:spPr>
            <a:xfrm>
              <a:off x="4736592" y="415956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内网适配</a:t>
              </a:r>
            </a:p>
          </p:txBody>
        </p:sp>
        <p:sp>
          <p:nvSpPr>
            <p:cNvPr id="40" name="TextBox 40"/>
            <p:cNvSpPr txBox="1"/>
            <p:nvPr/>
          </p:nvSpPr>
          <p:spPr>
            <a:xfrm>
              <a:off x="4737354" y="4423410"/>
              <a:ext cx="42123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含公网依赖的任务改造为离线可运行，支持自定义任务扩展</a:t>
              </a:r>
            </a:p>
          </p:txBody>
        </p:sp>
      </p:grpSp>
      <p:grpSp>
        <p:nvGrpSpPr>
          <p:cNvPr id="45" name="Group 45"/>
          <p:cNvGrpSpPr/>
          <p:nvPr/>
        </p:nvGrpSpPr>
        <p:grpSpPr>
          <a:xfrm>
            <a:off x="4457700" y="4838700"/>
            <a:ext cx="4760092" cy="704850"/>
            <a:chOff x="4457700" y="4838700"/>
            <a:chExt cx="4760092" cy="704850"/>
          </a:xfrm>
        </p:grpSpPr>
        <p:sp>
          <p:nvSpPr>
            <p:cNvPr id="42" name="Rectangle 42"/>
            <p:cNvSpPr/>
            <p:nvPr/>
          </p:nvSpPr>
          <p:spPr>
            <a:xfrm>
              <a:off x="4457700" y="4838700"/>
              <a:ext cx="3467100" cy="7048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3" name="TextBox 43"/>
            <p:cNvSpPr txBox="1"/>
            <p:nvPr/>
          </p:nvSpPr>
          <p:spPr>
            <a:xfrm>
              <a:off x="4736592" y="49787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持续迭代</a:t>
              </a:r>
            </a:p>
          </p:txBody>
        </p:sp>
        <p:sp>
          <p:nvSpPr>
            <p:cNvPr id="44" name="TextBox 44"/>
            <p:cNvSpPr txBox="1"/>
            <p:nvPr/>
          </p:nvSpPr>
          <p:spPr>
            <a:xfrm>
              <a:off x="4737354" y="5242560"/>
              <a:ext cx="44804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嵌入 Agent 开发迭代流程，每次发布自动评测，推动持续改进</a:t>
              </a:r>
            </a:p>
          </p:txBody>
        </p:sp>
      </p:grpSp>
      <p:grpSp>
        <p:nvGrpSpPr>
          <p:cNvPr id="48" name="Group 48"/>
          <p:cNvGrpSpPr/>
          <p:nvPr/>
        </p:nvGrpSpPr>
        <p:grpSpPr>
          <a:xfrm>
            <a:off x="8153400" y="2857500"/>
            <a:ext cx="2489530" cy="367284"/>
            <a:chOff x="8153400" y="2857500"/>
            <a:chExt cx="2489530" cy="367284"/>
          </a:xfrm>
        </p:grpSpPr>
        <p:sp>
          <p:nvSpPr>
            <p:cNvPr id="46" name="Rectangle 46"/>
            <p:cNvSpPr/>
            <p:nvPr/>
          </p:nvSpPr>
          <p:spPr>
            <a:xfrm>
              <a:off x="8153400" y="285750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47" name="TextBox 47"/>
            <p:cNvSpPr txBox="1"/>
            <p:nvPr/>
          </p:nvSpPr>
          <p:spPr>
            <a:xfrm>
              <a:off x="8334756" y="2872740"/>
              <a:ext cx="2308174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企业需求与能力适配</a:t>
              </a:r>
            </a:p>
          </p:txBody>
        </p:sp>
      </p:grpSp>
      <p:grpSp>
        <p:nvGrpSpPr>
          <p:cNvPr id="69" name="Group 69"/>
          <p:cNvGrpSpPr/>
          <p:nvPr/>
        </p:nvGrpSpPr>
        <p:grpSpPr>
          <a:xfrm>
            <a:off x="8153400" y="3200400"/>
            <a:ext cx="4180342" cy="2248281"/>
            <a:chOff x="8153400" y="3200400"/>
            <a:chExt cx="4180342" cy="2248281"/>
          </a:xfrm>
        </p:grpSpPr>
        <p:sp>
          <p:nvSpPr>
            <p:cNvPr id="49" name="Rectangle 49"/>
            <p:cNvSpPr/>
            <p:nvPr/>
          </p:nvSpPr>
          <p:spPr>
            <a:xfrm>
              <a:off x="8153400" y="3200400"/>
              <a:ext cx="3467100" cy="3429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50" name="TextBox 50"/>
            <p:cNvSpPr txBox="1"/>
            <p:nvPr/>
          </p:nvSpPr>
          <p:spPr>
            <a:xfrm>
              <a:off x="8433054" y="3299460"/>
              <a:ext cx="35143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需求</a:t>
              </a:r>
            </a:p>
          </p:txBody>
        </p:sp>
        <p:sp>
          <p:nvSpPr>
            <p:cNvPr id="51" name="TextBox 51"/>
            <p:cNvSpPr txBox="1"/>
            <p:nvPr/>
          </p:nvSpPr>
          <p:spPr>
            <a:xfrm>
              <a:off x="9766554" y="3299460"/>
              <a:ext cx="11991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PawBench 能力</a:t>
              </a:r>
            </a:p>
          </p:txBody>
        </p:sp>
        <p:sp>
          <p:nvSpPr>
            <p:cNvPr id="52" name="Rectangle 52"/>
            <p:cNvSpPr/>
            <p:nvPr/>
          </p:nvSpPr>
          <p:spPr>
            <a:xfrm>
              <a:off x="8153400" y="3543300"/>
              <a:ext cx="3467100" cy="36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3" name="TextBox 53"/>
            <p:cNvSpPr txBox="1"/>
            <p:nvPr/>
          </p:nvSpPr>
          <p:spPr>
            <a:xfrm>
              <a:off x="8433054" y="36518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内网私有化部署</a:t>
              </a:r>
            </a:p>
          </p:txBody>
        </p:sp>
        <p:sp>
          <p:nvSpPr>
            <p:cNvPr id="54" name="TextBox 54"/>
            <p:cNvSpPr txBox="1"/>
            <p:nvPr/>
          </p:nvSpPr>
          <p:spPr>
            <a:xfrm>
              <a:off x="9766554" y="3651885"/>
              <a:ext cx="241744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开源 + Docker，数据不出内网</a:t>
              </a:r>
            </a:p>
          </p:txBody>
        </p:sp>
        <p:sp>
          <p:nvSpPr>
            <p:cNvPr id="55" name="Rectangle 55"/>
            <p:cNvSpPr/>
            <p:nvPr/>
          </p:nvSpPr>
          <p:spPr>
            <a:xfrm>
              <a:off x="8153400" y="3905250"/>
              <a:ext cx="3467100" cy="361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56" name="TextBox 56"/>
            <p:cNvSpPr txBox="1"/>
            <p:nvPr/>
          </p:nvSpPr>
          <p:spPr>
            <a:xfrm>
              <a:off x="8433054" y="4013835"/>
              <a:ext cx="15397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评测完整 Agent 系统</a:t>
              </a:r>
            </a:p>
          </p:txBody>
        </p:sp>
        <p:sp>
          <p:nvSpPr>
            <p:cNvPr id="57" name="TextBox 57"/>
            <p:cNvSpPr txBox="1"/>
            <p:nvPr/>
          </p:nvSpPr>
          <p:spPr>
            <a:xfrm>
              <a:off x="9766554" y="4013835"/>
              <a:ext cx="256718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Model × Harness × Task 全覆盖</a:t>
              </a:r>
            </a:p>
          </p:txBody>
        </p:sp>
        <p:sp>
          <p:nvSpPr>
            <p:cNvPr id="58" name="Rectangle 58"/>
            <p:cNvSpPr/>
            <p:nvPr/>
          </p:nvSpPr>
          <p:spPr>
            <a:xfrm>
              <a:off x="8153400" y="4267200"/>
              <a:ext cx="3467100" cy="36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9" name="TextBox 59"/>
            <p:cNvSpPr txBox="1"/>
            <p:nvPr/>
          </p:nvSpPr>
          <p:spPr>
            <a:xfrm>
              <a:off x="8433054" y="4375785"/>
              <a:ext cx="114300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自定义任务扩展</a:t>
              </a:r>
            </a:p>
          </p:txBody>
        </p:sp>
        <p:sp>
          <p:nvSpPr>
            <p:cNvPr id="60" name="TextBox 60"/>
            <p:cNvSpPr txBox="1"/>
            <p:nvPr/>
          </p:nvSpPr>
          <p:spPr>
            <a:xfrm>
              <a:off x="9766554" y="4375785"/>
              <a:ext cx="242493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OpenJudge 生态，灵活可扩展</a:t>
              </a:r>
            </a:p>
          </p:txBody>
        </p:sp>
        <p:sp>
          <p:nvSpPr>
            <p:cNvPr id="61" name="Rectangle 61"/>
            <p:cNvSpPr/>
            <p:nvPr/>
          </p:nvSpPr>
          <p:spPr>
            <a:xfrm>
              <a:off x="8153400" y="4629150"/>
              <a:ext cx="3467100" cy="36195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62" name="TextBox 62"/>
            <p:cNvSpPr txBox="1"/>
            <p:nvPr/>
          </p:nvSpPr>
          <p:spPr>
            <a:xfrm>
              <a:off x="8433054" y="4737735"/>
              <a:ext cx="1041441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Skill 能力评估</a:t>
              </a:r>
            </a:p>
          </p:txBody>
        </p:sp>
        <p:sp>
          <p:nvSpPr>
            <p:cNvPr id="63" name="TextBox 63"/>
            <p:cNvSpPr txBox="1"/>
            <p:nvPr/>
          </p:nvSpPr>
          <p:spPr>
            <a:xfrm>
              <a:off x="9766554" y="4661535"/>
              <a:ext cx="224847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7 大原子能力含 Skill_Use，</a:t>
              </a:r>
            </a:p>
          </p:txBody>
        </p:sp>
        <p:sp>
          <p:nvSpPr>
            <p:cNvPr id="64" name="TextBox 64"/>
            <p:cNvSpPr txBox="1"/>
            <p:nvPr/>
          </p:nvSpPr>
          <p:spPr>
            <a:xfrm>
              <a:off x="9766554" y="4852035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15 道专项任务</a:t>
              </a:r>
            </a:p>
          </p:txBody>
        </p:sp>
        <p:sp>
          <p:nvSpPr>
            <p:cNvPr id="65" name="Rectangle 65"/>
            <p:cNvSpPr/>
            <p:nvPr/>
          </p:nvSpPr>
          <p:spPr>
            <a:xfrm>
              <a:off x="8153400" y="4991100"/>
              <a:ext cx="3467100" cy="3619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6" name="TextBox 66"/>
            <p:cNvSpPr txBox="1"/>
            <p:nvPr/>
          </p:nvSpPr>
          <p:spPr>
            <a:xfrm>
              <a:off x="8433054" y="5099685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量化回归</a:t>
              </a:r>
            </a:p>
          </p:txBody>
        </p:sp>
        <p:sp>
          <p:nvSpPr>
            <p:cNvPr id="67" name="TextBox 67"/>
            <p:cNvSpPr txBox="1"/>
            <p:nvPr/>
          </p:nvSpPr>
          <p:spPr>
            <a:xfrm>
              <a:off x="9766554" y="5023485"/>
              <a:ext cx="20234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✓ 标准化任务 + 自动评分，</a:t>
              </a:r>
            </a:p>
          </p:txBody>
        </p:sp>
        <p:sp>
          <p:nvSpPr>
            <p:cNvPr id="68" name="TextBox 68"/>
            <p:cNvSpPr txBox="1"/>
            <p:nvPr/>
          </p:nvSpPr>
          <p:spPr>
            <a:xfrm>
              <a:off x="9766554" y="5213985"/>
              <a:ext cx="72054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CI 可集成</a:t>
              </a:r>
            </a:p>
          </p:txBody>
        </p:sp>
      </p:grpSp>
      <p:grpSp>
        <p:nvGrpSpPr>
          <p:cNvPr id="76" name="Group 76"/>
          <p:cNvGrpSpPr/>
          <p:nvPr/>
        </p:nvGrpSpPr>
        <p:grpSpPr>
          <a:xfrm>
            <a:off x="762000" y="4191000"/>
            <a:ext cx="3827709" cy="1143000"/>
            <a:chOff x="762000" y="4191000"/>
            <a:chExt cx="3827709" cy="1143000"/>
          </a:xfrm>
        </p:grpSpPr>
        <p:sp>
          <p:nvSpPr>
            <p:cNvPr id="70" name="Rectangle 70"/>
            <p:cNvSpPr/>
            <p:nvPr/>
          </p:nvSpPr>
          <p:spPr>
            <a:xfrm>
              <a:off x="762000" y="4191000"/>
              <a:ext cx="3467100" cy="1143000"/>
            </a:xfrm>
            <a:prstGeom prst="rect">
              <a:avLst/>
            </a:prstGeom>
            <a:solidFill>
              <a:schemeClr val="lt1"/>
            </a:solidFill>
            <a:ln>
              <a:noFill/>
            </a:ln>
          </p:spPr>
        </p:sp>
        <p:sp>
          <p:nvSpPr>
            <p:cNvPr id="71" name="Rectangle 71"/>
            <p:cNvSpPr/>
            <p:nvPr/>
          </p:nvSpPr>
          <p:spPr>
            <a:xfrm>
              <a:off x="762000" y="4191000"/>
              <a:ext cx="38100" cy="11430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72" name="TextBox 72"/>
            <p:cNvSpPr txBox="1"/>
            <p:nvPr/>
          </p:nvSpPr>
          <p:spPr>
            <a:xfrm>
              <a:off x="1040892" y="4331018"/>
              <a:ext cx="77701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技术特点</a:t>
              </a:r>
            </a:p>
          </p:txBody>
        </p:sp>
        <p:sp>
          <p:nvSpPr>
            <p:cNvPr id="73" name="TextBox 73"/>
            <p:cNvSpPr txBox="1"/>
            <p:nvPr/>
          </p:nvSpPr>
          <p:spPr>
            <a:xfrm>
              <a:off x="1041654" y="4632960"/>
              <a:ext cx="313410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支持 OpenAI 兼容 API 和私有化模型接入</a:t>
              </a:r>
            </a:p>
          </p:txBody>
        </p:sp>
        <p:sp>
          <p:nvSpPr>
            <p:cNvPr id="74" name="TextBox 74"/>
            <p:cNvSpPr txBox="1"/>
            <p:nvPr/>
          </p:nvSpPr>
          <p:spPr>
            <a:xfrm>
              <a:off x="1041654" y="4861560"/>
              <a:ext cx="2245309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纯 Python 实现，无专有依赖</a:t>
              </a:r>
            </a:p>
          </p:txBody>
        </p:sp>
        <p:sp>
          <p:nvSpPr>
            <p:cNvPr id="75" name="TextBox 75"/>
            <p:cNvSpPr txBox="1"/>
            <p:nvPr/>
          </p:nvSpPr>
          <p:spPr>
            <a:xfrm>
              <a:off x="1041654" y="5090160"/>
              <a:ext cx="35480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 marL="129540" indent="-129540">
                <a:buClr>
                  <a:schemeClr val="dk2"/>
                </a:buClr>
                <a:buSzTx/>
                <a:buFontTx/>
                <a:buChar char="•"/>
              </a:pPr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Task / Judge / Runner 解耦，可独立定制替换</a:t>
              </a:r>
            </a:p>
          </p:txBody>
        </p:sp>
      </p:grpSp>
      <p:sp>
        <p:nvSpPr>
          <p:cNvPr id="77" name="TextBox 77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12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0" y="0"/>
            <a:ext cx="1146383" cy="6858000"/>
            <a:chOff x="0" y="0"/>
            <a:chExt cx="1146383" cy="6858000"/>
          </a:xfrm>
        </p:grpSpPr>
        <p:sp>
          <p:nvSpPr>
            <p:cNvPr id="2" name="Rectangle 2"/>
            <p:cNvSpPr/>
            <p:nvPr/>
          </p:nvSpPr>
          <p:spPr>
            <a:xfrm>
              <a:off x="0" y="0"/>
              <a:ext cx="114300" cy="68580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361950" y="243840"/>
              <a:ext cx="784433" cy="93345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4800" b="1" dirty="0">
                  <a:solidFill>
                    <a:schemeClr val="accent1">
                      <a:alphaMod val="15000"/>
                    </a:schemeClr>
                  </a:solidFill>
                  <a:latin typeface="+mn-lt"/>
                  <a:ea typeface="+mn-ea"/>
                  <a:cs typeface="+mn-cs"/>
                </a:rPr>
                <a:t>13</a:t>
              </a:r>
            </a:p>
          </p:txBody>
        </p:sp>
      </p:grpSp>
      <p:grpSp>
        <p:nvGrpSpPr>
          <p:cNvPr id="7" name="Group 7"/>
          <p:cNvGrpSpPr/>
          <p:nvPr/>
        </p:nvGrpSpPr>
        <p:grpSpPr>
          <a:xfrm>
            <a:off x="745998" y="571500"/>
            <a:ext cx="8182367" cy="657035"/>
            <a:chOff x="745998" y="571500"/>
            <a:chExt cx="8182367" cy="657035"/>
          </a:xfrm>
        </p:grpSpPr>
        <p:sp>
          <p:nvSpPr>
            <p:cNvPr id="5" name="Rectangle 5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6" name="TextBox 6"/>
            <p:cNvSpPr txBox="1"/>
            <p:nvPr/>
          </p:nvSpPr>
          <p:spPr>
            <a:xfrm>
              <a:off x="745998" y="612458"/>
              <a:ext cx="8182367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实战评测案例 · OpenClaw 4.14 vs 5.28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5142" y="1092518"/>
            <a:ext cx="6661901" cy="264033"/>
            <a:chOff x="755142" y="1092518"/>
            <a:chExt cx="6661901" cy="264033"/>
          </a:xfrm>
        </p:grpSpPr>
        <p:sp>
          <p:nvSpPr>
            <p:cNvPr id="8" name="TextBox 8"/>
            <p:cNvSpPr txBox="1"/>
            <p:nvPr/>
          </p:nvSpPr>
          <p:spPr>
            <a:xfrm>
              <a:off x="755142" y="1092518"/>
              <a:ext cx="666190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同一 LLM（QWen35-397b）× 同一任务集 — 「Agent 框架迭代」效果可量化验证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762000" y="1428750"/>
            <a:ext cx="2527695" cy="367284"/>
            <a:chOff x="762000" y="1428750"/>
            <a:chExt cx="2527695" cy="367284"/>
          </a:xfrm>
        </p:grpSpPr>
        <p:sp>
          <p:nvSpPr>
            <p:cNvPr id="10" name="Rectangle 10"/>
            <p:cNvSpPr/>
            <p:nvPr/>
          </p:nvSpPr>
          <p:spPr>
            <a:xfrm>
              <a:off x="762000" y="1428750"/>
              <a:ext cx="38100" cy="2667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943356" y="1443990"/>
              <a:ext cx="234633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评测结果 · 得分对比</a:t>
              </a:r>
            </a:p>
          </p:txBody>
        </p:sp>
      </p:grpSp>
      <p:grpSp>
        <p:nvGrpSpPr>
          <p:cNvPr id="20" name="Group 20"/>
          <p:cNvGrpSpPr/>
          <p:nvPr/>
        </p:nvGrpSpPr>
        <p:grpSpPr>
          <a:xfrm>
            <a:off x="762000" y="1771650"/>
            <a:ext cx="2952750" cy="1428750"/>
            <a:chOff x="762000" y="1771650"/>
            <a:chExt cx="2952750" cy="1428750"/>
          </a:xfrm>
        </p:grpSpPr>
        <p:sp>
          <p:nvSpPr>
            <p:cNvPr id="13" name="Rectangle 13"/>
            <p:cNvSpPr/>
            <p:nvPr/>
          </p:nvSpPr>
          <p:spPr>
            <a:xfrm>
              <a:off x="762000" y="1771650"/>
              <a:ext cx="29527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4" name="Rectangle 14"/>
            <p:cNvSpPr/>
            <p:nvPr/>
          </p:nvSpPr>
          <p:spPr>
            <a:xfrm>
              <a:off x="762000" y="1771650"/>
              <a:ext cx="38100" cy="1428750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1040892" y="1911668"/>
              <a:ext cx="1378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OpenClaw 4.14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32510" y="2038350"/>
              <a:ext cx="96339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5"/>
                  </a:solidFill>
                  <a:latin typeface="+mn-lt"/>
                  <a:ea typeface="+mn-ea"/>
                  <a:cs typeface="+mn-cs"/>
                </a:rPr>
                <a:t>68.1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708404" y="2232660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66.0 / 70.3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1041654" y="2537460"/>
              <a:ext cx="1724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三次任务平均分 0.6774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041654" y="2785110"/>
              <a:ext cx="161955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错误后可恢复：107 次</a:t>
              </a:r>
            </a:p>
          </p:txBody>
        </p:sp>
      </p:grpSp>
      <p:grpSp>
        <p:nvGrpSpPr>
          <p:cNvPr id="28" name="Group 28"/>
          <p:cNvGrpSpPr/>
          <p:nvPr/>
        </p:nvGrpSpPr>
        <p:grpSpPr>
          <a:xfrm>
            <a:off x="3943350" y="1771650"/>
            <a:ext cx="2952750" cy="1428750"/>
            <a:chOff x="3943350" y="1771650"/>
            <a:chExt cx="2952750" cy="1428750"/>
          </a:xfrm>
        </p:grpSpPr>
        <p:sp>
          <p:nvSpPr>
            <p:cNvPr id="21" name="Rectangle 21"/>
            <p:cNvSpPr/>
            <p:nvPr/>
          </p:nvSpPr>
          <p:spPr>
            <a:xfrm>
              <a:off x="3943350" y="1771650"/>
              <a:ext cx="2952750" cy="14287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2" name="Rectangle 22"/>
            <p:cNvSpPr/>
            <p:nvPr/>
          </p:nvSpPr>
          <p:spPr>
            <a:xfrm>
              <a:off x="3943350" y="1771650"/>
              <a:ext cx="38100" cy="1428750"/>
            </a:xfrm>
            <a:prstGeom prst="rect">
              <a:avLst/>
            </a:prstGeom>
            <a:solidFill>
              <a:schemeClr val="accent6"/>
            </a:solidFill>
            <a:ln>
              <a:noFill/>
            </a:ln>
          </p:spPr>
        </p:sp>
        <p:sp>
          <p:nvSpPr>
            <p:cNvPr id="23" name="TextBox 23"/>
            <p:cNvSpPr txBox="1"/>
            <p:nvPr/>
          </p:nvSpPr>
          <p:spPr>
            <a:xfrm>
              <a:off x="4222242" y="1911668"/>
              <a:ext cx="137806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OpenClaw 5.28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4213860" y="2038350"/>
              <a:ext cx="963397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3000" b="1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60.3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4889754" y="2232660"/>
              <a:ext cx="104607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/ 61.2 / 59.7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4223004" y="2537460"/>
              <a:ext cx="172455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三次任务平均分 0.6144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4223004" y="2785110"/>
              <a:ext cx="14418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accent6"/>
                  </a:solidFill>
                  <a:latin typeface="+mn-lt"/>
                  <a:ea typeface="+mn-ea"/>
                  <a:cs typeface="+mn-cs"/>
                </a:rPr>
                <a:t>错误后可恢复：0 次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762000" y="3429000"/>
            <a:ext cx="6230112" cy="533400"/>
            <a:chOff x="762000" y="3429000"/>
            <a:chExt cx="6230112" cy="533400"/>
          </a:xfrm>
        </p:grpSpPr>
        <p:sp>
          <p:nvSpPr>
            <p:cNvPr id="29" name="Rectangle 29"/>
            <p:cNvSpPr/>
            <p:nvPr/>
          </p:nvSpPr>
          <p:spPr>
            <a:xfrm>
              <a:off x="762000" y="3429000"/>
              <a:ext cx="6134100" cy="5334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0" name="TextBox 30"/>
            <p:cNvSpPr txBox="1"/>
            <p:nvPr/>
          </p:nvSpPr>
          <p:spPr>
            <a:xfrm>
              <a:off x="1040130" y="3609975"/>
              <a:ext cx="5951982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版本升级未带来收益：平均分下降 6.3 分（0.6774 → 0.6144）</a:t>
              </a:r>
            </a:p>
          </p:txBody>
        </p:sp>
      </p:grpSp>
      <p:grpSp>
        <p:nvGrpSpPr>
          <p:cNvPr id="34" name="Group 34"/>
          <p:cNvGrpSpPr/>
          <p:nvPr/>
        </p:nvGrpSpPr>
        <p:grpSpPr>
          <a:xfrm>
            <a:off x="762000" y="4191000"/>
            <a:ext cx="4003399" cy="367284"/>
            <a:chOff x="762000" y="4191000"/>
            <a:chExt cx="4003399" cy="367284"/>
          </a:xfrm>
        </p:grpSpPr>
        <p:sp>
          <p:nvSpPr>
            <p:cNvPr id="32" name="Rectangle 32"/>
            <p:cNvSpPr/>
            <p:nvPr/>
          </p:nvSpPr>
          <p:spPr>
            <a:xfrm>
              <a:off x="762000" y="4191000"/>
              <a:ext cx="38100" cy="26670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943356" y="4206240"/>
              <a:ext cx="3822043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根因分析 · 为什么 5.28 分数更低</a:t>
              </a:r>
            </a:p>
          </p:txBody>
        </p:sp>
      </p:grpSp>
      <p:grpSp>
        <p:nvGrpSpPr>
          <p:cNvPr id="39" name="Group 39"/>
          <p:cNvGrpSpPr/>
          <p:nvPr/>
        </p:nvGrpSpPr>
        <p:grpSpPr>
          <a:xfrm>
            <a:off x="762000" y="4552950"/>
            <a:ext cx="3183484" cy="895350"/>
            <a:chOff x="762000" y="4552950"/>
            <a:chExt cx="3183484" cy="895350"/>
          </a:xfrm>
        </p:grpSpPr>
        <p:sp>
          <p:nvSpPr>
            <p:cNvPr id="35" name="Rectangle 35"/>
            <p:cNvSpPr/>
            <p:nvPr/>
          </p:nvSpPr>
          <p:spPr>
            <a:xfrm>
              <a:off x="762000" y="4552950"/>
              <a:ext cx="2952750" cy="89535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6" name="TextBox 36"/>
            <p:cNvSpPr txBox="1"/>
            <p:nvPr/>
          </p:nvSpPr>
          <p:spPr>
            <a:xfrm>
              <a:off x="1040892" y="4654868"/>
              <a:ext cx="23036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① 错误处理框架变化 · 核心</a:t>
              </a:r>
            </a:p>
          </p:txBody>
        </p:sp>
        <p:sp>
          <p:nvSpPr>
            <p:cNvPr id="37" name="TextBox 37"/>
            <p:cNvSpPr txBox="1"/>
            <p:nvPr/>
          </p:nvSpPr>
          <p:spPr>
            <a:xfrm>
              <a:off x="1041654" y="4918710"/>
              <a:ext cx="290383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4.14 错误后重试至多 5 次，78.1% 恢复</a:t>
              </a:r>
            </a:p>
          </p:txBody>
        </p:sp>
        <p:sp>
          <p:nvSpPr>
            <p:cNvPr id="38" name="TextBox 38"/>
            <p:cNvSpPr txBox="1"/>
            <p:nvPr/>
          </p:nvSpPr>
          <p:spPr>
            <a:xfrm>
              <a:off x="1041654" y="5128260"/>
              <a:ext cx="22172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5.28 失败即放弃（恢复 0 次）</a:t>
              </a:r>
            </a:p>
          </p:txBody>
        </p:sp>
      </p:grpSp>
      <p:grpSp>
        <p:nvGrpSpPr>
          <p:cNvPr id="44" name="Group 44"/>
          <p:cNvGrpSpPr/>
          <p:nvPr/>
        </p:nvGrpSpPr>
        <p:grpSpPr>
          <a:xfrm>
            <a:off x="3943350" y="4552950"/>
            <a:ext cx="3433877" cy="895350"/>
            <a:chOff x="3943350" y="4552950"/>
            <a:chExt cx="3433877" cy="895350"/>
          </a:xfrm>
        </p:grpSpPr>
        <p:sp>
          <p:nvSpPr>
            <p:cNvPr id="40" name="Rectangle 40"/>
            <p:cNvSpPr/>
            <p:nvPr/>
          </p:nvSpPr>
          <p:spPr>
            <a:xfrm>
              <a:off x="3943350" y="4552950"/>
              <a:ext cx="2952750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1" name="TextBox 41"/>
            <p:cNvSpPr txBox="1"/>
            <p:nvPr/>
          </p:nvSpPr>
          <p:spPr>
            <a:xfrm>
              <a:off x="4222242" y="4654868"/>
              <a:ext cx="182834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② LLM 输出提前终止</a:t>
              </a:r>
            </a:p>
          </p:txBody>
        </p:sp>
        <p:sp>
          <p:nvSpPr>
            <p:cNvPr id="42" name="TextBox 42"/>
            <p:cNvSpPr txBox="1"/>
            <p:nvPr/>
          </p:nvSpPr>
          <p:spPr>
            <a:xfrm>
              <a:off x="4223004" y="4918710"/>
              <a:ext cx="315422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completion_tokens 少 64%（2147→1311）</a:t>
              </a:r>
            </a:p>
          </p:txBody>
        </p:sp>
        <p:sp>
          <p:nvSpPr>
            <p:cNvPr id="43" name="TextBox 43"/>
            <p:cNvSpPr txBox="1"/>
            <p:nvPr/>
          </p:nvSpPr>
          <p:spPr>
            <a:xfrm>
              <a:off x="4223004" y="5128260"/>
              <a:ext cx="22382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timeout 分散于 LLM 输出阶段</a:t>
              </a:r>
            </a:p>
          </p:txBody>
        </p:sp>
      </p:grpSp>
      <p:grpSp>
        <p:nvGrpSpPr>
          <p:cNvPr id="49" name="Group 49"/>
          <p:cNvGrpSpPr/>
          <p:nvPr/>
        </p:nvGrpSpPr>
        <p:grpSpPr>
          <a:xfrm>
            <a:off x="762000" y="5581650"/>
            <a:ext cx="2952750" cy="895350"/>
            <a:chOff x="762000" y="5581650"/>
            <a:chExt cx="2952750" cy="895350"/>
          </a:xfrm>
        </p:grpSpPr>
        <p:sp>
          <p:nvSpPr>
            <p:cNvPr id="45" name="Rectangle 45"/>
            <p:cNvSpPr/>
            <p:nvPr/>
          </p:nvSpPr>
          <p:spPr>
            <a:xfrm>
              <a:off x="762000" y="5581650"/>
              <a:ext cx="2952750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46" name="TextBox 46"/>
            <p:cNvSpPr txBox="1"/>
            <p:nvPr/>
          </p:nvSpPr>
          <p:spPr>
            <a:xfrm>
              <a:off x="1040892" y="5683568"/>
              <a:ext cx="18933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③ 对话长度限制更严格</a:t>
              </a:r>
            </a:p>
          </p:txBody>
        </p:sp>
        <p:sp>
          <p:nvSpPr>
            <p:cNvPr id="47" name="TextBox 47"/>
            <p:cNvSpPr txBox="1"/>
            <p:nvPr/>
          </p:nvSpPr>
          <p:spPr>
            <a:xfrm>
              <a:off x="1041654" y="59474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对话接近容量上限即中途停止并报错</a:t>
              </a:r>
            </a:p>
          </p:txBody>
        </p:sp>
        <p:sp>
          <p:nvSpPr>
            <p:cNvPr id="48" name="TextBox 48"/>
            <p:cNvSpPr txBox="1"/>
            <p:nvPr/>
          </p:nvSpPr>
          <p:spPr>
            <a:xfrm>
              <a:off x="1041654" y="6156960"/>
              <a:ext cx="2403043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「上下文超限」报错仅 5.28 出现</a:t>
              </a:r>
            </a:p>
          </p:txBody>
        </p:sp>
      </p:grpSp>
      <p:grpSp>
        <p:nvGrpSpPr>
          <p:cNvPr id="54" name="Group 54"/>
          <p:cNvGrpSpPr/>
          <p:nvPr/>
        </p:nvGrpSpPr>
        <p:grpSpPr>
          <a:xfrm>
            <a:off x="3943350" y="5581650"/>
            <a:ext cx="2952750" cy="895350"/>
            <a:chOff x="3943350" y="5581650"/>
            <a:chExt cx="2952750" cy="895350"/>
          </a:xfrm>
        </p:grpSpPr>
        <p:sp>
          <p:nvSpPr>
            <p:cNvPr id="50" name="Rectangle 50"/>
            <p:cNvSpPr/>
            <p:nvPr/>
          </p:nvSpPr>
          <p:spPr>
            <a:xfrm>
              <a:off x="3943350" y="5581650"/>
              <a:ext cx="2952750" cy="89535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51" name="TextBox 51"/>
            <p:cNvSpPr txBox="1"/>
            <p:nvPr/>
          </p:nvSpPr>
          <p:spPr>
            <a:xfrm>
              <a:off x="4222242" y="5683568"/>
              <a:ext cx="170250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④ 半截指令仍被照做</a:t>
              </a:r>
            </a:p>
          </p:txBody>
        </p:sp>
        <p:sp>
          <p:nvSpPr>
            <p:cNvPr id="52" name="TextBox 52"/>
            <p:cNvSpPr txBox="1"/>
            <p:nvPr/>
          </p:nvSpPr>
          <p:spPr>
            <a:xfrm>
              <a:off x="4223004" y="594741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回答未写完，缺参数的指令仍被执行</a:t>
              </a:r>
            </a:p>
          </p:txBody>
        </p:sp>
        <p:sp>
          <p:nvSpPr>
            <p:cNvPr id="53" name="TextBox 53"/>
            <p:cNvSpPr txBox="1"/>
            <p:nvPr/>
          </p:nvSpPr>
          <p:spPr>
            <a:xfrm>
              <a:off x="4223004" y="6156960"/>
              <a:ext cx="259689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执行后禁止重试补救，任务无法挽回</a:t>
              </a:r>
            </a:p>
          </p:txBody>
        </p:sp>
      </p:grpSp>
      <p:grpSp>
        <p:nvGrpSpPr>
          <p:cNvPr id="57" name="Group 57"/>
          <p:cNvGrpSpPr/>
          <p:nvPr/>
        </p:nvGrpSpPr>
        <p:grpSpPr>
          <a:xfrm>
            <a:off x="755904" y="6442710"/>
            <a:ext cx="11221364" cy="234696"/>
            <a:chOff x="755904" y="6442710"/>
            <a:chExt cx="11221364" cy="234696"/>
          </a:xfrm>
        </p:grpSpPr>
        <p:sp>
          <p:nvSpPr>
            <p:cNvPr id="55" name="TextBox 55"/>
            <p:cNvSpPr txBox="1"/>
            <p:nvPr/>
          </p:nvSpPr>
          <p:spPr>
            <a:xfrm>
              <a:off x="755904" y="6442710"/>
              <a:ext cx="9314227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数据来源：PawBench 实测（同 LLM QWen35-397b）· 分析 penclaw-4.14-vs-5.28-analysis.md · 官方 PR #87571 / #97140</a:t>
              </a:r>
            </a:p>
          </p:txBody>
        </p:sp>
        <p:sp>
          <p:nvSpPr>
            <p:cNvPr id="56" name="TextBox 56"/>
            <p:cNvSpPr txBox="1"/>
            <p:nvPr/>
          </p:nvSpPr>
          <p:spPr>
            <a:xfrm>
              <a:off x="11423904" y="6442710"/>
              <a:ext cx="55336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20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13 / 14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4"/>
          <p:cNvGrpSpPr/>
          <p:nvPr/>
        </p:nvGrpSpPr>
        <p:grpSpPr>
          <a:xfrm>
            <a:off x="745998" y="571500"/>
            <a:ext cx="922515" cy="657035"/>
            <a:chOff x="745998" y="571500"/>
            <a:chExt cx="922515" cy="657035"/>
          </a:xfrm>
        </p:grpSpPr>
        <p:sp>
          <p:nvSpPr>
            <p:cNvPr id="2" name="Rectangle 2"/>
            <p:cNvSpPr/>
            <p:nvPr/>
          </p:nvSpPr>
          <p:spPr>
            <a:xfrm>
              <a:off x="762000" y="571500"/>
              <a:ext cx="571500" cy="28575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745998" y="612458"/>
              <a:ext cx="922515" cy="61607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15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总结</a:t>
              </a:r>
            </a:p>
          </p:txBody>
        </p:sp>
      </p:grpSp>
      <p:grpSp>
        <p:nvGrpSpPr>
          <p:cNvPr id="13" name="Group 13"/>
          <p:cNvGrpSpPr/>
          <p:nvPr/>
        </p:nvGrpSpPr>
        <p:grpSpPr>
          <a:xfrm>
            <a:off x="762000" y="1333500"/>
            <a:ext cx="4584207" cy="1714500"/>
            <a:chOff x="762000" y="1333500"/>
            <a:chExt cx="4584207" cy="1714500"/>
          </a:xfrm>
        </p:grpSpPr>
        <p:sp>
          <p:nvSpPr>
            <p:cNvPr id="5" name="Rectangle 5"/>
            <p:cNvSpPr/>
            <p:nvPr/>
          </p:nvSpPr>
          <p:spPr>
            <a:xfrm>
              <a:off x="762000" y="133350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6" name="Rectangle 6"/>
            <p:cNvSpPr/>
            <p:nvPr/>
          </p:nvSpPr>
          <p:spPr>
            <a:xfrm>
              <a:off x="762000" y="133350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1035558" y="140779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610106" y="1520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交叉评测矩阵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40892" y="2025968"/>
              <a:ext cx="2888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同时评估 Model、Harness 和 Task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040892" y="2254568"/>
              <a:ext cx="2012823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三个维度，回答的不只是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1040892" y="2483168"/>
              <a:ext cx="430531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「模型好不好」，更是「部署后的 Agent 好不好用」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40892" y="2768918"/>
              <a:ext cx="266837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9 模型 × 3 Harness × 150 任务</a:t>
              </a:r>
            </a:p>
          </p:txBody>
        </p:sp>
      </p:grpSp>
      <p:grpSp>
        <p:nvGrpSpPr>
          <p:cNvPr id="22" name="Group 22"/>
          <p:cNvGrpSpPr/>
          <p:nvPr/>
        </p:nvGrpSpPr>
        <p:grpSpPr>
          <a:xfrm>
            <a:off x="4457700" y="1333500"/>
            <a:ext cx="3995311" cy="1714500"/>
            <a:chOff x="4457700" y="1333500"/>
            <a:chExt cx="3995311" cy="1714500"/>
          </a:xfrm>
        </p:grpSpPr>
        <p:sp>
          <p:nvSpPr>
            <p:cNvPr id="14" name="Rectangle 14"/>
            <p:cNvSpPr/>
            <p:nvPr/>
          </p:nvSpPr>
          <p:spPr>
            <a:xfrm>
              <a:off x="4457700" y="133350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15" name="Rectangle 15"/>
            <p:cNvSpPr/>
            <p:nvPr/>
          </p:nvSpPr>
          <p:spPr>
            <a:xfrm>
              <a:off x="4457700" y="133350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16" name="TextBox 16"/>
            <p:cNvSpPr txBox="1"/>
            <p:nvPr/>
          </p:nvSpPr>
          <p:spPr>
            <a:xfrm>
              <a:off x="4731258" y="140779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02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5305806" y="1520190"/>
              <a:ext cx="1290447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灵活可扩展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4736592" y="2025968"/>
              <a:ext cx="268792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Task、Judge、Runner 完全解耦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4736592" y="2254568"/>
              <a:ext cx="2376297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可自定义评测任务和评分规则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4736592" y="2483168"/>
              <a:ext cx="273977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五维标签体系支持精细化切片分析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4736592" y="2768918"/>
              <a:ext cx="371641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阿里通义实验室 AgentScope · Apache 2.0</a:t>
              </a:r>
            </a:p>
          </p:txBody>
        </p:sp>
      </p:grpSp>
      <p:grpSp>
        <p:nvGrpSpPr>
          <p:cNvPr id="31" name="Group 31"/>
          <p:cNvGrpSpPr/>
          <p:nvPr/>
        </p:nvGrpSpPr>
        <p:grpSpPr>
          <a:xfrm>
            <a:off x="8153400" y="1333500"/>
            <a:ext cx="3467100" cy="1714500"/>
            <a:chOff x="8153400" y="1333500"/>
            <a:chExt cx="3467100" cy="1714500"/>
          </a:xfrm>
        </p:grpSpPr>
        <p:sp>
          <p:nvSpPr>
            <p:cNvPr id="23" name="Rectangle 23"/>
            <p:cNvSpPr/>
            <p:nvPr/>
          </p:nvSpPr>
          <p:spPr>
            <a:xfrm>
              <a:off x="8153400" y="1333500"/>
              <a:ext cx="3467100" cy="1714500"/>
            </a:xfrm>
            <a:prstGeom prst="rect">
              <a:avLst/>
            </a:prstGeom>
            <a:solidFill>
              <a:schemeClr val="lt2"/>
            </a:solidFill>
            <a:ln>
              <a:noFill/>
            </a:ln>
          </p:spPr>
        </p:sp>
        <p:sp>
          <p:nvSpPr>
            <p:cNvPr id="24" name="Rectangle 24"/>
            <p:cNvSpPr/>
            <p:nvPr/>
          </p:nvSpPr>
          <p:spPr>
            <a:xfrm>
              <a:off x="8153400" y="1333500"/>
              <a:ext cx="38100" cy="171450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</p:sp>
        <p:sp>
          <p:nvSpPr>
            <p:cNvPr id="25" name="TextBox 25"/>
            <p:cNvSpPr txBox="1"/>
            <p:nvPr/>
          </p:nvSpPr>
          <p:spPr>
            <a:xfrm>
              <a:off x="8426958" y="1407795"/>
              <a:ext cx="397551" cy="46939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24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03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9001506" y="1520190"/>
              <a:ext cx="1544879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内网安全就绪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32292" y="2025968"/>
              <a:ext cx="287555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Docker 沙箱隔离运行，数据不出网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32292" y="2254568"/>
              <a:ext cx="310530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完全私有化部署，可集成 CI/CD 回归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32292" y="2483168"/>
              <a:ext cx="1814798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2"/>
                  </a:solidFill>
                  <a:latin typeface="+mn-lt"/>
                  <a:ea typeface="+mn-ea"/>
                  <a:cs typeface="+mn-cs"/>
                </a:rPr>
                <a:t>支持 OpenAI 兼容 API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32292" y="2768918"/>
              <a:ext cx="3009020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en-US" sz="1350" b="1" dirty="0">
                  <a:solidFill>
                    <a:schemeClr val="accent2"/>
                  </a:solidFill>
                  <a:latin typeface="+mn-lt"/>
                  <a:ea typeface="+mn-ea"/>
                  <a:cs typeface="+mn-cs"/>
                </a:rPr>
                <a:t>Python 3.11+ / Docker / Node.js</a:t>
              </a:r>
            </a:p>
          </p:txBody>
        </p:sp>
      </p:grpSp>
      <p:grpSp>
        <p:nvGrpSpPr>
          <p:cNvPr id="36" name="Group 36"/>
          <p:cNvGrpSpPr/>
          <p:nvPr/>
        </p:nvGrpSpPr>
        <p:grpSpPr>
          <a:xfrm>
            <a:off x="762000" y="3429000"/>
            <a:ext cx="10858500" cy="1428750"/>
            <a:chOff x="762000" y="3429000"/>
            <a:chExt cx="10858500" cy="1428750"/>
          </a:xfrm>
        </p:grpSpPr>
        <p:sp>
          <p:nvSpPr>
            <p:cNvPr id="32" name="Rectangle 32"/>
            <p:cNvSpPr/>
            <p:nvPr/>
          </p:nvSpPr>
          <p:spPr>
            <a:xfrm>
              <a:off x="762000" y="3429000"/>
              <a:ext cx="10858500" cy="1428750"/>
            </a:xfrm>
            <a:prstGeom prst="rect">
              <a:avLst/>
            </a:prstGeom>
            <a:solidFill>
              <a:schemeClr val="accent1">
                <a:alpha val="6000"/>
              </a:schemeClr>
            </a:solidFill>
            <a:ln>
              <a:noFill/>
            </a:ln>
          </p:spPr>
        </p:sp>
        <p:sp>
          <p:nvSpPr>
            <p:cNvPr id="33" name="TextBox 33"/>
            <p:cNvSpPr txBox="1"/>
            <p:nvPr/>
          </p:nvSpPr>
          <p:spPr>
            <a:xfrm>
              <a:off x="1038606" y="3663315"/>
              <a:ext cx="3376212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b="1" dirty="0">
                  <a:solidFill>
                    <a:schemeClr val="accent1"/>
                  </a:solidFill>
                  <a:latin typeface="+mn-lt"/>
                  <a:ea typeface="+mn-ea"/>
                  <a:cs typeface="+mn-cs"/>
                </a:rPr>
                <a:t>Agent 评测正处于关键转折期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040892" y="4092892"/>
              <a:ext cx="890017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从手工挑选个别案例做主观判断，转向标准化、自动化、多维度量化评测，是 Agent 从实验走向生产的前提。</a:t>
              </a:r>
            </a:p>
          </p:txBody>
        </p:sp>
        <p:sp>
          <p:nvSpPr>
            <p:cNvPr id="35" name="TextBox 35"/>
            <p:cNvSpPr txBox="1"/>
            <p:nvPr/>
          </p:nvSpPr>
          <p:spPr>
            <a:xfrm>
              <a:off x="1040892" y="4378642"/>
              <a:ext cx="1018673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chemeClr val="dk1"/>
                  </a:solidFill>
                  <a:latin typeface="+mn-lt"/>
                  <a:ea typeface="+mn-ea"/>
                  <a:cs typeface="+mn-cs"/>
                </a:rPr>
                <a:t>一个完整的评测体系需同时覆盖模型能力、任务框架和运行环境三个独立变量，才能真正回答「我的 Agent 到底好不好用」。</a:t>
              </a:r>
            </a:p>
          </p:txBody>
        </p:sp>
      </p:grpSp>
      <p:sp>
        <p:nvSpPr>
          <p:cNvPr id="37" name="TextBox 37"/>
          <p:cNvSpPr txBox="1"/>
          <p:nvPr/>
        </p:nvSpPr>
        <p:spPr>
          <a:xfrm>
            <a:off x="11423904" y="6442710"/>
            <a:ext cx="553364" cy="234696"/>
          </a:xfrm>
          <a:prstGeom prst="rect">
            <a:avLst/>
          </a:prstGeom>
          <a:noFill/>
          <a:ln>
            <a:noFill/>
          </a:ln>
        </p:spPr>
        <p:txBody>
          <a:bodyPr wrap="none" lIns="0" tIns="0" rIns="0" bIns="0" anchor="t" anchorCtr="0">
            <a:spAutoFit/>
          </a:bodyPr>
          <a:lstStyle/>
          <a:p>
            <a:pPr algn="l"/>
            <a:r>
              <a:rPr lang="en-US" sz="1200" dirty="0">
                <a:solidFill>
                  <a:schemeClr val="dk2"/>
                </a:solidFill>
                <a:latin typeface="+mn-lt"/>
                <a:ea typeface="+mn-ea"/>
                <a:cs typeface="+mn-cs"/>
              </a:rPr>
              <a:t>14 / 14</a:t>
            </a:r>
          </a:p>
        </p:txBody>
      </p: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pawbench_agent_eval_v6">
  <a:themeElements>
    <a:clrScheme name="pawbench_agent_eval_v6">
      <a:dk1>
        <a:srgbClr val="1A1A2E"/>
      </a:dk1>
      <a:lt1>
        <a:srgbClr val="FFFFFF"/>
      </a:lt1>
      <a:dk2>
        <a:srgbClr val="64748B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10B981"/>
      </a:accent5>
      <a:accent6>
        <a:srgbClr val="EF4444"/>
      </a:accent6>
      <a:hlink>
        <a:srgbClr val="2563EB"/>
      </a:hlink>
      <a:folHlink>
        <a:srgbClr val="93C5FD"/>
      </a:folHlink>
    </a:clrScheme>
    <a:fontScheme name="pawbench_agent_eval_v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agent_eval_v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pawbench_agent_eval_v6">
  <a:themeElements>
    <a:clrScheme name="pawbench_agent_eval_v6">
      <a:dk1>
        <a:srgbClr val="1A1A2E"/>
      </a:dk1>
      <a:lt1>
        <a:srgbClr val="FFFFFF"/>
      </a:lt1>
      <a:dk2>
        <a:srgbClr val="64748B"/>
      </a:dk2>
      <a:lt2>
        <a:srgbClr val="F2F5FA"/>
      </a:lt2>
      <a:accent1>
        <a:srgbClr val="1E3A8A"/>
      </a:accent1>
      <a:accent2>
        <a:srgbClr val="2563EB"/>
      </a:accent2>
      <a:accent3>
        <a:srgbClr val="93C5FD"/>
      </a:accent3>
      <a:accent4>
        <a:srgbClr val="E2E8F0"/>
      </a:accent4>
      <a:accent5>
        <a:srgbClr val="10B981"/>
      </a:accent5>
      <a:accent6>
        <a:srgbClr val="EF4444"/>
      </a:accent6>
      <a:hlink>
        <a:srgbClr val="2563EB"/>
      </a:hlink>
      <a:folHlink>
        <a:srgbClr val="93C5FD"/>
      </a:folHlink>
    </a:clrScheme>
    <a:fontScheme name="pawbench_agent_eval_v6">
      <a:maj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Microsoft YaHei"/>
        <a:cs typeface="Arial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wbench_agent_eval_v6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14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/>
  <cp:lastModifiedBy/>
  <cp:revision>1</cp:revision>
  <dcterms:created xsi:type="dcterms:W3CDTF">2026-08-07T02:40:02Z</dcterms:created>
  <dcterms:modified xsi:type="dcterms:W3CDTF">2026-08-07T02:40:02Z</dcterms:modified>
  <cp:category/>
  <cp:contentStatus/>
</cp:coreProperties>
</file>