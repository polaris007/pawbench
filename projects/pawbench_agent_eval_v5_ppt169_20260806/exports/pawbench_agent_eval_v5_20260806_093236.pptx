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  <Relationship Id="rId2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01 封面 - 演讲备注</a:t>
            </a:r>
          </a:p>
          <a:p>
            <a:endParaRPr lang="en-US" dirty="0"/>
          </a:p>
          <a:p>
            <a:r>
              <a:rPr lang="zh-CN" dirty="0"/>
              <a:t>时长建议: 30 秒</a:t>
            </a:r>
          </a:p>
          <a:p>
            <a:endParaRPr lang="en-US" dirty="0"/>
          </a:p>
          <a:p>
            <a:r>
              <a:rPr lang="zh-CN" dirty="0"/>
              <a:t>开场话术:</a:t>
            </a:r>
          </a:p>
          <a:p>
            <a:r>
              <a:rPr lang="zh-CN" dirty="0"/>
              <a:t>各位好，今天介绍基于 PawBench 的 Agent 评测。一句话概括核心：Agent 表现 = f(Model, Harness) —— 我们用 Model × Harness × Task 三维交叉评测体系，把"模型好不好"和"部署后好不好用"分开回答。</a:t>
            </a:r>
          </a:p>
          <a:p>
            <a:endParaRPr lang="en-US" dirty="0"/>
          </a:p>
          <a:p>
            <a:r>
              <a:rPr lang="zh-CN" dirty="0"/>
              <a:t>关键点:</a:t>
            </a:r>
          </a:p>
          <a:p>
            <a:r>
              <a:rPr lang="zh-CN" dirty="0"/>
              <a:t>• 三维交叉评测：Model 决定能力上限，Harness 决定稳定落地，Task 决定任务场景</a:t>
            </a:r>
          </a:p>
          <a:p>
            <a:r>
              <a:rPr lang="zh-CN" dirty="0"/>
              <a:t>• 三者独立评测，才能定位真实瓶颈</a:t>
            </a:r>
          </a:p>
          <a:p>
            <a:r>
              <a:rPr lang="zh-CN" dirty="0"/>
              <a:t>• 150 道标准化任务、自动评分引擎、Docker 内网隔离、七维原子能力诊断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为什么需要这样一套评测体系？下一页看两个核心痛点。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02 为什么需要 Agent 评测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痛点一：升级效果无法量化。模型或 Agent 升级后，过去靠人工挑几个案例来"感觉"好坏，缺乏客观数据，形成不了技术决策依据。PawBench 用 150 道标准化任务 + 自动评分引擎，跑完即出分、版本间可横向对比。</a:t>
            </a:r>
          </a:p>
          <a:p>
            <a:r>
              <a:rPr lang="zh-CN" dirty="0"/>
              <a:t>• 痛点二：现有方案局限。通用 LLM 榜单不测工具调用与 Agent 行为；学术 Benchmark 依赖公网，无法内网部署。PawBench 开源 + Docker 沙箱隔离，数据不出网、零外部依赖。</a:t>
            </a:r>
          </a:p>
          <a:p>
            <a:r>
              <a:rPr lang="zh-CN" dirty="0"/>
              <a:t>• 收束：需要一个标准化、可复现、内网可用的方案 → PawBench 带来三大价值：量化升级效果、精准定位短板、内网安全运行。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先看看市面上主流方案长什么样，PawBench 和它们有什么区别。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03 主流 Agent 评测方案对比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横向对比 9 个主流方案：PawBench、WildClawBench、SkillsBench、PinchBench、AgentBench、GAIA、SWE-bench、DeepEval、Promptfoo。</a:t>
            </a:r>
          </a:p>
          <a:p>
            <a:r>
              <a:rPr lang="zh-CN" dirty="0"/>
              <a:t>• 关键维度：定位、评测对象、完整 Agent 覆盖、内网部署能力、扩展能力、资料生态。</a:t>
            </a:r>
          </a:p>
          <a:p>
            <a:r>
              <a:rPr lang="zh-CN" dirty="0"/>
              <a:t>• 观察：完整 Agent 评测和内网部署往往不可兼得 —— 学术 Benchmark（GAIA/AgentBench）依赖公网，纯评测框架（DeepEval/Promptfoo）不提供 Agent 任务体系。</a:t>
            </a:r>
          </a:p>
          <a:p>
            <a:r>
              <a:rPr lang="zh-CN" dirty="0"/>
              <a:t>• PawBench 在完整 Agent、内网部署、扩展能力三项同时满星。</a:t>
            </a:r>
          </a:p>
          <a:p>
            <a:r>
              <a:rPr lang="zh-CN" dirty="0"/>
              <a:t>• 评分说明：内网部署 = 内网可运行 + 公网依赖度的综合评价。</a:t>
            </a:r>
          </a:p>
          <a:p>
            <a:r>
              <a:rPr lang="zh-CN" dirty="0"/>
              <a:t>• 数据来源：各项目公开文档及 GitHub 仓库，截至 2025 年 7 月。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这个表比的是"谁来评"，下一页我们看"怎么评"—— 主流的评测方法论。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04 主流 Agent 评测方法论全景 - 演讲备注</a:t>
            </a:r>
          </a:p>
          <a:p>
            <a:endParaRPr lang="en-US" dirty="0"/>
          </a:p>
          <a:p>
            <a:r>
              <a:rPr lang="zh-CN" dirty="0"/>
              <a:t>时长建议: 120 秒（新增方法论页，重点讲解）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这一页梳理主流评测方法论六大范式，回答"怎么评"的问题。主流评测体系普遍是多种范式的混合实践。</a:t>
            </a:r>
          </a:p>
          <a:p>
            <a:r>
              <a:rPr lang="zh-CN" dirty="0"/>
              <a:t>• ① 最终状态评估：确定性后端 + 最终产物/状态比对。可复现、有标准答案，但构建确定性环境工程量大。代表：τ-bench、τ²-bench、AppWorld。</a:t>
            </a:r>
          </a:p>
          <a:p>
            <a:r>
              <a:rPr lang="zh-CN" dirty="0"/>
              <a:t>• ② 轨迹评估：黄金轨迹对齐，或用 LLM 评判轨迹质量。可定位失败步骤，但多路径正确性难以定义。代表：LangSmith、AgentEvals。</a:t>
            </a:r>
          </a:p>
          <a:p>
            <a:r>
              <a:rPr lang="zh-CN" dirty="0"/>
              <a:t>• ③ LLM-as-a-Judge：强模型 + Rubric 细则评分。可扩展、适合开放式任务，但需验证评判一致性。</a:t>
            </a:r>
          </a:p>
          <a:p>
            <a:r>
              <a:rPr lang="zh-CN" dirty="0"/>
              <a:t>• ④ 逐步评估：对每一步独立校验（工具选择、参数、输出）。错误定位精确，但忽略步骤间依赖。代表：Arize Phoenix、DeepEval。</a:t>
            </a:r>
          </a:p>
          <a:p>
            <a:r>
              <a:rPr lang="zh-CN" dirty="0"/>
              <a:t>• ⑤ pass@k 采样：k 次运行的成功率/全成功一致性。更诚实反映随机性，但成本随 k 上升。代表：Claw-Eval、CI 实践。</a:t>
            </a:r>
          </a:p>
          <a:p>
            <a:r>
              <a:rPr lang="zh-CN" dirty="0"/>
              <a:t>• ⑥ 沙箱环境模拟：Docker 隔离 + 离线快照可复现。真实性与可控性的折中，环境构建成本高。代表：GAIA、WebArena、OSWorld。</a:t>
            </a:r>
          </a:p>
          <a:p>
            <a:r>
              <a:rPr lang="zh-CN" dirty="0"/>
              <a:t>• 来源：ACL 2026《A Survey on Evaluation of LLM-based Agents》等公开文献与社区实践。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了解了主流范式，PawBench 的方法论站在哪里？下一页直接对比。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05 PawBench 方法论 × 主流范式对比 - 演讲备注</a:t>
            </a:r>
          </a:p>
          <a:p>
            <a:endParaRPr lang="en-US" dirty="0"/>
          </a:p>
          <a:p>
            <a:r>
              <a:rPr lang="zh-CN" dirty="0"/>
              <a:t>时长建议: 120 秒（新增方法论页，重点讲解）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核心结论先行：PawBench 与主流"同源混合、交叉创新"。</a:t>
            </a:r>
          </a:p>
          <a:p>
            <a:r>
              <a:rPr lang="zh-CN" dirty="0"/>
              <a:t>• 与主流一致（同源）：</a:t>
            </a:r>
          </a:p>
          <a:p>
            <a:r>
              <a:rPr lang="zh-CN" dirty="0"/>
              <a:t>• 确定性断言检查（automated 自动评分）= 最终状态评估 ①</a:t>
            </a:r>
          </a:p>
          <a:p>
            <a:r>
              <a:rPr lang="zh-CN" dirty="0"/>
              <a:t>• LLM 评判 + Rubric 评分细则 = LLM-as-a-Judge ③</a:t>
            </a:r>
          </a:p>
          <a:p>
            <a:r>
              <a:rPr lang="zh-CN" dirty="0"/>
              <a:t>• Docker 沙箱隔离、离线可复现 = 沙箱环境模拟 ⑥</a:t>
            </a:r>
          </a:p>
          <a:p>
            <a:r>
              <a:rPr lang="zh-CN" dirty="0"/>
              <a:t>• 额外：以 transcript + 产物双重输入评分，兼顾过程信息与最终结果。</a:t>
            </a:r>
          </a:p>
          <a:p>
            <a:r>
              <a:rPr lang="zh-CN" dirty="0"/>
              <a:t>• PawBench 独特（差异化）：</a:t>
            </a:r>
          </a:p>
          <a:p>
            <a:r>
              <a:rPr lang="zh-CN" dirty="0"/>
              <a:t>• Model × Harness × Task 交叉矩阵：主流评测把 Harness/Scaffold 当隐藏变量，PawBench 显式化为独立评测维度，9×3×150 交叉矩阵可定位真实瓶颈在模型还是框架。</a:t>
            </a:r>
          </a:p>
          <a:p>
            <a:r>
              <a:rPr lang="zh-CN" dirty="0"/>
              <a:t>• hybrid 混合惩罚机制：自动分 &lt; 0.75 时 LLM 分清零，防止跳过任务、空文件刷分。</a:t>
            </a:r>
          </a:p>
          <a:p>
            <a:r>
              <a:rPr lang="zh-CN" dirty="0"/>
              <a:t>• 评分对框架中立、刻意不做轨迹对齐：区别于轨迹评估 ②，只依赖 transcript 与 workspace_path，多路径达成同样产物皆可得分。</a:t>
            </a:r>
          </a:p>
          <a:p>
            <a:r>
              <a:rPr lang="zh-CN" dirty="0"/>
              <a:t>• 结论：混合主流范式 + 交叉矩阵设计，使 PawBench 在完整 Agent 评测维度上更全面。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方法论讲清楚了，回到 PawBench 本身的优势。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06 PawBench 的优势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四大核心优势：完整 Agent 评测（Model×Harness×Task 同时评估）、内网安全运行（Docker 数据不出网）、Model×Harness 交叉评测（行业首创解耦设计）、开源可扩展（OpenJudge 生态、Apache 2.0、AgentScope 维护）。</a:t>
            </a:r>
          </a:p>
          <a:p>
            <a:r>
              <a:rPr lang="zh-CN" dirty="0"/>
              <a:t>• 差异化：非纯 LLM 榜单（区别于 GAIA/AgentBench/PinchBench 等依赖公网的方案）、非纯 Skill 评测（覆盖 7 大原子能力含完整流程）。</a:t>
            </a:r>
          </a:p>
          <a:p>
            <a:r>
              <a:rPr lang="zh-CN" dirty="0"/>
              <a:t>• 结论条：唯一在「完整 Agent」「内网部署」「可扩展」三项同时 ★★★★★ 的方案。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PawBench 具体怎么设计评测？下一页看能力与评测设计。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07 PawBench 能力与评测设计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核心设计理念：Agent 表现 = f(Model, Harness)。Model 决定能力上限，Harness 决定稳定落地，两者独立评测才能发现真实瓶颈。</a:t>
            </a:r>
          </a:p>
          <a:p>
            <a:r>
              <a:rPr lang="zh-CN" dirty="0"/>
              <a:t>• 三步评测流程：① 选择模型与 Harness 组合 → ② Docker 沙箱隔离运行（严格超时与重试，确保可复现）→ ③ 自动 + LLM 双重评分。</a:t>
            </a:r>
          </a:p>
          <a:p>
            <a:r>
              <a:rPr lang="zh-CN" dirty="0"/>
              <a:t>• 七种原子能力诊断：Tool_Use（工具调用与编排）、Skill_Use（Skill 发现与执行）、Code_Manipulation（代码操作与修复）、Logic_Reasoning（逻辑推理）、Planning（多步任务规划）、Math_Computation（数学计算）、Self_Verification（自我验证与纠错）。</a:t>
            </a:r>
          </a:p>
          <a:p>
            <a:r>
              <a:rPr lang="zh-CN" dirty="0"/>
              <a:t>• 评分模式：automated（确定性断言检查）、llm_judge（语义评估）、hybrid（混合）。</a:t>
            </a:r>
          </a:p>
          <a:p>
            <a:r>
              <a:rPr lang="zh-CN" dirty="0"/>
              <a:t>• 覆盖场景：办公协同、软件工程、数据分析、信息检索、自动化脚本；任务复杂度 L1/L2/L3。</a:t>
            </a:r>
          </a:p>
          <a:p>
            <a:r>
              <a:rPr lang="zh-CN" dirty="0"/>
              <a:t>• 规模：9 模型 × 3 Harness × 150 任务 = 4,050 个评测单元。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设计落地后的官方评测结果，下一页看评分矩阵。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08 官方评测结果 - 演讲备注</a:t>
            </a:r>
          </a:p>
          <a:p>
            <a:endParaRPr lang="en-US" dirty="0"/>
          </a:p>
          <a:p>
            <a:r>
              <a:rPr lang="zh-CN" dirty="0"/>
              <a:t>时长建议: 45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全景 150 个任务（文本 + 多模态），9 模型 × 3 Harness，Overall 综合得分矩阵。</a:t>
            </a:r>
          </a:p>
          <a:p>
            <a:r>
              <a:rPr lang="zh-CN" dirty="0"/>
              <a:t>• 单元格颜色深浅代表分数高低，跨 harness 加权平均分。</a:t>
            </a:r>
          </a:p>
          <a:p>
            <a:r>
              <a:rPr lang="zh-CN" dirty="0"/>
              <a:t>• 强调：同一模型在不同 Harness 下得分差异，正是"交叉评测定位瓶颈"的证据。</a:t>
            </a:r>
          </a:p>
          <a:p>
            <a:r>
              <a:rPr lang="zh-CN" dirty="0"/>
              <a:t>• 数据来源：PawBench OpenJudge 评测引擎，截至 2025 年 7 月。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这些分数背后是任务体系支撑的，下一页看 150 道任务怎么组织。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09 评测任务体系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150 道任务来自 6 个源数据集：自建 21、claweval 52、qwenclawbench 29、pinchbench 23、skillsbench 15、wildclawbench 10。</a:t>
            </a:r>
          </a:p>
          <a:p>
            <a:r>
              <a:rPr lang="zh-CN" dirty="0"/>
              <a:t>• 五维标签体系：场景 scenario、能力 capabilities（Logic/Math/Code/Tool/Skill/Plan/Verify 七类）、复杂度 complexity（L1 1-2 步 / L2 3-5 步 / L3 5+ 含分支）、输入模态 modality（text / multimodal）、运行环境 environment（closed 离线复现 / open 需联公网）。</a:t>
            </a:r>
          </a:p>
          <a:p>
            <a:r>
              <a:rPr lang="zh-CN" dirty="0"/>
              <a:t>• 五维标签如何赋能：按场景分类对比（排除噪声）、按能力定向诊断（精准定位短板）、按复杂度分层评估（识别多步推理退化点）。</a:t>
            </a:r>
          </a:p>
          <a:p>
            <a:r>
              <a:rPr lang="zh-CN" dirty="0"/>
              <a:t>• 每道任务 5 维标签可任意组合筛选，灵活构建定制化评测维度。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抽象体系之外，看一个具体任务怎么跑完整个链路。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10 任务执行与评分实战 T053 -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任务 T053：来源 pinchbench，类型内容创作·写作，复杂度 L1，环境 closed，评分 hybrid（自动 0.6 + LLM 0.4）。指令：撰写约 500 词博客并保存为 blog_post.md。</a:t>
            </a:r>
          </a:p>
          <a:p>
            <a:r>
              <a:rPr lang="zh-CN" dirty="0"/>
              <a:t>• ① 沙箱执行：Agent 在 Docker 容器中隔离运行，无外部依赖、可离线复现、超时 300s。</a:t>
            </a:r>
          </a:p>
          <a:p>
            <a:r>
              <a:rPr lang="zh-CN" dirty="0"/>
              <a:t>• ② 结果采集：harness 把 OpenClaw session 归一化为 transcript 事件流（message/toolCall/toolResult），新生成文件内容注入 transcript，产物落盘 workspace_path。</a:t>
            </a:r>
          </a:p>
          <a:p>
            <a:r>
              <a:rPr lang="zh-CN" dirty="0"/>
              <a:t>• ③ 双重评分：自动检查（文件存在、词数 450-550 区间打分、标题+段落结构、关键词命中）+ LLM 评判（质量/结构/写作/词数/完成度 Rubric）。</a:t>
            </a:r>
          </a:p>
          <a:p>
            <a:r>
              <a:rPr lang="zh-CN" dirty="0"/>
              <a:t>• ④ 汇总得分：score = 0.6×自动分 + 0.4×LLM 分；混合惩罚机制：自动分 &lt; 0.75 时 LLM 分清零，防止跳过任务/空文件刷分（API 真实失败时豁免）。</a:t>
            </a:r>
          </a:p>
          <a:p>
            <a:r>
              <a:rPr lang="zh-CN" dirty="0"/>
              <a:t>• 强调：一张任务卡 = Prompt + Expected Behavior + 自动检查 + LLM 评分细则；评分仅依赖 transcript 与 workspace_path，对 Agent 框架保持中立。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T053 是内容创作，那日常办公任务呢？下一页看映射关系。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11 任务 ↔ 日常工作能力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日常 7 类使用场景中，6 类在 PawBench 都有强匹配任务，走完全相同的「执行→采集→评分→汇总」链路。</a:t>
            </a:r>
          </a:p>
          <a:p>
            <a:r>
              <a:rPr lang="zh-CN" dirty="0"/>
              <a:t>• 表格逐行简述：邮件处理（T016 混合评分）、通讯录/CRM（T026/027）、内部新闻/资讯（T025 RSS 筛选摘要）、Excel/表格（T140 修复 xlsx 缺值）、文档 PDF（T055/T058 纯 LLM 评判）、代码处理（T064 Playwright E2E）、Skill 创建/使用（T076-T094、SkillsBench T126-T140）。</a:t>
            </a:r>
          </a:p>
          <a:p>
            <a:r>
              <a:rPr lang="zh-CN" dirty="0"/>
              <a:t>• 强调：这些任务均为 hybrid 评分（自动检查 + LLM 评判），与日常使用 OpenClaw 处理邮件/表格/文档/代码/Skill 的能力高度对应，评测结果可直接指导工作流选型。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这样的体系在企业里怎么落地？下一页看应用场景与集成。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12 应用场景与集成方式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典型应用场景：模型升级评估（固定 Harness 横跑新旧模型）、Agent 框架迭代（固定模型横跑不同 Harness 版本）、自定义 Skill 验证、回归测试流水线（CI 自动触发）。</a:t>
            </a:r>
          </a:p>
          <a:p>
            <a:r>
              <a:rPr lang="zh-CN" dirty="0"/>
              <a:t>• 集成方式：环境部署（Docker 一键、配置 API 密钥即可跑通 150 道任务）、内网适配（公网任务改造离线、自定义扩展）、持续迭代（嵌入开发流程自动评测）。</a:t>
            </a:r>
          </a:p>
          <a:p>
            <a:r>
              <a:rPr lang="zh-CN" dirty="0"/>
              <a:t>• 企业需求适配表：内网私有化部署 ✓、评测完整 Agent 系统 ✓、自定义任务扩展 ✓、Skill 能力评估 ✓、量化回归 ✓。</a:t>
            </a:r>
          </a:p>
          <a:p>
            <a:r>
              <a:rPr lang="zh-CN" dirty="0"/>
              <a:t>• 技术特点：OpenAI 兼容 API、纯 Python 无专有依赖、Task/Judge/Runner 解耦可独立定制替换。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最后总结今天的核心信息。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13 总结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三大支柱收束：</a:t>
            </a:r>
          </a:p>
          <a:p>
            <a:r>
              <a:rPr lang="zh-CN" dirty="0"/>
              <a:t>• 01 交叉评测矩阵：同时评估 Model、Harness、Task，回答的不只是"模型好不好"，更是"部署后的 Agent 好不好用"。9×3×150 = 4,050 评测单元。</a:t>
            </a:r>
          </a:p>
          <a:p>
            <a:r>
              <a:rPr lang="zh-CN" dirty="0"/>
              <a:t>• 02 灵活可扩展：Task/Judge/Runner 解耦，可自定义任务与评分规则，五维标签支持精细化切片分析。AgentScope 团队出品、Apache 2.0。</a:t>
            </a:r>
          </a:p>
          <a:p>
            <a:r>
              <a:rPr lang="zh-CN" dirty="0"/>
              <a:t>• 03 内网安全就绪：Docker 沙箱隔离、数据不出网，可集成 CI/CD 自动回归，支持 OpenAI 兼容 API。</a:t>
            </a:r>
          </a:p>
          <a:p>
            <a:r>
              <a:rPr lang="zh-CN" dirty="0"/>
              <a:t>• 结语：Agent 评测正处于关键转折期 —— 从手工挑选个别案例做主观判断，转向标准化、自动化、多维度量化评测，是 Agent 从实验走向生产的前提；完整评测体系需同时覆盖模型能力、任务框架和运行环境三个独立变量。</a:t>
            </a:r>
          </a:p>
          <a:p>
            <a:endParaRPr lang="en-US" dirty="0"/>
          </a:p>
          <a:p>
            <a:r>
              <a:rPr lang="zh-CN" dirty="0"/>
              <a:t>收尾话术:</a:t>
            </a:r>
          </a:p>
          <a:p>
            <a:r>
              <a:rPr lang="zh-CN" dirty="0"/>
              <a:t>谢谢大家，欢迎会后交流或直接部署试用。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awbench_agent_eval_v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awbench_agent_eval_v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5203fd347b76ba4.jp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62000" y="1428750"/>
            <a:ext cx="9713608" cy="2118551"/>
            <a:chOff x="762000" y="1428750"/>
            <a:chExt cx="9713608" cy="2118551"/>
          </a:xfrm>
        </p:grpSpPr>
        <p:sp>
          <p:nvSpPr>
            <p:cNvPr id="2" name="Rectangle 2"/>
            <p:cNvSpPr/>
            <p:nvPr/>
          </p:nvSpPr>
          <p:spPr>
            <a:xfrm>
              <a:off x="762000" y="1428750"/>
              <a:ext cx="57150" cy="114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33856" y="1520190"/>
              <a:ext cx="3317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PawBench · Agent 评测平台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23950" y="1910715"/>
              <a:ext cx="935165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基于 PawBench 的 Agent 评测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0808" y="2788920"/>
              <a:ext cx="59669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三维交叉评测 · Model × Harness × Task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142" y="3283268"/>
              <a:ext cx="540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Agent 表现 = f(Model, Harness) — 三者独立评测，定位真实瓶颈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33856" y="4286250"/>
            <a:ext cx="10245242" cy="633984"/>
            <a:chOff x="1133856" y="4286250"/>
            <a:chExt cx="10245242" cy="633984"/>
          </a:xfrm>
        </p:grpSpPr>
        <p:sp>
          <p:nvSpPr>
            <p:cNvPr id="8" name="Rectangle 8"/>
            <p:cNvSpPr/>
            <p:nvPr/>
          </p:nvSpPr>
          <p:spPr>
            <a:xfrm>
              <a:off x="1143000" y="4286250"/>
              <a:ext cx="9906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3856" y="4568190"/>
              <a:ext cx="20410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150 道标准化任务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91356" y="4568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自动评分引擎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58356" y="4568190"/>
              <a:ext cx="19702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Docker 内网隔离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25356" y="45681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七维原子能力诊断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36142" y="6140768"/>
            <a:ext cx="34047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阿里通义实验室 AgentScope 团队 · 2025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4692570" cy="657035"/>
            <a:chOff x="745998" y="571500"/>
            <a:chExt cx="4692570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469257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为什么需要 Agent 评测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333500"/>
            <a:ext cx="7731798" cy="1524000"/>
            <a:chOff x="762000" y="1333500"/>
            <a:chExt cx="7731798" cy="1524000"/>
          </a:xfrm>
        </p:grpSpPr>
        <p:sp>
          <p:nvSpPr>
            <p:cNvPr id="8" name="Rectangle 8"/>
            <p:cNvSpPr/>
            <p:nvPr/>
          </p:nvSpPr>
          <p:spPr>
            <a:xfrm>
              <a:off x="762000" y="1333500"/>
              <a:ext cx="590550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333500"/>
              <a:ext cx="38100" cy="152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8606" y="1472565"/>
              <a:ext cx="31096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痛点一 · 升级效果无法量化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0892" y="1902142"/>
              <a:ext cx="4829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 / Agent 升级后效果好坏，依赖人工挑选少量案例判定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892" y="214026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缺乏客观数据支撑，无法形成可靠的技术决策依据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47750" y="24955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55192" y="2473642"/>
              <a:ext cx="73386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 PawBench 解法：150 道标准化任务 + 自动评分引擎，版本间可横向对比，数据说话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0" y="1333500"/>
            <a:ext cx="4762500" cy="1524000"/>
            <a:chOff x="6858000" y="1333500"/>
            <a:chExt cx="4762500" cy="1524000"/>
          </a:xfrm>
        </p:grpSpPr>
        <p:sp>
          <p:nvSpPr>
            <p:cNvPr id="16" name="Rectangle 16"/>
            <p:cNvSpPr/>
            <p:nvPr/>
          </p:nvSpPr>
          <p:spPr>
            <a:xfrm>
              <a:off x="6858000" y="1333500"/>
              <a:ext cx="476250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58000" y="1333500"/>
              <a:ext cx="38100" cy="152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34606" y="1472565"/>
              <a:ext cx="2600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痛点二 · 现有方案局限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6892" y="1902142"/>
              <a:ext cx="3713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通用 LLM 榜单不评估工具调用与 Agent 行为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36892" y="2140268"/>
              <a:ext cx="4174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学术 Benchmark 依赖公网服务，无法满足内网部署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143750" y="24955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51192" y="2473642"/>
              <a:ext cx="3403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 开源 + Docker 沙箱隔离，数据不出网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3143250"/>
            <a:ext cx="10858500" cy="533400"/>
            <a:chOff x="762000" y="3143250"/>
            <a:chExt cx="10858500" cy="533400"/>
          </a:xfrm>
        </p:grpSpPr>
        <p:sp>
          <p:nvSpPr>
            <p:cNvPr id="24" name="Rectangle 24"/>
            <p:cNvSpPr/>
            <p:nvPr/>
          </p:nvSpPr>
          <p:spPr>
            <a:xfrm>
              <a:off x="762000" y="3143250"/>
              <a:ext cx="10858500" cy="5334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38606" y="3291840"/>
              <a:ext cx="7776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需要一个标准化、可复现、内网可用的 Agent 评测方案 — PawBench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4000500"/>
            <a:ext cx="3467100" cy="1238250"/>
            <a:chOff x="762000" y="4000500"/>
            <a:chExt cx="3467100" cy="1238250"/>
          </a:xfrm>
        </p:grpSpPr>
        <p:sp>
          <p:nvSpPr>
            <p:cNvPr id="27" name="Rectangle 27"/>
            <p:cNvSpPr/>
            <p:nvPr/>
          </p:nvSpPr>
          <p:spPr>
            <a:xfrm>
              <a:off x="762000" y="4000500"/>
              <a:ext cx="3467100" cy="1238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2000" y="400050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38606" y="4139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量化升级效果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0892" y="4521518"/>
              <a:ext cx="2882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每次 Agent / LLM 升级后跑一遍，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0892" y="47596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数据说话，支持横向对比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457700" y="4000500"/>
            <a:ext cx="3467100" cy="1238250"/>
            <a:chOff x="4457700" y="4000500"/>
            <a:chExt cx="3467100" cy="1238250"/>
          </a:xfrm>
        </p:grpSpPr>
        <p:sp>
          <p:nvSpPr>
            <p:cNvPr id="33" name="Rectangle 33"/>
            <p:cNvSpPr/>
            <p:nvPr/>
          </p:nvSpPr>
          <p:spPr>
            <a:xfrm>
              <a:off x="4457700" y="4000500"/>
              <a:ext cx="3467100" cy="1238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457700" y="400050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34306" y="4139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精准定位短板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36592" y="45215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切片分析可定位具体能力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36592" y="47596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和场景的退化点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53400" y="4000500"/>
            <a:ext cx="3467100" cy="1238250"/>
            <a:chOff x="8153400" y="4000500"/>
            <a:chExt cx="3467100" cy="1238250"/>
          </a:xfrm>
        </p:grpSpPr>
        <p:sp>
          <p:nvSpPr>
            <p:cNvPr id="39" name="Rectangle 39"/>
            <p:cNvSpPr/>
            <p:nvPr/>
          </p:nvSpPr>
          <p:spPr>
            <a:xfrm>
              <a:off x="8153400" y="4000500"/>
              <a:ext cx="3467100" cy="1238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153400" y="400050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30006" y="4139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内网安全运行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32292" y="4521518"/>
              <a:ext cx="1958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隔离，任务数据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32292" y="47596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可改造为离线运行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02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5142867" cy="657035"/>
            <a:chOff x="745998" y="571500"/>
            <a:chExt cx="5142867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51428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主流 Agent 评测方案对比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762000" y="1219200"/>
            <a:ext cx="10668000" cy="4305300"/>
            <a:chOff x="762000" y="1219200"/>
            <a:chExt cx="10668000" cy="4305300"/>
          </a:xfrm>
        </p:grpSpPr>
        <p:sp>
          <p:nvSpPr>
            <p:cNvPr id="8" name="Rectangle 8"/>
            <p:cNvSpPr/>
            <p:nvPr/>
          </p:nvSpPr>
          <p:spPr>
            <a:xfrm>
              <a:off x="762000" y="1219200"/>
              <a:ext cx="10668000" cy="361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60704" y="13277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84704" y="13277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897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评测对象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04204" y="1327785"/>
              <a:ext cx="827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完整Agent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77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内网部署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712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扩展能力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0142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资料生态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15811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59942" y="1711642"/>
              <a:ext cx="903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PawBench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84704" y="1727835"/>
              <a:ext cx="1163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评测平台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89704" y="1727835"/>
              <a:ext cx="1816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 + Harness + Task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04204" y="1727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37704" y="1727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71204" y="1727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14204" y="1727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20193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9942" y="2149792"/>
              <a:ext cx="1328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WildClawBench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84704" y="2165985"/>
              <a:ext cx="1163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交互评测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89704" y="2165985"/>
              <a:ext cx="1081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System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04204" y="21659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37704" y="2165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71204" y="2165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14204" y="21659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" y="24574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59942" y="2587942"/>
              <a:ext cx="1035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SkillsBench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584704" y="2604135"/>
              <a:ext cx="714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评测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89704" y="2604135"/>
              <a:ext cx="837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Skill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04204" y="2604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37704" y="26041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71204" y="2604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14204" y="2604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2000" y="28956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59942" y="3026092"/>
              <a:ext cx="1026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PinchBench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584704" y="3042285"/>
              <a:ext cx="12783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多模态Agent评测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89704" y="3042285"/>
              <a:ext cx="1485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+ Multimodal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04204" y="30422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37704" y="30422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71204" y="30422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014204" y="30422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62000" y="33337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59942" y="3464242"/>
              <a:ext cx="1075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AgentBench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584704" y="3480435"/>
              <a:ext cx="13475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Benchmark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489704" y="3480435"/>
              <a:ext cx="1081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System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04204" y="34804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37704" y="34804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71204" y="34804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014204" y="34804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62000" y="37719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59942" y="3902392"/>
              <a:ext cx="406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GAIA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584704" y="3918585"/>
              <a:ext cx="840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通用AI评测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489704" y="3918585"/>
              <a:ext cx="967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+ Agent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04204" y="39185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37704" y="3918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71204" y="3918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14204" y="39185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62000" y="42100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59942" y="4340542"/>
              <a:ext cx="10173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SWE-bench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584704" y="43567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代码修复评测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489704" y="4356735"/>
              <a:ext cx="1007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Coding Agent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04204" y="43567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37704" y="43567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871204" y="43567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014204" y="43567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62000" y="46482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59942" y="4778692"/>
              <a:ext cx="816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DeepEval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584704" y="47948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评测框架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489704" y="4794885"/>
              <a:ext cx="14431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/ RAG / Agent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204204" y="47948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537704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871204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014204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62000" y="50863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059942" y="5216842"/>
              <a:ext cx="100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Promptfoo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584704" y="5233035"/>
              <a:ext cx="957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 评测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489704" y="5233035"/>
              <a:ext cx="1211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 + Model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204204" y="52330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537704" y="52330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871204" y="52330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014204" y="52330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762000" y="5753100"/>
            <a:ext cx="10668000" cy="495300"/>
            <a:chOff x="762000" y="5753100"/>
            <a:chExt cx="10668000" cy="495300"/>
          </a:xfrm>
        </p:grpSpPr>
        <p:sp>
          <p:nvSpPr>
            <p:cNvPr id="89" name="Rectangle 89"/>
            <p:cNvSpPr/>
            <p:nvPr/>
          </p:nvSpPr>
          <p:spPr>
            <a:xfrm>
              <a:off x="762000" y="5753100"/>
              <a:ext cx="10668000" cy="4953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059942" y="5931218"/>
              <a:ext cx="9087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评分说明：★★★★★ 优 · ★★★★ 良 · ★★★ 中 · ★★ 弱 ｜ 内网部署 = 内网可运行 + 公网依赖度综合</a:t>
              </a:r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03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5593163" cy="657035"/>
            <a:chOff x="745998" y="571500"/>
            <a:chExt cx="5593163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559316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主流 Agent 评测方法论全景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7251421" cy="352044"/>
            <a:chOff x="752856" y="1139190"/>
            <a:chExt cx="7251421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72514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六大范式回答「怎么评」— 主流评测体系普遍是多种范式的混合实践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619250"/>
            <a:ext cx="3467100" cy="2057400"/>
            <a:chOff x="762000" y="1619250"/>
            <a:chExt cx="3467100" cy="20574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最终状态评估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892" y="214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确定性后端 + 最终产物 / 状态比对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2406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可复现、有标准答案；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但构建确定性环境工程量大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477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5192" y="3054668"/>
              <a:ext cx="2873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τ-bench / τ²-bench / AppWorld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457700" y="1619250"/>
            <a:ext cx="3467100" cy="2057400"/>
            <a:chOff x="4457700" y="1619250"/>
            <a:chExt cx="3467100" cy="2057400"/>
          </a:xfrm>
        </p:grpSpPr>
        <p:sp>
          <p:nvSpPr>
            <p:cNvPr id="19" name="Rectangle 19"/>
            <p:cNvSpPr/>
            <p:nvPr/>
          </p:nvSpPr>
          <p:spPr>
            <a:xfrm>
              <a:off x="44577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577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34306" y="1758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轨迹评估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36592" y="2140268"/>
              <a:ext cx="3038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黄金轨迹对齐 或 LLM 评判轨迹质量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36592" y="24069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可定位失败步骤；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36592" y="2635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多路径正确性难以定义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7434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50892" y="3054668"/>
              <a:ext cx="2195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LangSmith / AgentEvals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153400" y="1619250"/>
            <a:ext cx="3467100" cy="2057400"/>
            <a:chOff x="8153400" y="1619250"/>
            <a:chExt cx="3467100" cy="2057400"/>
          </a:xfrm>
        </p:grpSpPr>
        <p:sp>
          <p:nvSpPr>
            <p:cNvPr id="28" name="Rectangle 28"/>
            <p:cNvSpPr/>
            <p:nvPr/>
          </p:nvSpPr>
          <p:spPr>
            <a:xfrm>
              <a:off x="81534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534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30006" y="1758315"/>
              <a:ext cx="2290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LLM-as-a-Judge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2292" y="2140268"/>
              <a:ext cx="21234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强模型 + Rubric 细则评分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2292" y="24069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可扩展、适合开放式任务；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32292" y="26355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需验证评判一致性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4391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46592" y="30546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通用开放任务评测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62000" y="3905250"/>
            <a:ext cx="3981869" cy="2057400"/>
            <a:chOff x="762000" y="3905250"/>
            <a:chExt cx="3981869" cy="2057400"/>
          </a:xfrm>
        </p:grpSpPr>
        <p:sp>
          <p:nvSpPr>
            <p:cNvPr id="37" name="Rectangle 37"/>
            <p:cNvSpPr/>
            <p:nvPr/>
          </p:nvSpPr>
          <p:spPr>
            <a:xfrm>
              <a:off x="7620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20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8606" y="4044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逐步评估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0892" y="4426268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对每一步独立校验（工具选择 / 参数 / 输出）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0892" y="4692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错误定位精确；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08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忽略步骤间依赖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477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55192" y="5340668"/>
              <a:ext cx="2271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Arize Phoenix / DeepEval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457700" y="3905250"/>
            <a:ext cx="3467100" cy="2057400"/>
            <a:chOff x="4457700" y="3905250"/>
            <a:chExt cx="3467100" cy="2057400"/>
          </a:xfrm>
        </p:grpSpPr>
        <p:sp>
          <p:nvSpPr>
            <p:cNvPr id="46" name="Rectangle 46"/>
            <p:cNvSpPr/>
            <p:nvPr/>
          </p:nvSpPr>
          <p:spPr>
            <a:xfrm>
              <a:off x="44577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4577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34306" y="4044315"/>
              <a:ext cx="16593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⑤ pass@k 采样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36592" y="44262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次运行的成功率 / 全成功一致性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36592" y="4692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更诚实反映随机性；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36592" y="492156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评测成本随 k 上升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7434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850892" y="5340668"/>
              <a:ext cx="1760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Claw-Eval / CI 实践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153400" y="3905250"/>
            <a:ext cx="3467100" cy="2057400"/>
            <a:chOff x="8153400" y="3905250"/>
            <a:chExt cx="3467100" cy="2057400"/>
          </a:xfrm>
        </p:grpSpPr>
        <p:sp>
          <p:nvSpPr>
            <p:cNvPr id="55" name="Rectangle 55"/>
            <p:cNvSpPr/>
            <p:nvPr/>
          </p:nvSpPr>
          <p:spPr>
            <a:xfrm>
              <a:off x="81534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1534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30006" y="4044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⑥ 沙箱环境模拟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32292" y="4426268"/>
              <a:ext cx="25361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 隔离 + 离线快照可复现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32292" y="46929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真实性与可控性的折中；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322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环境构建成本高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4391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546592" y="5340668"/>
              <a:ext cx="25315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GAIA / WebArena / OSWorld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64" name="TextBox 64"/>
            <p:cNvSpPr txBox="1"/>
            <p:nvPr/>
          </p:nvSpPr>
          <p:spPr>
            <a:xfrm>
              <a:off x="755904" y="6442710"/>
              <a:ext cx="66439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来源：ACL 2026《A Survey on Evaluation of LLM-based Agents》等公开文献与社区实践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04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6827928" cy="657035"/>
            <a:chOff x="745998" y="571500"/>
            <a:chExt cx="6827928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68279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方法论 × 主流范式对比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9786652" cy="352044"/>
            <a:chOff x="752856" y="1139190"/>
            <a:chExt cx="9786652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7866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PawBench 与主流「同源混合、交叉创新」— 混合采用主流范式，并以交叉矩阵走出差异化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1619250"/>
            <a:ext cx="5334000" cy="4000500"/>
            <a:chOff x="762000" y="1619250"/>
            <a:chExt cx="53340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4000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与主流一致 · 同源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047750" y="2190750"/>
              <a:ext cx="4762500" cy="704850"/>
              <a:chOff x="1047750" y="2190750"/>
              <a:chExt cx="4762500" cy="7048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47750" y="21907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31392" y="2330768"/>
                <a:ext cx="35344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确定性断言检查（automated 自动评分）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1392" y="25974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最终状态评估 ①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047750" y="3048000"/>
              <a:ext cx="4762500" cy="704850"/>
              <a:chOff x="1047750" y="3048000"/>
              <a:chExt cx="4762500" cy="7048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1047750" y="304800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31392" y="3188018"/>
                <a:ext cx="24883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LLM 评判 + Rubric 评分细则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1392" y="3454718"/>
                <a:ext cx="17943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LLM-as-a-Judge ③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47750" y="3905250"/>
              <a:ext cx="4762500" cy="704850"/>
              <a:chOff x="1047750" y="3905250"/>
              <a:chExt cx="4762500" cy="7048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1047750" y="39052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31392" y="4045268"/>
                <a:ext cx="263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Docker 沙箱隔离、离线可复现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1392" y="43119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沙箱环境模拟 ⑥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997768"/>
              <a:ext cx="3412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此外以 transcript + 产物双重输入评分，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0892" y="52454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兼顾过程信息与最终结果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86500" y="1619250"/>
            <a:ext cx="5334000" cy="4000500"/>
            <a:chOff x="6286500" y="1619250"/>
            <a:chExt cx="5334000" cy="4000500"/>
          </a:xfrm>
        </p:grpSpPr>
        <p:sp>
          <p:nvSpPr>
            <p:cNvPr id="28" name="Rectangle 28"/>
            <p:cNvSpPr/>
            <p:nvPr/>
          </p:nvSpPr>
          <p:spPr>
            <a:xfrm>
              <a:off x="62865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86500" y="1619250"/>
              <a:ext cx="38100" cy="400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106" y="1758315"/>
              <a:ext cx="2869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PawBench 独特 · 差异化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6572250" y="2190750"/>
              <a:ext cx="4762500" cy="990600"/>
              <a:chOff x="6572250" y="2190750"/>
              <a:chExt cx="4762500" cy="9906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572250" y="2190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755892" y="2311718"/>
                <a:ext cx="29739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Model × Harness × Task 交叉矩阵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755892" y="2559368"/>
                <a:ext cx="33312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主流把 Harness 当隐藏变量，PawBench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55892" y="2787968"/>
                <a:ext cx="31032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显式化为独立评测维度，定位真实瓶颈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572250" y="3333750"/>
              <a:ext cx="4762500" cy="990600"/>
              <a:chOff x="6572250" y="3333750"/>
              <a:chExt cx="4762500" cy="9906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572250" y="3333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755892" y="3454718"/>
                <a:ext cx="17979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hybrid 混合惩罚机制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755892" y="3702368"/>
                <a:ext cx="27212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自动分 &lt; 0.75 时 LLM 分清零，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755892" y="3930968"/>
                <a:ext cx="22218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防止跳过任务 / 空文件刷分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72250" y="4476750"/>
              <a:ext cx="4762500" cy="990600"/>
              <a:chOff x="6572250" y="4476750"/>
              <a:chExt cx="4762500" cy="9906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572250" y="4476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755892" y="4597718"/>
                <a:ext cx="26852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评分对框架中立，不做轨迹对齐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755892" y="4845368"/>
                <a:ext cx="35394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刻意区别于轨迹评估 ②：只依赖 transcript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755892" y="5073968"/>
                <a:ext cx="35030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与 workspace_path，多路径正确皆可得分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762000" y="5867400"/>
            <a:ext cx="10858500" cy="495300"/>
            <a:chOff x="762000" y="5867400"/>
            <a:chExt cx="10858500" cy="495300"/>
          </a:xfrm>
        </p:grpSpPr>
        <p:sp>
          <p:nvSpPr>
            <p:cNvPr id="47" name="Rectangle 47"/>
            <p:cNvSpPr/>
            <p:nvPr/>
          </p:nvSpPr>
          <p:spPr>
            <a:xfrm>
              <a:off x="762000" y="5867400"/>
              <a:ext cx="10858500" cy="4953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38606" y="5996940"/>
              <a:ext cx="97356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结论：混合主流范式 + 交叉矩阵设计，使 PawBench 在完整 Agent 评测维度上更全面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05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3599300" cy="657035"/>
            <a:chOff x="745998" y="571500"/>
            <a:chExt cx="3599300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35993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的优势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5813938" cy="352044"/>
            <a:chOff x="752856" y="1139190"/>
            <a:chExt cx="5813938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58139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综合 9 个主流方案对比 + 企业级 Agent 评测落地需求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619250"/>
            <a:ext cx="3467100" cy="1714500"/>
            <a:chOff x="762000" y="1619250"/>
            <a:chExt cx="3467100" cy="1714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5558" y="1645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4856" y="1758315"/>
              <a:ext cx="1909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 Agent 评测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2235518"/>
              <a:ext cx="3016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同时评估 Model × Harness × Task，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4831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独立衡量模型能力与工程稳定性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0892" y="2807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核心优势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457700" y="1619250"/>
            <a:ext cx="3467100" cy="1714500"/>
            <a:chOff x="4457700" y="1619250"/>
            <a:chExt cx="3467100" cy="1714500"/>
          </a:xfrm>
        </p:grpSpPr>
        <p:sp>
          <p:nvSpPr>
            <p:cNvPr id="18" name="Rectangle 18"/>
            <p:cNvSpPr/>
            <p:nvPr/>
          </p:nvSpPr>
          <p:spPr>
            <a:xfrm>
              <a:off x="4457700" y="16192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57700" y="16192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31258" y="1645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10556" y="17583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内网安全运行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36592" y="2235518"/>
              <a:ext cx="2692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沙箱隔离，数据不出网，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36592" y="2483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零外部依赖、安全可控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36592" y="2807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核心优势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53400" y="1619250"/>
            <a:ext cx="3853129" cy="1714500"/>
            <a:chOff x="8153400" y="1619250"/>
            <a:chExt cx="3853129" cy="1714500"/>
          </a:xfrm>
        </p:grpSpPr>
        <p:sp>
          <p:nvSpPr>
            <p:cNvPr id="26" name="Rectangle 26"/>
            <p:cNvSpPr/>
            <p:nvPr/>
          </p:nvSpPr>
          <p:spPr>
            <a:xfrm>
              <a:off x="8153400" y="16192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153400" y="16192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26958" y="1645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06256" y="1758315"/>
              <a:ext cx="31002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 × Harness 交叉评测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32292" y="2235518"/>
              <a:ext cx="31874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行业首创 Model × Harness 解耦设计，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2292" y="24831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定位真实瓶颈来源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2292" y="2807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核心优势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3562350"/>
            <a:ext cx="3592636" cy="1714500"/>
            <a:chOff x="762000" y="3562350"/>
            <a:chExt cx="3592636" cy="1714500"/>
          </a:xfrm>
        </p:grpSpPr>
        <p:sp>
          <p:nvSpPr>
            <p:cNvPr id="34" name="Rectangle 34"/>
            <p:cNvSpPr/>
            <p:nvPr/>
          </p:nvSpPr>
          <p:spPr>
            <a:xfrm>
              <a:off x="762000" y="35623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2000" y="35623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35558" y="35890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14856" y="370141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开源可扩展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0892" y="4178618"/>
              <a:ext cx="29268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Task / Judge / Runner 完全解耦，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0892" y="4426268"/>
              <a:ext cx="2954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 OpenJudge 生态，Apache 2.0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0892" y="4750118"/>
              <a:ext cx="3313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阿里通义实验室 AgentScope 团队维护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457700" y="3562350"/>
            <a:ext cx="3681146" cy="1714500"/>
            <a:chOff x="4457700" y="3562350"/>
            <a:chExt cx="3681146" cy="1714500"/>
          </a:xfrm>
        </p:grpSpPr>
        <p:sp>
          <p:nvSpPr>
            <p:cNvPr id="42" name="Rectangle 42"/>
            <p:cNvSpPr/>
            <p:nvPr/>
          </p:nvSpPr>
          <p:spPr>
            <a:xfrm>
              <a:off x="4457700" y="3562350"/>
              <a:ext cx="3467100" cy="171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457700" y="3562350"/>
              <a:ext cx="38100" cy="1714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734306" y="36537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差异化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736592" y="4083368"/>
              <a:ext cx="27884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非纯 LLM 榜单（不测工具调用）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36592" y="4331018"/>
              <a:ext cx="3402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区别于 GAIA / AgentBench / PinchBench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736592" y="4578668"/>
              <a:ext cx="1933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等依赖公网 API 的方案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153400" y="3562350"/>
            <a:ext cx="3467100" cy="1714500"/>
            <a:chOff x="8153400" y="3562350"/>
            <a:chExt cx="3467100" cy="1714500"/>
          </a:xfrm>
        </p:grpSpPr>
        <p:sp>
          <p:nvSpPr>
            <p:cNvPr id="49" name="Rectangle 49"/>
            <p:cNvSpPr/>
            <p:nvPr/>
          </p:nvSpPr>
          <p:spPr>
            <a:xfrm>
              <a:off x="8153400" y="3562350"/>
              <a:ext cx="3467100" cy="171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153400" y="3562350"/>
              <a:ext cx="38100" cy="1714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430006" y="36537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差异化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32292" y="4083368"/>
              <a:ext cx="26971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非纯 Skill 评测（不测完整流程）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32292" y="433101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覆盖 7 大原子能力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32292" y="4578668"/>
              <a:ext cx="1819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含 Skill_Use 完整流程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62000" y="5505450"/>
            <a:ext cx="10858500" cy="533400"/>
            <a:chOff x="762000" y="5505450"/>
            <a:chExt cx="10858500" cy="533400"/>
          </a:xfrm>
        </p:grpSpPr>
        <p:sp>
          <p:nvSpPr>
            <p:cNvPr id="56" name="Rectangle 56"/>
            <p:cNvSpPr/>
            <p:nvPr/>
          </p:nvSpPr>
          <p:spPr>
            <a:xfrm>
              <a:off x="762000" y="5505450"/>
              <a:ext cx="10858500" cy="5334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38606" y="5654040"/>
              <a:ext cx="86768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唯一在「完整 Agent」「内网部署」「可扩展」三项同时 ★★★★★ 的方案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06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5405526" cy="657035"/>
            <a:chOff x="745998" y="571500"/>
            <a:chExt cx="5405526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540552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能力与评测设计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10707395" cy="352044"/>
            <a:chOff x="752856" y="1139190"/>
            <a:chExt cx="10707395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107073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核心设计理念：Agent 表现 = f(Model, Harness) — Model 决定能力上限 · Harness 决定稳定落地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1524000"/>
            <a:ext cx="10858500" cy="1047750"/>
            <a:chOff x="762000" y="1524000"/>
            <a:chExt cx="10858500" cy="1047750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28575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524000"/>
              <a:ext cx="381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66306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 选择组合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892" y="2045018"/>
              <a:ext cx="17450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模型与 Harness 组合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771900" y="1952625"/>
              <a:ext cx="381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152900" y="1524000"/>
              <a:ext cx="28575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52900" y="1524000"/>
              <a:ext cx="381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29506" y="1663065"/>
              <a:ext cx="21885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 Docker 隔离运行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31792" y="20450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沙箱隔离，严格超时与重试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162800" y="1952625"/>
              <a:ext cx="381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43800" y="1524000"/>
              <a:ext cx="40767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43800" y="1524000"/>
              <a:ext cx="381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20406" y="1663065"/>
              <a:ext cx="27469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 自动 + LLM 双重评分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22692" y="2045018"/>
              <a:ext cx="3503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automated · llm_judge · hybrid 三种模式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2857500"/>
            <a:ext cx="2235098" cy="367284"/>
            <a:chOff x="762000" y="2857500"/>
            <a:chExt cx="2235098" cy="367284"/>
          </a:xfrm>
        </p:grpSpPr>
        <p:sp>
          <p:nvSpPr>
            <p:cNvPr id="25" name="Rectangle 25"/>
            <p:cNvSpPr/>
            <p:nvPr/>
          </p:nvSpPr>
          <p:spPr>
            <a:xfrm>
              <a:off x="762000" y="28575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3356" y="28727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七种原子能力诊断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3238500"/>
            <a:ext cx="1695450" cy="819150"/>
            <a:chOff x="762000" y="3238500"/>
            <a:chExt cx="1695450" cy="819150"/>
          </a:xfrm>
        </p:grpSpPr>
        <p:sp>
          <p:nvSpPr>
            <p:cNvPr id="28" name="Rectangle 28"/>
            <p:cNvSpPr/>
            <p:nvPr/>
          </p:nvSpPr>
          <p:spPr>
            <a:xfrm>
              <a:off x="76200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5642" y="3378518"/>
              <a:ext cx="8184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Tool_Use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404" y="36423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工具调用与编排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609850" y="3238500"/>
            <a:ext cx="1695450" cy="819150"/>
            <a:chOff x="2609850" y="3238500"/>
            <a:chExt cx="1695450" cy="819150"/>
          </a:xfrm>
        </p:grpSpPr>
        <p:sp>
          <p:nvSpPr>
            <p:cNvPr id="32" name="Rectangle 32"/>
            <p:cNvSpPr/>
            <p:nvPr/>
          </p:nvSpPr>
          <p:spPr>
            <a:xfrm>
              <a:off x="260985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793492" y="3378518"/>
              <a:ext cx="826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Skill_Use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94254" y="3642360"/>
              <a:ext cx="1204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Skill 发现与执行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457700" y="3238500"/>
            <a:ext cx="1888489" cy="819150"/>
            <a:chOff x="4457700" y="3238500"/>
            <a:chExt cx="1888489" cy="819150"/>
          </a:xfrm>
        </p:grpSpPr>
        <p:sp>
          <p:nvSpPr>
            <p:cNvPr id="36" name="Rectangle 36"/>
            <p:cNvSpPr/>
            <p:nvPr/>
          </p:nvSpPr>
          <p:spPr>
            <a:xfrm>
              <a:off x="445770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41342" y="3378518"/>
              <a:ext cx="17048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Code_Manipulation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42104" y="36423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代码操作与修复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305550" y="3238500"/>
            <a:ext cx="1695450" cy="819150"/>
            <a:chOff x="6305550" y="3238500"/>
            <a:chExt cx="1695450" cy="819150"/>
          </a:xfrm>
        </p:grpSpPr>
        <p:sp>
          <p:nvSpPr>
            <p:cNvPr id="40" name="Rectangle 40"/>
            <p:cNvSpPr/>
            <p:nvPr/>
          </p:nvSpPr>
          <p:spPr>
            <a:xfrm>
              <a:off x="630555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89192" y="3378518"/>
              <a:ext cx="1504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Logic_Reasoning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89954" y="3642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逻辑推理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53400" y="3238500"/>
            <a:ext cx="1695450" cy="819150"/>
            <a:chOff x="8153400" y="3238500"/>
            <a:chExt cx="1695450" cy="819150"/>
          </a:xfrm>
        </p:grpSpPr>
        <p:sp>
          <p:nvSpPr>
            <p:cNvPr id="44" name="Rectangle 44"/>
            <p:cNvSpPr/>
            <p:nvPr/>
          </p:nvSpPr>
          <p:spPr>
            <a:xfrm>
              <a:off x="815340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37042" y="3378518"/>
              <a:ext cx="763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Planning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37804" y="36423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多步任务规划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001250" y="3238500"/>
            <a:ext cx="1918121" cy="819150"/>
            <a:chOff x="10001250" y="3238500"/>
            <a:chExt cx="1918121" cy="819150"/>
          </a:xfrm>
        </p:grpSpPr>
        <p:sp>
          <p:nvSpPr>
            <p:cNvPr id="48" name="Rectangle 48"/>
            <p:cNvSpPr/>
            <p:nvPr/>
          </p:nvSpPr>
          <p:spPr>
            <a:xfrm>
              <a:off x="10001250" y="3238500"/>
              <a:ext cx="16192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184892" y="3378518"/>
              <a:ext cx="1734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Math_Computation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85654" y="3642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数学计算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62000" y="4248150"/>
            <a:ext cx="3467100" cy="819150"/>
            <a:chOff x="762000" y="4248150"/>
            <a:chExt cx="3467100" cy="819150"/>
          </a:xfrm>
        </p:grpSpPr>
        <p:sp>
          <p:nvSpPr>
            <p:cNvPr id="52" name="Rectangle 52"/>
            <p:cNvSpPr/>
            <p:nvPr/>
          </p:nvSpPr>
          <p:spPr>
            <a:xfrm>
              <a:off x="762000" y="4248150"/>
              <a:ext cx="34671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45642" y="4388168"/>
              <a:ext cx="16183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Self_Verification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6404" y="4652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自我验证与纠错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457700" y="4248150"/>
            <a:ext cx="5025085" cy="819150"/>
            <a:chOff x="4457700" y="4248150"/>
            <a:chExt cx="5025085" cy="819150"/>
          </a:xfrm>
        </p:grpSpPr>
        <p:sp>
          <p:nvSpPr>
            <p:cNvPr id="56" name="Rectangle 56"/>
            <p:cNvSpPr/>
            <p:nvPr/>
          </p:nvSpPr>
          <p:spPr>
            <a:xfrm>
              <a:off x="4457700" y="4248150"/>
              <a:ext cx="34671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457700" y="4248150"/>
              <a:ext cx="38100" cy="819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736592" y="43881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评分模式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737354" y="4652010"/>
              <a:ext cx="47454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automated（确定性断言）· llm_judge（语义）· hybrid（混合）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153400" y="4248150"/>
            <a:ext cx="3961638" cy="819150"/>
            <a:chOff x="8153400" y="4248150"/>
            <a:chExt cx="3961638" cy="819150"/>
          </a:xfrm>
        </p:grpSpPr>
        <p:sp>
          <p:nvSpPr>
            <p:cNvPr id="61" name="Rectangle 61"/>
            <p:cNvSpPr/>
            <p:nvPr/>
          </p:nvSpPr>
          <p:spPr>
            <a:xfrm>
              <a:off x="8153400" y="4248150"/>
              <a:ext cx="34671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153400" y="4248150"/>
              <a:ext cx="38100" cy="819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432292" y="4388168"/>
              <a:ext cx="1568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覆盖场景 · 复杂度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33054" y="4652010"/>
              <a:ext cx="3681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办公协同 / 软件工程 / 数据分析 · L1-L3 复杂度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" y="5295900"/>
            <a:ext cx="10858500" cy="533400"/>
            <a:chOff x="762000" y="5295900"/>
            <a:chExt cx="10858500" cy="533400"/>
          </a:xfrm>
        </p:grpSpPr>
        <p:sp>
          <p:nvSpPr>
            <p:cNvPr id="66" name="Rectangle 66"/>
            <p:cNvSpPr/>
            <p:nvPr/>
          </p:nvSpPr>
          <p:spPr>
            <a:xfrm>
              <a:off x="762000" y="5295900"/>
              <a:ext cx="10858500" cy="5334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38606" y="5444490"/>
              <a:ext cx="104242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Model × Harness × Task 三维交叉设计 — 9 模型 × 3 Harness × 150 任务 = 4,050 评测单元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07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10861630" cy="657035"/>
            <a:chOff x="745998" y="571500"/>
            <a:chExt cx="10861630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1086163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官方评测结果 · Model × Harness 评分矩阵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8311439" cy="352044"/>
            <a:chOff x="752856" y="1139190"/>
            <a:chExt cx="8311439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83114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全景 150 个任务（文本 + 多模态）· 9 模型 × 3 Harness · Overall 综合得分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524000"/>
            <a:ext cx="10668000" cy="4191000"/>
            <a:chOff x="762000" y="1524000"/>
            <a:chExt cx="10668000" cy="4191000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10668000" cy="419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22011" y="1714500"/>
              <a:ext cx="8147978" cy="38100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13" name="TextBox 13"/>
            <p:cNvSpPr txBox="1"/>
            <p:nvPr/>
          </p:nvSpPr>
          <p:spPr>
            <a:xfrm>
              <a:off x="755904" y="6442710"/>
              <a:ext cx="9038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数据来源：PawBench OpenJudge 评测引擎 · 截至 2025 年 7 月 · 平均分 = 跨 harness 加权 · 单元格颜色深浅代表分数高低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08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4953969" cy="657035"/>
            <a:chOff x="745998" y="571500"/>
            <a:chExt cx="4953969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49539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评测任务体系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7069684" cy="352044"/>
            <a:chOff x="752856" y="1139190"/>
            <a:chExt cx="7069684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7069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150 道任务 × 6 个源数据集 × 五维标签体系，支持精细化评测分析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524000"/>
            <a:ext cx="1217371" cy="367284"/>
            <a:chOff x="762000" y="1524000"/>
            <a:chExt cx="1217371" cy="367284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356" y="15392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任务来源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1905000"/>
            <a:ext cx="5659450" cy="2286000"/>
            <a:chOff x="762000" y="1905000"/>
            <a:chExt cx="5659450" cy="2286000"/>
          </a:xfrm>
        </p:grpSpPr>
        <p:sp>
          <p:nvSpPr>
            <p:cNvPr id="13" name="Rectangle 13"/>
            <p:cNvSpPr/>
            <p:nvPr/>
          </p:nvSpPr>
          <p:spPr>
            <a:xfrm>
              <a:off x="762000" y="1905000"/>
              <a:ext cx="51435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41654" y="20040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7154" y="20040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89654" y="20040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主要覆盖领域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47900"/>
              <a:ext cx="51435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41654" y="2327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自建任务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32404" y="23279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89654" y="2327910"/>
              <a:ext cx="23317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Office / SE / DA / IR / 自动化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2571750"/>
              <a:ext cx="51435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1654" y="2651760"/>
              <a:ext cx="674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claweval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32404" y="265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89654" y="265176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办公协同 / 数据分析 / 内容创作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2895600"/>
              <a:ext cx="51435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41654" y="2975610"/>
              <a:ext cx="11914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qwenclawbench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32404" y="29756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89654" y="297561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 / 软件工程 / 安全对齐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3219450"/>
              <a:ext cx="51435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41654" y="32994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pinchbench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32404" y="3299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89654" y="329946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办公流程 / 软件工程 / 信息检索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" y="3543300"/>
              <a:ext cx="51435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41654" y="3623310"/>
              <a:ext cx="8683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skillsbench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32404" y="36233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89654" y="3623310"/>
              <a:ext cx="1719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长程 Skill / 领域自动化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62000" y="3867150"/>
              <a:ext cx="51435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41654" y="3947160"/>
              <a:ext cx="11106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wildclawbench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32404" y="39471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89654" y="39471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办公流程 / 安全对齐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86500" y="1524000"/>
            <a:ext cx="1726235" cy="367284"/>
            <a:chOff x="6286500" y="1524000"/>
            <a:chExt cx="1726235" cy="367284"/>
          </a:xfrm>
        </p:grpSpPr>
        <p:sp>
          <p:nvSpPr>
            <p:cNvPr id="42" name="Rectangle 42"/>
            <p:cNvSpPr/>
            <p:nvPr/>
          </p:nvSpPr>
          <p:spPr>
            <a:xfrm>
              <a:off x="6286500" y="15240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67856" y="15392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五维标签体系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86500" y="1905000"/>
            <a:ext cx="5334000" cy="438150"/>
            <a:chOff x="6286500" y="1905000"/>
            <a:chExt cx="5334000" cy="438150"/>
          </a:xfrm>
        </p:grpSpPr>
        <p:sp>
          <p:nvSpPr>
            <p:cNvPr id="45" name="Rectangle 45"/>
            <p:cNvSpPr/>
            <p:nvPr/>
          </p:nvSpPr>
          <p:spPr>
            <a:xfrm>
              <a:off x="6286500" y="1905000"/>
              <a:ext cx="5334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65392" y="2035492"/>
              <a:ext cx="12445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场景 scenario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56904" y="2051685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自动化 / 信息检索 / 安全对齐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286500" y="2438400"/>
            <a:ext cx="5334000" cy="543306"/>
            <a:chOff x="6286500" y="2438400"/>
            <a:chExt cx="5334000" cy="543306"/>
          </a:xfrm>
        </p:grpSpPr>
        <p:sp>
          <p:nvSpPr>
            <p:cNvPr id="49" name="Rectangle 49"/>
            <p:cNvSpPr/>
            <p:nvPr/>
          </p:nvSpPr>
          <p:spPr>
            <a:xfrm>
              <a:off x="6286500" y="2438400"/>
              <a:ext cx="5334000" cy="533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65392" y="2568892"/>
              <a:ext cx="15212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 capabilities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56904" y="2556510"/>
              <a:ext cx="25728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Logic / Math / Code / Tool / Skill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56904" y="2747010"/>
              <a:ext cx="11558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Plan / Verify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286500" y="3067050"/>
            <a:ext cx="5964631" cy="438150"/>
            <a:chOff x="6286500" y="3067050"/>
            <a:chExt cx="5964631" cy="438150"/>
          </a:xfrm>
        </p:grpSpPr>
        <p:sp>
          <p:nvSpPr>
            <p:cNvPr id="54" name="Rectangle 54"/>
            <p:cNvSpPr/>
            <p:nvPr/>
          </p:nvSpPr>
          <p:spPr>
            <a:xfrm>
              <a:off x="6286500" y="3067050"/>
              <a:ext cx="5334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65392" y="3197542"/>
              <a:ext cx="1635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复杂度 complexity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56904" y="3213735"/>
              <a:ext cx="34942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L1（1-2步）/ L2（3-5步）/ L3（5+含分支）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286500" y="3600450"/>
            <a:ext cx="5697322" cy="438150"/>
            <a:chOff x="6286500" y="3600450"/>
            <a:chExt cx="5697322" cy="438150"/>
          </a:xfrm>
        </p:grpSpPr>
        <p:sp>
          <p:nvSpPr>
            <p:cNvPr id="58" name="Rectangle 58"/>
            <p:cNvSpPr/>
            <p:nvPr/>
          </p:nvSpPr>
          <p:spPr>
            <a:xfrm>
              <a:off x="6286500" y="3600450"/>
              <a:ext cx="5334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65392" y="3730942"/>
              <a:ext cx="16166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输入模态 modality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56904" y="3747135"/>
              <a:ext cx="3226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text / multimodal（image, audio, video）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286500" y="4133850"/>
            <a:ext cx="5406542" cy="438150"/>
            <a:chOff x="6286500" y="4133850"/>
            <a:chExt cx="5406542" cy="438150"/>
          </a:xfrm>
        </p:grpSpPr>
        <p:sp>
          <p:nvSpPr>
            <p:cNvPr id="62" name="Rectangle 62"/>
            <p:cNvSpPr/>
            <p:nvPr/>
          </p:nvSpPr>
          <p:spPr>
            <a:xfrm>
              <a:off x="6286500" y="4133850"/>
              <a:ext cx="5334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65392" y="4264342"/>
              <a:ext cx="1979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运行环境 environment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756904" y="4280535"/>
              <a:ext cx="2936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closed（离线复现）/ open（需联公网）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" y="4476750"/>
            <a:ext cx="2743962" cy="367284"/>
            <a:chOff x="762000" y="4476750"/>
            <a:chExt cx="2743962" cy="367284"/>
          </a:xfrm>
        </p:grpSpPr>
        <p:sp>
          <p:nvSpPr>
            <p:cNvPr id="66" name="Rectangle 66"/>
            <p:cNvSpPr/>
            <p:nvPr/>
          </p:nvSpPr>
          <p:spPr>
            <a:xfrm>
              <a:off x="762000" y="447675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43356" y="449199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五维标签如何赋能评测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62000" y="4838700"/>
            <a:ext cx="3467100" cy="857250"/>
            <a:chOff x="762000" y="4838700"/>
            <a:chExt cx="3467100" cy="857250"/>
          </a:xfrm>
        </p:grpSpPr>
        <p:sp>
          <p:nvSpPr>
            <p:cNvPr id="69" name="Rectangle 69"/>
            <p:cNvSpPr/>
            <p:nvPr/>
          </p:nvSpPr>
          <p:spPr>
            <a:xfrm>
              <a:off x="762000" y="4838700"/>
              <a:ext cx="34671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45642" y="49787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按场景分类对比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6404" y="526161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只在办公协同场景下对比模型表现，排除噪声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4457700" y="4838700"/>
            <a:ext cx="3545738" cy="857250"/>
            <a:chOff x="4457700" y="4838700"/>
            <a:chExt cx="3545738" cy="857250"/>
          </a:xfrm>
        </p:grpSpPr>
        <p:sp>
          <p:nvSpPr>
            <p:cNvPr id="73" name="Rectangle 73"/>
            <p:cNvSpPr/>
            <p:nvPr/>
          </p:nvSpPr>
          <p:spPr>
            <a:xfrm>
              <a:off x="4457700" y="4838700"/>
              <a:ext cx="34671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641342" y="49787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按能力定向诊断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642104" y="5261610"/>
              <a:ext cx="3361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单独筛选 Tool_Use / Planning，精准定位短板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8153400" y="4838700"/>
            <a:ext cx="3781044" cy="857250"/>
            <a:chOff x="8153400" y="4838700"/>
            <a:chExt cx="3781044" cy="857250"/>
          </a:xfrm>
        </p:grpSpPr>
        <p:sp>
          <p:nvSpPr>
            <p:cNvPr id="77" name="Rectangle 77"/>
            <p:cNvSpPr/>
            <p:nvPr/>
          </p:nvSpPr>
          <p:spPr>
            <a:xfrm>
              <a:off x="8153400" y="4838700"/>
              <a:ext cx="34671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337042" y="49787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按复杂度分层评估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337804" y="5261610"/>
              <a:ext cx="35966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对比 L1/L2/L3 表现差异，识别多步推理退化点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81" name="TextBox 81"/>
            <p:cNvSpPr txBox="1"/>
            <p:nvPr/>
          </p:nvSpPr>
          <p:spPr>
            <a:xfrm>
              <a:off x="755904" y="6442710"/>
              <a:ext cx="53673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每道任务 5 维标签可任意组合筛选，灵活构建定制化的评测维度与对比视图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09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7535822" cy="657035"/>
            <a:chOff x="745998" y="571500"/>
            <a:chExt cx="7535822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75358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任务执行与评分实战 · 以 T053 为例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9967874" cy="352044"/>
            <a:chOff x="752856" y="1139190"/>
            <a:chExt cx="9967874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9678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借 T053 看清 PawBench「执行 → 采集 → 评分 → 汇总」评测链路 — 同样适用于其它日常任务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524000"/>
            <a:ext cx="10668000" cy="619506"/>
            <a:chOff x="762000" y="1524000"/>
            <a:chExt cx="10668000" cy="619506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106680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524000"/>
              <a:ext cx="381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40892" y="1625918"/>
              <a:ext cx="9210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 T053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51404" y="1642110"/>
              <a:ext cx="79641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来源 pinchbench ｜ 类型 内容创作·写作 ｜ 复杂度 L1 ｜ 环境 closed ｜ 评分 hybrid（自动 0.6 + LLM 0.4）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1654" y="1908810"/>
              <a:ext cx="7782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指令：撰写约 500 词《远程办公对软件开发者的好处》博客并保存为 blog_post.md（纯文本、无外部依赖）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2381250"/>
            <a:ext cx="3874230" cy="2000250"/>
            <a:chOff x="762000" y="2381250"/>
            <a:chExt cx="3874230" cy="2000250"/>
          </a:xfrm>
        </p:grpSpPr>
        <p:sp>
          <p:nvSpPr>
            <p:cNvPr id="16" name="Rectangle 16"/>
            <p:cNvSpPr/>
            <p:nvPr/>
          </p:nvSpPr>
          <p:spPr>
            <a:xfrm>
              <a:off x="762000" y="2381250"/>
              <a:ext cx="25527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38606" y="247269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沙箱执行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1654" y="2880360"/>
              <a:ext cx="3594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Agent 在 Docker 容器中隔离运行，独立执行任务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1654" y="3147060"/>
              <a:ext cx="17571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纯文本创作，无需联网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1654" y="3375660"/>
              <a:ext cx="1942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无外部依赖 / 无预置文件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1654" y="3604260"/>
              <a:ext cx="29202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environment = closed（可离线复现）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1654" y="3832860"/>
              <a:ext cx="2508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超时 300s 内产出 blog_post.md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543300" y="2381250"/>
            <a:ext cx="4432645" cy="2000250"/>
            <a:chOff x="3543300" y="2381250"/>
            <a:chExt cx="4432645" cy="2000250"/>
          </a:xfrm>
        </p:grpSpPr>
        <p:sp>
          <p:nvSpPr>
            <p:cNvPr id="25" name="Rectangle 25"/>
            <p:cNvSpPr/>
            <p:nvPr/>
          </p:nvSpPr>
          <p:spPr>
            <a:xfrm>
              <a:off x="3543300" y="2381250"/>
              <a:ext cx="25527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5433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19906" y="247269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结果采集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22954" y="2880360"/>
              <a:ext cx="2298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harness 采集运行产物与过程：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22954" y="3147060"/>
              <a:ext cx="2355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OpenClaw session → 归一化为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22954" y="3375660"/>
              <a:ext cx="4152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transcript 事件流（message / toolCall / toolResult）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22954" y="3604260"/>
              <a:ext cx="24921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新生成文件内容注入 transcript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22954" y="3832860"/>
              <a:ext cx="21125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产物落盘 workspace_path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324600" y="2381250"/>
            <a:ext cx="3280715" cy="2029206"/>
            <a:chOff x="6324600" y="2381250"/>
            <a:chExt cx="3280715" cy="2029206"/>
          </a:xfrm>
        </p:grpSpPr>
        <p:sp>
          <p:nvSpPr>
            <p:cNvPr id="34" name="Rectangle 34"/>
            <p:cNvSpPr/>
            <p:nvPr/>
          </p:nvSpPr>
          <p:spPr>
            <a:xfrm>
              <a:off x="6324600" y="2381250"/>
              <a:ext cx="25527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3246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01206" y="2472690"/>
              <a:ext cx="2320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双重评分 · hybrid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04254" y="2880360"/>
              <a:ext cx="14115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自动检查 权重 0.6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04254" y="3108960"/>
              <a:ext cx="2266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文件 blog_post.md 是否存在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04254" y="3318510"/>
              <a:ext cx="2556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词数 450-550 → 1.0（区间打分）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04254" y="3528060"/>
              <a:ext cx="20075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标题 + 段落结构（≥3 段）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04254" y="3737610"/>
              <a:ext cx="2508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remote / developer 关键词命中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04254" y="3966210"/>
              <a:ext cx="15176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LLM 评判 权重 0.4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04254" y="4175760"/>
              <a:ext cx="30010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质量30 结构25 写作20 词数15 完成度10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105900" y="2381250"/>
            <a:ext cx="2802484" cy="2029206"/>
            <a:chOff x="9105900" y="2381250"/>
            <a:chExt cx="2802484" cy="2029206"/>
          </a:xfrm>
        </p:grpSpPr>
        <p:sp>
          <p:nvSpPr>
            <p:cNvPr id="45" name="Rectangle 45"/>
            <p:cNvSpPr/>
            <p:nvPr/>
          </p:nvSpPr>
          <p:spPr>
            <a:xfrm>
              <a:off x="9105900" y="2381250"/>
              <a:ext cx="23241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1059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382506" y="247269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汇总得分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85554" y="2880360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score = 0.6 × 自动分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85554" y="3108960"/>
              <a:ext cx="1172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+ 0.4 × LLM 分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391650" y="3390900"/>
              <a:ext cx="17145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85554" y="35090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混合惩罚机制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85554" y="3737610"/>
              <a:ext cx="25228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自动分 &lt; 0.75 时 → LLM 分清零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85554" y="3966210"/>
              <a:ext cx="21044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防止跳过任务 / 空文件刷分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85554" y="41757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（API 真实失败时豁免）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2000" y="4629150"/>
            <a:ext cx="10668000" cy="838200"/>
            <a:chOff x="762000" y="4629150"/>
            <a:chExt cx="10668000" cy="838200"/>
          </a:xfrm>
        </p:grpSpPr>
        <p:sp>
          <p:nvSpPr>
            <p:cNvPr id="56" name="Rectangle 56"/>
            <p:cNvSpPr/>
            <p:nvPr/>
          </p:nvSpPr>
          <p:spPr>
            <a:xfrm>
              <a:off x="762000" y="4629150"/>
              <a:ext cx="10668000" cy="8382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40892" y="4769168"/>
              <a:ext cx="69380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一张任务卡 = Prompt + Expected Behavior + 自动检查（代码）+ LLM 评分细则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40892" y="5073968"/>
              <a:ext cx="8308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评分仅依赖 transcript 与 workspace_path，对 Agent 框架保持中立 — 多路径达成同样产物皆可得分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10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6376372" cy="657035"/>
            <a:chOff x="745998" y="571500"/>
            <a:chExt cx="6376372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63763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任务 ↔ 日常工作能力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9930841" cy="352044"/>
            <a:chOff x="752856" y="1139190"/>
            <a:chExt cx="9930841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9308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日常 7 类使用场景中，6 类在 PawBench 都有强匹配任务 — 与 T053 走完全相同的评测链路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" y="1524000"/>
            <a:ext cx="11441697" cy="3409950"/>
            <a:chOff x="762000" y="1524000"/>
            <a:chExt cx="11441697" cy="3409950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10668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0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日常能力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46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对应任务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2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评分方式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18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考察核心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18669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60704" y="2013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邮件处理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46704" y="2013585"/>
              <a:ext cx="1371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T016 Email Triage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32704" y="2013585"/>
              <a:ext cx="1449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0.35 / 0.65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18704" y="2013585"/>
              <a:ext cx="374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读收件箱 → 分类（需回复/通知/垃圾）→ 结构化输出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230505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60704" y="2451735"/>
              <a:ext cx="1087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通讯录 / CRM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46704" y="2451735"/>
              <a:ext cx="18939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T026 / T027 CRM Export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32704" y="245173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0.5 / 0.5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18704" y="2451735"/>
              <a:ext cx="35027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 CRM 导出客户与通讯录数据，并做错误恢复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27432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60704" y="2889885"/>
              <a:ext cx="1224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内部新闻 / 资讯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46704" y="2889885"/>
              <a:ext cx="20332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T025 Newsletter Curation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32704" y="288988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0.4 / 0.6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18704" y="2889885"/>
              <a:ext cx="31784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多源 RSS 筛选 → 编辑摘要 → 形成技术简报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318135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60704" y="3328035"/>
              <a:ext cx="9814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Excel / 表格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46704" y="3328035"/>
              <a:ext cx="18307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T140 Xlsx Recover Data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32704" y="332803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0.6 / 0.4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18704" y="3328035"/>
              <a:ext cx="374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读 xlsx → 修复 15 个缺值（跨 4 工作表）→ 存新文件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" y="36195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60704" y="3766185"/>
              <a:ext cx="1024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文档（PDF）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346704" y="3766185"/>
              <a:ext cx="24274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T055 合同分析 / T058 论文摘要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32704" y="3766185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llm_judge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18704" y="3766185"/>
              <a:ext cx="42849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读 PDF 合同 → 条款与风险评估 → .md；论文 → 摘要 → .txt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2000" y="405765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60704" y="42043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代码处理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46704" y="4204335"/>
              <a:ext cx="1598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T064 Playwright E2E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32704" y="420433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0.5 / 0.5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18704" y="4204335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编写并调试端到端表单测试代码（真实代码操作）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62000" y="44958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60704" y="4642485"/>
              <a:ext cx="1290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Skill 创建 / 使用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46704" y="4642485"/>
              <a:ext cx="2762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T076-T094 / SkillsBench T126-T140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32704" y="4642485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按任务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18704" y="4642485"/>
              <a:ext cx="3550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编写可复用 SKILL.md → 用该 skill 完成实际任务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62000" y="5181600"/>
            <a:ext cx="10668000" cy="651701"/>
            <a:chOff x="762000" y="5181600"/>
            <a:chExt cx="10668000" cy="651701"/>
          </a:xfrm>
        </p:grpSpPr>
        <p:sp>
          <p:nvSpPr>
            <p:cNvPr id="51" name="Rectangle 51"/>
            <p:cNvSpPr/>
            <p:nvPr/>
          </p:nvSpPr>
          <p:spPr>
            <a:xfrm>
              <a:off x="762000" y="5181600"/>
              <a:ext cx="10668000" cy="62865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40892" y="5321618"/>
              <a:ext cx="4864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注：上述任务均为 hybrid 评分（自动检查 + LLM 评判）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40892" y="5569268"/>
              <a:ext cx="90443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与日常使用 OpenClaw 处理邮件 / 表格 / 文档 / 代码 / Skill 的能力高度对应，评测结果可直接指导工作流选型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11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6308638" cy="657035"/>
            <a:chOff x="745998" y="571500"/>
            <a:chExt cx="6308638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630863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应用场景与集成方式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" y="1238250"/>
            <a:ext cx="1726235" cy="367284"/>
            <a:chOff x="762000" y="1238250"/>
            <a:chExt cx="1726235" cy="367284"/>
          </a:xfrm>
        </p:grpSpPr>
        <p:sp>
          <p:nvSpPr>
            <p:cNvPr id="8" name="Rectangle 8"/>
            <p:cNvSpPr/>
            <p:nvPr/>
          </p:nvSpPr>
          <p:spPr>
            <a:xfrm>
              <a:off x="762000" y="123825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3356" y="12534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典型应用场景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581150"/>
            <a:ext cx="4387531" cy="1047750"/>
            <a:chOff x="762000" y="1581150"/>
            <a:chExt cx="4387531" cy="1047750"/>
          </a:xfrm>
        </p:grpSpPr>
        <p:sp>
          <p:nvSpPr>
            <p:cNvPr id="11" name="Rectangle 11"/>
            <p:cNvSpPr/>
            <p:nvPr/>
          </p:nvSpPr>
          <p:spPr>
            <a:xfrm>
              <a:off x="762000" y="158115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40892" y="17211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模型升级评估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1654" y="2004060"/>
              <a:ext cx="41078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固定 Harness，横向跑新旧模型，看整体分和切片分变化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1654" y="22707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升级效果数据说话，形成可靠决策依据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457700" y="1581150"/>
            <a:ext cx="4550381" cy="1047750"/>
            <a:chOff x="4457700" y="1581150"/>
            <a:chExt cx="4550381" cy="1047750"/>
          </a:xfrm>
        </p:grpSpPr>
        <p:sp>
          <p:nvSpPr>
            <p:cNvPr id="16" name="Rectangle 16"/>
            <p:cNvSpPr/>
            <p:nvPr/>
          </p:nvSpPr>
          <p:spPr>
            <a:xfrm>
              <a:off x="4457700" y="158115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36592" y="1721168"/>
              <a:ext cx="1374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框架迭代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37354" y="2004060"/>
              <a:ext cx="427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固定模型，横向跑不同版本 Harness，验证改动未引入退化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37354" y="22707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框架稳定性可量化，回归一目了然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53400" y="1581150"/>
            <a:ext cx="4147444" cy="1047750"/>
            <a:chOff x="8153400" y="1581150"/>
            <a:chExt cx="4147444" cy="1047750"/>
          </a:xfrm>
        </p:grpSpPr>
        <p:sp>
          <p:nvSpPr>
            <p:cNvPr id="21" name="Rectangle 21"/>
            <p:cNvSpPr/>
            <p:nvPr/>
          </p:nvSpPr>
          <p:spPr>
            <a:xfrm>
              <a:off x="8153400" y="158115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32292" y="1721168"/>
              <a:ext cx="14803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自定义 Skill 验证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33054" y="2004060"/>
              <a:ext cx="38677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新增业务 Skill 后，在相关切片上验证发现和执行效果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33054" y="22707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自定义业务任务，支持持续沉淀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2857500"/>
            <a:ext cx="4205043" cy="1047750"/>
            <a:chOff x="762000" y="2857500"/>
            <a:chExt cx="4205043" cy="1047750"/>
          </a:xfrm>
        </p:grpSpPr>
        <p:sp>
          <p:nvSpPr>
            <p:cNvPr id="26" name="Rectangle 26"/>
            <p:cNvSpPr/>
            <p:nvPr/>
          </p:nvSpPr>
          <p:spPr>
            <a:xfrm>
              <a:off x="762000" y="285750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40892" y="29975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回归测试流水线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1654" y="3280410"/>
              <a:ext cx="39253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集成到 CI 流程，每次 Agent / 模型发布自动触发评测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1654" y="35471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利用五维标签切片分析，精准定位能力变化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457700" y="2857500"/>
            <a:ext cx="1217371" cy="367284"/>
            <a:chOff x="4457700" y="2857500"/>
            <a:chExt cx="1217371" cy="367284"/>
          </a:xfrm>
        </p:grpSpPr>
        <p:sp>
          <p:nvSpPr>
            <p:cNvPr id="31" name="Rectangle 31"/>
            <p:cNvSpPr/>
            <p:nvPr/>
          </p:nvSpPr>
          <p:spPr>
            <a:xfrm>
              <a:off x="4457700" y="28575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39056" y="2872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集成方式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457700" y="3200400"/>
            <a:ext cx="4928870" cy="704850"/>
            <a:chOff x="4457700" y="3200400"/>
            <a:chExt cx="4928870" cy="704850"/>
          </a:xfrm>
        </p:grpSpPr>
        <p:sp>
          <p:nvSpPr>
            <p:cNvPr id="34" name="Rectangle 34"/>
            <p:cNvSpPr/>
            <p:nvPr/>
          </p:nvSpPr>
          <p:spPr>
            <a:xfrm>
              <a:off x="4457700" y="3200400"/>
              <a:ext cx="34671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36592" y="33404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环境部署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37354" y="3604260"/>
              <a:ext cx="4649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一键部署，拉取仓库 + 配置 API 密钥即跑通 150 道任务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57700" y="4019550"/>
            <a:ext cx="4491990" cy="704850"/>
            <a:chOff x="4457700" y="4019550"/>
            <a:chExt cx="4491990" cy="704850"/>
          </a:xfrm>
        </p:grpSpPr>
        <p:sp>
          <p:nvSpPr>
            <p:cNvPr id="38" name="Rectangle 38"/>
            <p:cNvSpPr/>
            <p:nvPr/>
          </p:nvSpPr>
          <p:spPr>
            <a:xfrm>
              <a:off x="4457700" y="4019550"/>
              <a:ext cx="34671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36592" y="4159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内网适配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37354" y="4423410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含公网依赖的任务改造为离线可运行，支持自定义任务扩展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457700" y="4838700"/>
            <a:ext cx="4760092" cy="704850"/>
            <a:chOff x="4457700" y="4838700"/>
            <a:chExt cx="4760092" cy="704850"/>
          </a:xfrm>
        </p:grpSpPr>
        <p:sp>
          <p:nvSpPr>
            <p:cNvPr id="42" name="Rectangle 42"/>
            <p:cNvSpPr/>
            <p:nvPr/>
          </p:nvSpPr>
          <p:spPr>
            <a:xfrm>
              <a:off x="4457700" y="4838700"/>
              <a:ext cx="34671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736592" y="4978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持续迭代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37354" y="5242560"/>
              <a:ext cx="4480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嵌入 Agent 开发迭代流程，每次发布自动评测，推动持续改进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153400" y="2857500"/>
            <a:ext cx="2489530" cy="367284"/>
            <a:chOff x="8153400" y="2857500"/>
            <a:chExt cx="2489530" cy="367284"/>
          </a:xfrm>
        </p:grpSpPr>
        <p:sp>
          <p:nvSpPr>
            <p:cNvPr id="46" name="Rectangle 46"/>
            <p:cNvSpPr/>
            <p:nvPr/>
          </p:nvSpPr>
          <p:spPr>
            <a:xfrm>
              <a:off x="8153400" y="28575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334756" y="28727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企业需求与能力适配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8153400" y="3200400"/>
            <a:ext cx="4180342" cy="2248281"/>
            <a:chOff x="8153400" y="3200400"/>
            <a:chExt cx="4180342" cy="2248281"/>
          </a:xfrm>
        </p:grpSpPr>
        <p:sp>
          <p:nvSpPr>
            <p:cNvPr id="49" name="Rectangle 49"/>
            <p:cNvSpPr/>
            <p:nvPr/>
          </p:nvSpPr>
          <p:spPr>
            <a:xfrm>
              <a:off x="8153400" y="3200400"/>
              <a:ext cx="34671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33054" y="32994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66554" y="3299460"/>
              <a:ext cx="11991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PawBench 能力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153400" y="3543300"/>
              <a:ext cx="346710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433054" y="36518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内网私有化部署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766554" y="3651885"/>
              <a:ext cx="2417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开源 + Docker，数据不出内网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153400" y="3905250"/>
              <a:ext cx="3467100" cy="361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433054" y="4013835"/>
              <a:ext cx="15397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评测完整 Agent 系统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66554" y="4013835"/>
              <a:ext cx="25671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Model × Harness × Task 全覆盖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153400" y="4267200"/>
              <a:ext cx="346710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433054" y="43757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自定义任务扩展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766554" y="4375785"/>
              <a:ext cx="24249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OpenJudge 生态，灵活可扩展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153400" y="4629150"/>
              <a:ext cx="3467100" cy="361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433054" y="4737735"/>
              <a:ext cx="10414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能力评估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66554" y="4661535"/>
              <a:ext cx="2248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7 大原子能力含 Skill_Use，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766554" y="4852035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道专项任务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153400" y="4991100"/>
              <a:ext cx="346710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433054" y="50996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量化回归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766554" y="5023485"/>
              <a:ext cx="20234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标准化任务 + 自动评分，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766554" y="5213985"/>
              <a:ext cx="7205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CI 可集成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62000" y="4191000"/>
            <a:ext cx="3827709" cy="1143000"/>
            <a:chOff x="762000" y="4191000"/>
            <a:chExt cx="3827709" cy="1143000"/>
          </a:xfrm>
        </p:grpSpPr>
        <p:sp>
          <p:nvSpPr>
            <p:cNvPr id="70" name="Rectangle 70"/>
            <p:cNvSpPr/>
            <p:nvPr/>
          </p:nvSpPr>
          <p:spPr>
            <a:xfrm>
              <a:off x="762000" y="4191000"/>
              <a:ext cx="3467100" cy="1143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762000" y="4191000"/>
              <a:ext cx="38100" cy="114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40892" y="4331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技术特点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41654" y="4632960"/>
              <a:ext cx="3134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支持 OpenAI 兼容 API 和私有化模型接入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41654" y="4861560"/>
              <a:ext cx="2245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纯 Python 实现，无专有依赖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41654" y="5090160"/>
              <a:ext cx="35480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Task / Judge / Runner 解耦，可独立定制替换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12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5998" y="571500"/>
            <a:ext cx="922515" cy="657035"/>
            <a:chOff x="745998" y="571500"/>
            <a:chExt cx="922515" cy="657035"/>
          </a:xfrm>
        </p:grpSpPr>
        <p:sp>
          <p:nvSpPr>
            <p:cNvPr id="2" name="Rectangle 2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5998" y="612458"/>
              <a:ext cx="9225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总结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333500"/>
            <a:ext cx="4584207" cy="1714500"/>
            <a:chOff x="762000" y="1333500"/>
            <a:chExt cx="4584207" cy="1714500"/>
          </a:xfrm>
        </p:grpSpPr>
        <p:sp>
          <p:nvSpPr>
            <p:cNvPr id="5" name="Rectangle 5"/>
            <p:cNvSpPr/>
            <p:nvPr/>
          </p:nvSpPr>
          <p:spPr>
            <a:xfrm>
              <a:off x="762000" y="133350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133350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5558" y="1407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10106" y="1520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交叉评测矩阵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0892" y="2025968"/>
              <a:ext cx="2888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同时评估 Model、Harness 和 Task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0892" y="22545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三个维度，回答的不只是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0892" y="2483168"/>
              <a:ext cx="4305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「模型好不好」，更是「部署后的 Agent 好不好用」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892" y="2768918"/>
              <a:ext cx="2668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 模型 × 3 Harness × 150 任务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457700" y="1333500"/>
            <a:ext cx="3995311" cy="1714500"/>
            <a:chOff x="4457700" y="1333500"/>
            <a:chExt cx="3995311" cy="1714500"/>
          </a:xfrm>
        </p:grpSpPr>
        <p:sp>
          <p:nvSpPr>
            <p:cNvPr id="14" name="Rectangle 14"/>
            <p:cNvSpPr/>
            <p:nvPr/>
          </p:nvSpPr>
          <p:spPr>
            <a:xfrm>
              <a:off x="4457700" y="133350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457700" y="133350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31258" y="1407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05806" y="15201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灵活可扩展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36592" y="2025968"/>
              <a:ext cx="268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Task、Judge、Runner 完全解耦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36592" y="22545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可自定义评测任务和评分规则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36592" y="24831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五维标签体系支持精细化切片分析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36592" y="2768918"/>
              <a:ext cx="3716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阿里通义实验室 AgentScope · Apache 2.0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53400" y="1333500"/>
            <a:ext cx="3467100" cy="1714500"/>
            <a:chOff x="8153400" y="1333500"/>
            <a:chExt cx="3467100" cy="1714500"/>
          </a:xfrm>
        </p:grpSpPr>
        <p:sp>
          <p:nvSpPr>
            <p:cNvPr id="23" name="Rectangle 23"/>
            <p:cNvSpPr/>
            <p:nvPr/>
          </p:nvSpPr>
          <p:spPr>
            <a:xfrm>
              <a:off x="8153400" y="133350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153400" y="133350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26958" y="1407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01506" y="1520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内网安全就绪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32292" y="2025968"/>
              <a:ext cx="2875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沙箱隔离运行，数据不出网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32292" y="2254568"/>
              <a:ext cx="3105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完全私有化部署，可集成 CI/CD 回归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32292" y="2483168"/>
              <a:ext cx="1814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支持 OpenAI 兼容 API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32292" y="2768918"/>
              <a:ext cx="30090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Python 3.11+ / Docker / Node.js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3429000"/>
            <a:ext cx="10858500" cy="1428750"/>
            <a:chOff x="762000" y="3429000"/>
            <a:chExt cx="10858500" cy="1428750"/>
          </a:xfrm>
        </p:grpSpPr>
        <p:sp>
          <p:nvSpPr>
            <p:cNvPr id="32" name="Rectangle 32"/>
            <p:cNvSpPr/>
            <p:nvPr/>
          </p:nvSpPr>
          <p:spPr>
            <a:xfrm>
              <a:off x="762000" y="3429000"/>
              <a:ext cx="10858500" cy="142875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38606" y="3663315"/>
              <a:ext cx="33762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评测正处于关键转折期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0892" y="4092892"/>
              <a:ext cx="89001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从手工挑选个别案例做主观判断，转向标准化、自动化、多维度量化评测，是 Agent 从实验走向生产的前提。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0892" y="4378642"/>
              <a:ext cx="10186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一个完整的评测体系需同时覆盖模型能力、任务框架和运行环境三个独立变量，才能真正回答「我的 Agent 到底好不好用」。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13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awbench_agent_eval_v5">
  <a:themeElements>
    <a:clrScheme name="pawbench_agent_eval_v5">
      <a:dk1>
        <a:srgbClr val="1A1A2E"/>
      </a:dk1>
      <a:lt1>
        <a:srgbClr val="FFFFFF"/>
      </a:lt1>
      <a:dk2>
        <a:srgbClr val="64748B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10B981"/>
      </a:accent5>
      <a:accent6>
        <a:srgbClr val="EF4444"/>
      </a:accent6>
      <a:hlink>
        <a:srgbClr val="2563EB"/>
      </a:hlink>
      <a:folHlink>
        <a:srgbClr val="93C5FD"/>
      </a:folHlink>
    </a:clrScheme>
    <a:fontScheme name="pawbench_agent_eval_v5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agent_eval_v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awbench_agent_eval_v5">
  <a:themeElements>
    <a:clrScheme name="pawbench_agent_eval_v5">
      <a:dk1>
        <a:srgbClr val="1A1A2E"/>
      </a:dk1>
      <a:lt1>
        <a:srgbClr val="FFFFFF"/>
      </a:lt1>
      <a:dk2>
        <a:srgbClr val="64748B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10B981"/>
      </a:accent5>
      <a:accent6>
        <a:srgbClr val="EF4444"/>
      </a:accent6>
      <a:hlink>
        <a:srgbClr val="2563EB"/>
      </a:hlink>
      <a:folHlink>
        <a:srgbClr val="93C5FD"/>
      </a:folHlink>
    </a:clrScheme>
    <a:fontScheme name="pawbench_agent_eval_v5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agent_eval_v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2026-08-06T01:32:41Z</dcterms:created>
  <dcterms:modified xsi:type="dcterms:W3CDTF">2026-08-06T01:32:41Z</dcterms:modified>
  <cp:category/>
  <cp:contentStatus/>
</cp:coreProperties>
</file>