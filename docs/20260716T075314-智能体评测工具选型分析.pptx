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5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30" y="563910"/>
            <a:ext cx="259050" cy="2590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80179" y="617220"/>
            <a:ext cx="1516628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380" b="1" spc="35" kern="0" dirty="0">
                <a:solidFill>
                  <a:srgbClr val="0D10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评测选型 · 2026</a:t>
            </a:r>
            <a:endParaRPr lang="en-US" sz="1380" dirty="0"/>
          </a:p>
        </p:txBody>
      </p:sp>
      <p:sp>
        <p:nvSpPr>
          <p:cNvPr id="6" name="Text 3"/>
          <p:cNvSpPr/>
          <p:nvPr/>
        </p:nvSpPr>
        <p:spPr>
          <a:xfrm>
            <a:off x="12865214" y="617220"/>
            <a:ext cx="1012755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380" b="1" spc="345" kern="0" dirty="0">
                <a:solidFill>
                  <a:srgbClr val="5A5F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选型报告</a:t>
            </a:r>
            <a:endParaRPr lang="en-US" sz="138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30" y="6705570"/>
            <a:ext cx="12954030" cy="152403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59843" y="1554480"/>
            <a:ext cx="2326986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380" b="1" spc="310" kern="0" dirty="0">
                <a:solidFill>
                  <a:srgbClr val="5A5F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私有化</a:t>
            </a:r>
            <a:endParaRPr lang="en-US" sz="1380" dirty="0"/>
          </a:p>
        </p:txBody>
      </p:sp>
      <p:sp>
        <p:nvSpPr>
          <p:cNvPr id="9" name="Shape 5"/>
          <p:cNvSpPr/>
          <p:nvPr/>
        </p:nvSpPr>
        <p:spPr>
          <a:xfrm>
            <a:off x="7105802" y="1611630"/>
            <a:ext cx="38130" cy="38130"/>
          </a:xfrm>
          <a:prstGeom prst="ellipse">
            <a:avLst/>
          </a:prstGeom>
          <a:solidFill>
            <a:srgbClr val="8FD4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104135" y="1554480"/>
            <a:ext cx="1546203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380" b="1" spc="310" kern="0" dirty="0">
                <a:solidFill>
                  <a:srgbClr val="5A5F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评测</a:t>
            </a:r>
            <a:endParaRPr lang="en-US" sz="1380" dirty="0"/>
          </a:p>
        </p:txBody>
      </p:sp>
      <p:sp>
        <p:nvSpPr>
          <p:cNvPr id="11" name="Shape 7"/>
          <p:cNvSpPr/>
          <p:nvPr/>
        </p:nvSpPr>
        <p:spPr>
          <a:xfrm>
            <a:off x="8610630" y="1611630"/>
            <a:ext cx="38130" cy="38130"/>
          </a:xfrm>
          <a:prstGeom prst="ellipse">
            <a:avLst/>
          </a:prstGeom>
          <a:solidFill>
            <a:srgbClr val="8FD4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674133" y="1554480"/>
            <a:ext cx="989752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380" b="1" spc="310" kern="0" dirty="0">
                <a:solidFill>
                  <a:srgbClr val="5A5F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方案对比</a:t>
            </a:r>
            <a:endParaRPr lang="en-US" sz="1380" dirty="0"/>
          </a:p>
        </p:txBody>
      </p:sp>
      <p:sp>
        <p:nvSpPr>
          <p:cNvPr id="13" name="Text 9"/>
          <p:cNvSpPr/>
          <p:nvPr/>
        </p:nvSpPr>
        <p:spPr>
          <a:xfrm>
            <a:off x="3787353" y="1885189"/>
            <a:ext cx="7055510" cy="1437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680"/>
              </a:lnSpc>
              <a:buNone/>
            </a:pPr>
            <a:r>
              <a:rPr lang="en-US" sz="7680" b="1" spc="192" kern="0" dirty="0">
                <a:solidFill>
                  <a:srgbClr val="0D10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智能体评测工具</a:t>
            </a:r>
            <a:endParaRPr lang="en-US" sz="7680" dirty="0"/>
          </a:p>
        </p:txBody>
      </p:sp>
      <p:sp>
        <p:nvSpPr>
          <p:cNvPr id="14" name="Text 10"/>
          <p:cNvSpPr/>
          <p:nvPr/>
        </p:nvSpPr>
        <p:spPr>
          <a:xfrm>
            <a:off x="5279563" y="2860580"/>
            <a:ext cx="4071000" cy="1437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680"/>
              </a:lnSpc>
              <a:buNone/>
            </a:pPr>
            <a:r>
              <a:rPr lang="en-US" sz="7680" b="1" spc="192" kern="0" dirty="0">
                <a:solidFill>
                  <a:srgbClr val="0D10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选型分析</a:t>
            </a:r>
            <a:endParaRPr lang="en-US" sz="7680" dirty="0"/>
          </a:p>
        </p:txBody>
      </p:sp>
      <p:sp>
        <p:nvSpPr>
          <p:cNvPr id="15" name="Text 11"/>
          <p:cNvSpPr/>
          <p:nvPr/>
        </p:nvSpPr>
        <p:spPr>
          <a:xfrm>
            <a:off x="3827130" y="4307921"/>
            <a:ext cx="6975958" cy="469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0D10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 OpenClaw 私有化部署的 Agent 评测工具对比</a:t>
            </a:r>
            <a:endParaRPr lang="en-US" sz="2400" dirty="0"/>
          </a:p>
        </p:txBody>
      </p:sp>
      <p:sp>
        <p:nvSpPr>
          <p:cNvPr id="16" name="Shape 12"/>
          <p:cNvSpPr/>
          <p:nvPr/>
        </p:nvSpPr>
        <p:spPr>
          <a:xfrm>
            <a:off x="4928799" y="5158770"/>
            <a:ext cx="4772528" cy="640080"/>
          </a:xfrm>
          <a:prstGeom prst="roundRect">
            <a:avLst>
              <a:gd name="adj" fmla="val 86937"/>
            </a:avLst>
          </a:prstGeom>
          <a:solidFill>
            <a:srgbClr val="0D100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233660" y="5436840"/>
            <a:ext cx="83850" cy="83850"/>
          </a:xfrm>
          <a:prstGeom prst="ellipse">
            <a:avLst/>
          </a:prstGeom>
          <a:solidFill>
            <a:srgbClr val="C2EE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348220" y="5313121"/>
            <a:ext cx="4139517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spc="113" kern="0" dirty="0">
                <a:solidFill>
                  <a:srgbClr val="F4F5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选对评测工具，让 Agent 能力看得见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9893" y="0"/>
            <a:ext cx="7900507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640080"/>
            <a:ext cx="13167360" cy="129250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920991"/>
            <a:ext cx="1316736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0080"/>
            <a:ext cx="6184453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396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执行摘要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731520" y="1093068"/>
            <a:ext cx="6184453" cy="64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838"/>
              </a:lnSpc>
              <a:buNone/>
            </a:pPr>
            <a:r>
              <a:rPr lang="en-US" sz="504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为什么选 PawBench</a:t>
            </a:r>
            <a:endParaRPr lang="en-US" sz="5040" dirty="0"/>
          </a:p>
        </p:txBody>
      </p:sp>
      <p:sp>
        <p:nvSpPr>
          <p:cNvPr id="9" name="Text 6"/>
          <p:cNvSpPr/>
          <p:nvPr/>
        </p:nvSpPr>
        <p:spPr>
          <a:xfrm>
            <a:off x="7136801" y="1324828"/>
            <a:ext cx="6853519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spc="45" kern="0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从活跃度、开源、国产化、扩展性、易用性、现成数据集六维评估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31520" y="2288926"/>
            <a:ext cx="7223486" cy="5150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854"/>
              </a:lnSpc>
              <a:buNone/>
            </a:pPr>
            <a:r>
              <a:rPr lang="en-US" sz="2640" spc="17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面向公司私有化部署的 OpenClaw，需一套开箱</a:t>
            </a:r>
            <a:endParaRPr lang="en-US" sz="2640" dirty="0"/>
          </a:p>
        </p:txBody>
      </p:sp>
      <p:sp>
        <p:nvSpPr>
          <p:cNvPr id="11" name="Text 8"/>
          <p:cNvSpPr/>
          <p:nvPr/>
        </p:nvSpPr>
        <p:spPr>
          <a:xfrm>
            <a:off x="731520" y="2778404"/>
            <a:ext cx="3902793" cy="5150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854"/>
              </a:lnSpc>
              <a:buNone/>
            </a:pPr>
            <a:r>
              <a:rPr lang="en-US" sz="2640" spc="17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即用的 Agent 评测方案。</a:t>
            </a:r>
            <a:endParaRPr lang="en-US" sz="264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775478"/>
            <a:ext cx="7049658" cy="9771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16862" y="2778404"/>
            <a:ext cx="3355757" cy="5150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854"/>
              </a:lnSpc>
              <a:buNone/>
            </a:pPr>
            <a:r>
              <a:rPr lang="en-US" sz="2640" b="1" spc="17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 10 款候选工具，</a:t>
            </a:r>
            <a:endParaRPr lang="en-US" sz="2640" dirty="0"/>
          </a:p>
        </p:txBody>
      </p:sp>
      <p:sp>
        <p:nvSpPr>
          <p:cNvPr id="14" name="Text 10"/>
          <p:cNvSpPr/>
          <p:nvPr/>
        </p:nvSpPr>
        <p:spPr>
          <a:xfrm>
            <a:off x="731520" y="3267883"/>
            <a:ext cx="5819790" cy="5150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854"/>
              </a:lnSpc>
              <a:buNone/>
            </a:pPr>
            <a:r>
              <a:rPr lang="en-US" sz="2640" b="1" spc="17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覆盖学术基准、评测框架与官方跑分。</a:t>
            </a:r>
            <a:endParaRPr lang="en-US" sz="2640" dirty="0"/>
          </a:p>
        </p:txBody>
      </p:sp>
      <p:sp>
        <p:nvSpPr>
          <p:cNvPr id="15" name="Text 11"/>
          <p:cNvSpPr/>
          <p:nvPr/>
        </p:nvSpPr>
        <p:spPr>
          <a:xfrm>
            <a:off x="6459870" y="3267883"/>
            <a:ext cx="1102401" cy="5150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854"/>
              </a:lnSpc>
              <a:buNone/>
            </a:pPr>
            <a:r>
              <a:rPr lang="en-US" sz="2640" spc="17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核心诉</a:t>
            </a:r>
            <a:endParaRPr lang="en-US" sz="2640" dirty="0"/>
          </a:p>
        </p:txBody>
      </p:sp>
      <p:sp>
        <p:nvSpPr>
          <p:cNvPr id="16" name="Text 12"/>
          <p:cNvSpPr/>
          <p:nvPr/>
        </p:nvSpPr>
        <p:spPr>
          <a:xfrm>
            <a:off x="731520" y="3757361"/>
            <a:ext cx="7245340" cy="5150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854"/>
              </a:lnSpc>
              <a:buNone/>
            </a:pPr>
            <a:r>
              <a:rPr lang="en-US" sz="2640" spc="17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求：现成 Agent 任务集 + 原生支持 OpenClaw +</a:t>
            </a:r>
            <a:endParaRPr lang="en-US" sz="2640" dirty="0"/>
          </a:p>
        </p:txBody>
      </p:sp>
      <p:sp>
        <p:nvSpPr>
          <p:cNvPr id="17" name="Text 13"/>
          <p:cNvSpPr/>
          <p:nvPr/>
        </p:nvSpPr>
        <p:spPr>
          <a:xfrm>
            <a:off x="731520" y="4246748"/>
            <a:ext cx="1776313" cy="5150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854"/>
              </a:lnSpc>
              <a:buNone/>
            </a:pPr>
            <a:r>
              <a:rPr lang="en-US" sz="2640" spc="17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内网离线。</a:t>
            </a:r>
            <a:endParaRPr lang="en-US" sz="264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243822"/>
            <a:ext cx="6582948" cy="97712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416393" y="4246748"/>
            <a:ext cx="4989515" cy="5150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854"/>
              </a:lnSpc>
              <a:buNone/>
            </a:pPr>
            <a:r>
              <a:rPr lang="en-US" sz="2640" b="1" spc="17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PawBench 在现成数据集、国产</a:t>
            </a:r>
            <a:endParaRPr lang="en-US" sz="2640" dirty="0"/>
          </a:p>
        </p:txBody>
      </p:sp>
      <p:sp>
        <p:nvSpPr>
          <p:cNvPr id="20" name="Text 15"/>
          <p:cNvSpPr/>
          <p:nvPr/>
        </p:nvSpPr>
        <p:spPr>
          <a:xfrm>
            <a:off x="731520" y="4736226"/>
            <a:ext cx="3461004" cy="5150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854"/>
              </a:lnSpc>
              <a:buNone/>
            </a:pPr>
            <a:r>
              <a:rPr lang="en-US" sz="2640" b="1" spc="17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化、易用性三项领先。</a:t>
            </a:r>
            <a:endParaRPr lang="en-US" sz="2640" dirty="0"/>
          </a:p>
        </p:txBody>
      </p:sp>
      <p:sp>
        <p:nvSpPr>
          <p:cNvPr id="21" name="Text 16"/>
          <p:cNvSpPr/>
          <p:nvPr/>
        </p:nvSpPr>
        <p:spPr>
          <a:xfrm>
            <a:off x="4101084" y="4736226"/>
            <a:ext cx="3544214" cy="5150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854"/>
              </a:lnSpc>
              <a:buNone/>
            </a:pPr>
            <a:r>
              <a:rPr lang="en-US" sz="2640" spc="17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加权评分 9.55，综合第</a:t>
            </a:r>
            <a:endParaRPr lang="en-US" sz="2640" dirty="0"/>
          </a:p>
        </p:txBody>
      </p:sp>
      <p:sp>
        <p:nvSpPr>
          <p:cNvPr id="22" name="Text 17"/>
          <p:cNvSpPr/>
          <p:nvPr/>
        </p:nvSpPr>
        <p:spPr>
          <a:xfrm>
            <a:off x="731520" y="5225704"/>
            <a:ext cx="4471965" cy="5150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854"/>
              </a:lnSpc>
              <a:buNone/>
            </a:pPr>
            <a:r>
              <a:rPr lang="en-US" sz="2640" spc="17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一，推荐作为公司评测方案。</a:t>
            </a:r>
            <a:endParaRPr lang="en-US" sz="2640" dirty="0"/>
          </a:p>
        </p:txBody>
      </p:sp>
      <p:sp>
        <p:nvSpPr>
          <p:cNvPr id="23" name="Shape 18"/>
          <p:cNvSpPr/>
          <p:nvPr/>
        </p:nvSpPr>
        <p:spPr>
          <a:xfrm>
            <a:off x="731520" y="6062746"/>
            <a:ext cx="1207099" cy="426750"/>
          </a:xfrm>
          <a:prstGeom prst="roundRect">
            <a:avLst>
              <a:gd name="adj" fmla="val 130396"/>
            </a:avLst>
          </a:prstGeom>
          <a:solidFill>
            <a:srgbClr val="FFFFFF">
              <a:alpha val="0"/>
            </a:srgbClr>
          </a:solidFill>
          <a:ln w="9525">
            <a:solidFill>
              <a:srgbClr val="0E110B">
                <a:alpha val="16000"/>
              </a:srgbClr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91540" y="6062746"/>
            <a:ext cx="978499" cy="4541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</a:t>
            </a:r>
            <a:endParaRPr lang="en-US" sz="1380" dirty="0"/>
          </a:p>
        </p:txBody>
      </p:sp>
      <p:sp>
        <p:nvSpPr>
          <p:cNvPr id="25" name="Shape 20"/>
          <p:cNvSpPr/>
          <p:nvPr/>
        </p:nvSpPr>
        <p:spPr>
          <a:xfrm>
            <a:off x="2045238" y="6062746"/>
            <a:ext cx="845820" cy="426750"/>
          </a:xfrm>
          <a:prstGeom prst="roundRect">
            <a:avLst>
              <a:gd name="adj" fmla="val 130396"/>
            </a:avLst>
          </a:prstGeom>
          <a:solidFill>
            <a:srgbClr val="FFFFFF">
              <a:alpha val="0"/>
            </a:srgbClr>
          </a:solidFill>
          <a:ln w="9525">
            <a:solidFill>
              <a:srgbClr val="0E110B">
                <a:alpha val="16000"/>
              </a:srgbClr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2205258" y="6062746"/>
            <a:ext cx="617220" cy="4541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国产化</a:t>
            </a:r>
            <a:endParaRPr lang="en-US" sz="1380" dirty="0"/>
          </a:p>
        </p:txBody>
      </p:sp>
      <p:sp>
        <p:nvSpPr>
          <p:cNvPr id="27" name="Shape 22"/>
          <p:cNvSpPr/>
          <p:nvPr/>
        </p:nvSpPr>
        <p:spPr>
          <a:xfrm>
            <a:off x="2997769" y="6062746"/>
            <a:ext cx="1021110" cy="426750"/>
          </a:xfrm>
          <a:prstGeom prst="roundRect">
            <a:avLst>
              <a:gd name="adj" fmla="val 130396"/>
            </a:avLst>
          </a:prstGeom>
          <a:solidFill>
            <a:srgbClr val="FFFFFF">
              <a:alpha val="0"/>
            </a:srgbClr>
          </a:solidFill>
          <a:ln w="9525">
            <a:solidFill>
              <a:srgbClr val="0E110B">
                <a:alpha val="1600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3157789" y="6062746"/>
            <a:ext cx="792510" cy="4541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离线部署</a:t>
            </a:r>
            <a:endParaRPr lang="en-US" sz="1380" dirty="0"/>
          </a:p>
        </p:txBody>
      </p:sp>
      <p:sp>
        <p:nvSpPr>
          <p:cNvPr id="29" name="Shape 24"/>
          <p:cNvSpPr/>
          <p:nvPr/>
        </p:nvSpPr>
        <p:spPr>
          <a:xfrm>
            <a:off x="4125498" y="6062746"/>
            <a:ext cx="1196310" cy="426750"/>
          </a:xfrm>
          <a:prstGeom prst="roundRect">
            <a:avLst>
              <a:gd name="adj" fmla="val 130396"/>
            </a:avLst>
          </a:prstGeom>
          <a:solidFill>
            <a:srgbClr val="FFFFFF">
              <a:alpha val="0"/>
            </a:srgbClr>
          </a:solidFill>
          <a:ln w="9525">
            <a:solidFill>
              <a:srgbClr val="0E110B">
                <a:alpha val="16000"/>
              </a:srgbClr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285518" y="6062746"/>
            <a:ext cx="967710" cy="4541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现成数据集</a:t>
            </a:r>
            <a:endParaRPr lang="en-US" sz="1380" dirty="0"/>
          </a:p>
        </p:txBody>
      </p:sp>
      <p:sp>
        <p:nvSpPr>
          <p:cNvPr id="31" name="Shape 26"/>
          <p:cNvSpPr/>
          <p:nvPr/>
        </p:nvSpPr>
        <p:spPr>
          <a:xfrm>
            <a:off x="5428518" y="6062746"/>
            <a:ext cx="1020562" cy="426750"/>
          </a:xfrm>
          <a:prstGeom prst="roundRect">
            <a:avLst>
              <a:gd name="adj" fmla="val 130396"/>
            </a:avLst>
          </a:prstGeom>
          <a:solidFill>
            <a:srgbClr val="FFFFFF">
              <a:alpha val="0"/>
            </a:srgbClr>
          </a:solidFill>
          <a:ln w="9525">
            <a:solidFill>
              <a:srgbClr val="0E110B">
                <a:alpha val="16000"/>
              </a:srgbClr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5588538" y="6062746"/>
            <a:ext cx="838810" cy="4541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150 任务</a:t>
            </a:r>
            <a:endParaRPr lang="en-US" sz="1380" dirty="0"/>
          </a:p>
        </p:txBody>
      </p:sp>
      <p:sp>
        <p:nvSpPr>
          <p:cNvPr id="33" name="Shape 28"/>
          <p:cNvSpPr/>
          <p:nvPr/>
        </p:nvSpPr>
        <p:spPr>
          <a:xfrm>
            <a:off x="731520" y="6988576"/>
            <a:ext cx="91440" cy="9144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944850" y="6885706"/>
            <a:ext cx="4535241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结论先行：推荐 PawBench 作为公司评测方案。</a:t>
            </a:r>
            <a:endParaRPr lang="en-US" sz="1620" dirty="0"/>
          </a:p>
        </p:txBody>
      </p:sp>
      <p:sp>
        <p:nvSpPr>
          <p:cNvPr id="35" name="Text 30"/>
          <p:cNvSpPr/>
          <p:nvPr/>
        </p:nvSpPr>
        <p:spPr>
          <a:xfrm>
            <a:off x="8412480" y="2286000"/>
            <a:ext cx="929488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264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六维权重</a:t>
            </a:r>
            <a:endParaRPr lang="en-US" sz="1320" dirty="0"/>
          </a:p>
        </p:txBody>
      </p:sp>
      <p:sp>
        <p:nvSpPr>
          <p:cNvPr id="36" name="Text 31"/>
          <p:cNvSpPr/>
          <p:nvPr/>
        </p:nvSpPr>
        <p:spPr>
          <a:xfrm>
            <a:off x="13201376" y="2286000"/>
            <a:ext cx="797471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66" kern="0" dirty="0">
                <a:solidFill>
                  <a:srgbClr val="B7BB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权重占比</a:t>
            </a:r>
            <a:endParaRPr lang="en-US" sz="1320" dirty="0"/>
          </a:p>
        </p:txBody>
      </p:sp>
      <p:sp>
        <p:nvSpPr>
          <p:cNvPr id="37" name="Text 32"/>
          <p:cNvSpPr/>
          <p:nvPr/>
        </p:nvSpPr>
        <p:spPr>
          <a:xfrm>
            <a:off x="8412480" y="2773650"/>
            <a:ext cx="1082010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现成数据集</a:t>
            </a:r>
            <a:endParaRPr lang="en-US" sz="1560" dirty="0"/>
          </a:p>
        </p:txBody>
      </p:sp>
      <p:sp>
        <p:nvSpPr>
          <p:cNvPr id="38" name="Text 33"/>
          <p:cNvSpPr/>
          <p:nvPr/>
        </p:nvSpPr>
        <p:spPr>
          <a:xfrm>
            <a:off x="13441406" y="2773650"/>
            <a:ext cx="548914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800" dirty="0"/>
          </a:p>
        </p:txBody>
      </p:sp>
      <p:sp>
        <p:nvSpPr>
          <p:cNvPr id="39" name="Shape 34"/>
          <p:cNvSpPr/>
          <p:nvPr/>
        </p:nvSpPr>
        <p:spPr>
          <a:xfrm>
            <a:off x="8412480" y="3147090"/>
            <a:ext cx="5486400" cy="76170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8412480" y="3147090"/>
            <a:ext cx="5486400" cy="76170"/>
          </a:xfrm>
          <a:prstGeom prst="rect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8412480" y="3375690"/>
            <a:ext cx="640080" cy="29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易用性</a:t>
            </a:r>
            <a:endParaRPr lang="en-US" sz="1440" dirty="0"/>
          </a:p>
        </p:txBody>
      </p:sp>
      <p:sp>
        <p:nvSpPr>
          <p:cNvPr id="42" name="Text 37"/>
          <p:cNvSpPr/>
          <p:nvPr/>
        </p:nvSpPr>
        <p:spPr>
          <a:xfrm>
            <a:off x="13502396" y="3390870"/>
            <a:ext cx="487924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560" dirty="0"/>
          </a:p>
        </p:txBody>
      </p:sp>
      <p:sp>
        <p:nvSpPr>
          <p:cNvPr id="43" name="Shape 38"/>
          <p:cNvSpPr/>
          <p:nvPr/>
        </p:nvSpPr>
        <p:spPr>
          <a:xfrm>
            <a:off x="8412480" y="3726180"/>
            <a:ext cx="5486400" cy="76170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8412480" y="3726180"/>
            <a:ext cx="3657600" cy="76170"/>
          </a:xfrm>
          <a:prstGeom prst="rect">
            <a:avLst/>
          </a:prstGeom>
          <a:solidFill>
            <a:srgbClr val="0E11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412480" y="3954780"/>
            <a:ext cx="640080" cy="29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国产化</a:t>
            </a:r>
            <a:endParaRPr lang="en-US" sz="1440" dirty="0"/>
          </a:p>
        </p:txBody>
      </p:sp>
      <p:sp>
        <p:nvSpPr>
          <p:cNvPr id="46" name="Text 41"/>
          <p:cNvSpPr/>
          <p:nvPr/>
        </p:nvSpPr>
        <p:spPr>
          <a:xfrm>
            <a:off x="13502396" y="3970050"/>
            <a:ext cx="487924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560" dirty="0"/>
          </a:p>
        </p:txBody>
      </p:sp>
      <p:sp>
        <p:nvSpPr>
          <p:cNvPr id="47" name="Shape 42"/>
          <p:cNvSpPr/>
          <p:nvPr/>
        </p:nvSpPr>
        <p:spPr>
          <a:xfrm>
            <a:off x="8412480" y="4305270"/>
            <a:ext cx="5486400" cy="76170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8412480" y="4305270"/>
            <a:ext cx="2743200" cy="76170"/>
          </a:xfrm>
          <a:prstGeom prst="rect">
            <a:avLst/>
          </a:prstGeom>
          <a:solidFill>
            <a:srgbClr val="9AA08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8412480" y="4533870"/>
            <a:ext cx="640080" cy="29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扩展性</a:t>
            </a:r>
            <a:endParaRPr lang="en-US" sz="1440" dirty="0"/>
          </a:p>
        </p:txBody>
      </p:sp>
      <p:sp>
        <p:nvSpPr>
          <p:cNvPr id="50" name="Text 45"/>
          <p:cNvSpPr/>
          <p:nvPr/>
        </p:nvSpPr>
        <p:spPr>
          <a:xfrm>
            <a:off x="13502396" y="4549140"/>
            <a:ext cx="487924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560" dirty="0"/>
          </a:p>
        </p:txBody>
      </p:sp>
      <p:sp>
        <p:nvSpPr>
          <p:cNvPr id="51" name="Shape 46"/>
          <p:cNvSpPr/>
          <p:nvPr/>
        </p:nvSpPr>
        <p:spPr>
          <a:xfrm>
            <a:off x="8412480" y="4884450"/>
            <a:ext cx="5486400" cy="76170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7"/>
          <p:cNvSpPr/>
          <p:nvPr/>
        </p:nvSpPr>
        <p:spPr>
          <a:xfrm>
            <a:off x="8412480" y="4884450"/>
            <a:ext cx="2743200" cy="76170"/>
          </a:xfrm>
          <a:prstGeom prst="rect">
            <a:avLst/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8412480" y="5113050"/>
            <a:ext cx="1110173" cy="29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活跃度+开源</a:t>
            </a:r>
            <a:endParaRPr lang="en-US" sz="1440" dirty="0"/>
          </a:p>
        </p:txBody>
      </p:sp>
      <p:sp>
        <p:nvSpPr>
          <p:cNvPr id="54" name="Text 49"/>
          <p:cNvSpPr/>
          <p:nvPr/>
        </p:nvSpPr>
        <p:spPr>
          <a:xfrm>
            <a:off x="13502396" y="5128230"/>
            <a:ext cx="487924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560" dirty="0"/>
          </a:p>
        </p:txBody>
      </p:sp>
      <p:sp>
        <p:nvSpPr>
          <p:cNvPr id="55" name="Shape 50"/>
          <p:cNvSpPr/>
          <p:nvPr/>
        </p:nvSpPr>
        <p:spPr>
          <a:xfrm>
            <a:off x="8412480" y="5463540"/>
            <a:ext cx="5486400" cy="76170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8412480" y="5463540"/>
            <a:ext cx="3657600" cy="76170"/>
          </a:xfrm>
          <a:prstGeom prst="rect">
            <a:avLst/>
          </a:prstGeom>
          <a:solidFill>
            <a:srgbClr val="B7BB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974050"/>
            <a:ext cx="3166110" cy="1600200"/>
          </a:xfrm>
          <a:prstGeom prst="rect">
            <a:avLst/>
          </a:prstGeom>
        </p:spPr>
      </p:pic>
      <p:sp>
        <p:nvSpPr>
          <p:cNvPr id="58" name="Text 52"/>
          <p:cNvSpPr/>
          <p:nvPr/>
        </p:nvSpPr>
        <p:spPr>
          <a:xfrm>
            <a:off x="982980" y="6217920"/>
            <a:ext cx="829218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60" b="1" spc="158" kern="0" dirty="0">
                <a:solidFill>
                  <a:srgbClr val="0E110B">
                    <a:alpha val="6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候选工具</a:t>
            </a:r>
            <a:endParaRPr lang="en-US" sz="1260" dirty="0"/>
          </a:p>
        </p:txBody>
      </p:sp>
      <p:sp>
        <p:nvSpPr>
          <p:cNvPr id="59" name="Text 53"/>
          <p:cNvSpPr/>
          <p:nvPr/>
        </p:nvSpPr>
        <p:spPr>
          <a:xfrm>
            <a:off x="959937" y="6464991"/>
            <a:ext cx="929030" cy="8503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133"/>
              </a:lnSpc>
              <a:buNone/>
            </a:pPr>
            <a:r>
              <a:rPr lang="en-US" sz="504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5040" dirty="0"/>
          </a:p>
        </p:txBody>
      </p:sp>
      <p:sp>
        <p:nvSpPr>
          <p:cNvPr id="60" name="Text 54"/>
          <p:cNvSpPr/>
          <p:nvPr/>
        </p:nvSpPr>
        <p:spPr>
          <a:xfrm>
            <a:off x="1664025" y="6442771"/>
            <a:ext cx="861822" cy="8503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133"/>
              </a:lnSpc>
              <a:buNone/>
            </a:pPr>
            <a:r>
              <a:rPr lang="en-US" sz="5040" b="1" dirty="0">
                <a:solidFill>
                  <a:srgbClr val="0E110B">
                    <a:alpha val="4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款</a:t>
            </a:r>
            <a:endParaRPr lang="en-US" sz="5040" dirty="0"/>
          </a:p>
        </p:txBody>
      </p:sp>
      <p:sp>
        <p:nvSpPr>
          <p:cNvPr id="61" name="Text 55"/>
          <p:cNvSpPr/>
          <p:nvPr/>
        </p:nvSpPr>
        <p:spPr>
          <a:xfrm>
            <a:off x="2380915" y="6886804"/>
            <a:ext cx="294071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512" b="1" dirty="0">
                <a:solidFill>
                  <a:srgbClr val="0E110B">
                    <a:alpha val="6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款</a:t>
            </a:r>
            <a:endParaRPr lang="en-US" sz="1512" dirty="0"/>
          </a:p>
        </p:txBody>
      </p:sp>
      <p:pic>
        <p:nvPicPr>
          <p:cNvPr id="6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5240" y="6019770"/>
            <a:ext cx="3166110" cy="1600200"/>
          </a:xfrm>
          <a:prstGeom prst="rect">
            <a:avLst/>
          </a:prstGeom>
        </p:spPr>
      </p:pic>
      <p:sp>
        <p:nvSpPr>
          <p:cNvPr id="63" name="Text 56"/>
          <p:cNvSpPr/>
          <p:nvPr/>
        </p:nvSpPr>
        <p:spPr>
          <a:xfrm>
            <a:off x="4316700" y="6263640"/>
            <a:ext cx="829218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60" b="1" spc="158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评测维度</a:t>
            </a:r>
            <a:endParaRPr lang="en-US" sz="1260" dirty="0"/>
          </a:p>
        </p:txBody>
      </p:sp>
      <p:sp>
        <p:nvSpPr>
          <p:cNvPr id="64" name="Text 57"/>
          <p:cNvSpPr/>
          <p:nvPr/>
        </p:nvSpPr>
        <p:spPr>
          <a:xfrm>
            <a:off x="4293657" y="6510711"/>
            <a:ext cx="617403" cy="8503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133"/>
              </a:lnSpc>
              <a:buNone/>
            </a:pPr>
            <a:r>
              <a:rPr lang="en-US" sz="504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5040" dirty="0"/>
          </a:p>
        </p:txBody>
      </p:sp>
      <p:sp>
        <p:nvSpPr>
          <p:cNvPr id="65" name="Text 58"/>
          <p:cNvSpPr/>
          <p:nvPr/>
        </p:nvSpPr>
        <p:spPr>
          <a:xfrm>
            <a:off x="4689318" y="6488491"/>
            <a:ext cx="861822" cy="8503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133"/>
              </a:lnSpc>
              <a:buNone/>
            </a:pPr>
            <a:r>
              <a:rPr lang="en-US" sz="5040" b="1" dirty="0">
                <a:solidFill>
                  <a:srgbClr val="B7BB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</a:t>
            </a:r>
            <a:endParaRPr lang="en-US" sz="5040" dirty="0"/>
          </a:p>
        </p:txBody>
      </p:sp>
      <p:sp>
        <p:nvSpPr>
          <p:cNvPr id="66" name="Text 59"/>
          <p:cNvSpPr/>
          <p:nvPr/>
        </p:nvSpPr>
        <p:spPr>
          <a:xfrm>
            <a:off x="5406116" y="6932524"/>
            <a:ext cx="294071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512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</a:t>
            </a:r>
            <a:endParaRPr lang="en-US" sz="1512" dirty="0"/>
          </a:p>
        </p:txBody>
      </p:sp>
      <p:pic>
        <p:nvPicPr>
          <p:cNvPr id="6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9050" y="6019770"/>
            <a:ext cx="3166110" cy="1600200"/>
          </a:xfrm>
          <a:prstGeom prst="rect">
            <a:avLst/>
          </a:prstGeom>
        </p:spPr>
      </p:pic>
      <p:sp>
        <p:nvSpPr>
          <p:cNvPr id="68" name="Text 60"/>
          <p:cNvSpPr/>
          <p:nvPr/>
        </p:nvSpPr>
        <p:spPr>
          <a:xfrm>
            <a:off x="7650510" y="6263640"/>
            <a:ext cx="1637519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60" b="1" spc="158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PAWBENCH 任务</a:t>
            </a:r>
            <a:endParaRPr lang="en-US" sz="1260" dirty="0"/>
          </a:p>
        </p:txBody>
      </p:sp>
      <p:sp>
        <p:nvSpPr>
          <p:cNvPr id="69" name="Text 61"/>
          <p:cNvSpPr/>
          <p:nvPr/>
        </p:nvSpPr>
        <p:spPr>
          <a:xfrm>
            <a:off x="7627376" y="6510711"/>
            <a:ext cx="1338682" cy="8503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133"/>
              </a:lnSpc>
              <a:buNone/>
            </a:pPr>
            <a:r>
              <a:rPr lang="en-US" sz="504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5040" dirty="0"/>
          </a:p>
        </p:txBody>
      </p:sp>
      <p:sp>
        <p:nvSpPr>
          <p:cNvPr id="70" name="Text 62"/>
          <p:cNvSpPr/>
          <p:nvPr/>
        </p:nvSpPr>
        <p:spPr>
          <a:xfrm>
            <a:off x="8715604" y="6488491"/>
            <a:ext cx="861822" cy="8503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133"/>
              </a:lnSpc>
              <a:buNone/>
            </a:pPr>
            <a:r>
              <a:rPr lang="en-US" sz="5040" b="1" dirty="0">
                <a:solidFill>
                  <a:srgbClr val="B7BB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</a:t>
            </a:r>
            <a:endParaRPr lang="en-US" sz="5040" dirty="0"/>
          </a:p>
        </p:txBody>
      </p:sp>
      <p:sp>
        <p:nvSpPr>
          <p:cNvPr id="71" name="Text 63"/>
          <p:cNvSpPr/>
          <p:nvPr/>
        </p:nvSpPr>
        <p:spPr>
          <a:xfrm>
            <a:off x="9432493" y="6932524"/>
            <a:ext cx="294071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512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</a:t>
            </a:r>
            <a:endParaRPr lang="en-US" sz="1512" dirty="0"/>
          </a:p>
        </p:txBody>
      </p:sp>
      <p:pic>
        <p:nvPicPr>
          <p:cNvPr id="7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32770" y="6019770"/>
            <a:ext cx="3166110" cy="1600200"/>
          </a:xfrm>
          <a:prstGeom prst="rect">
            <a:avLst/>
          </a:prstGeom>
        </p:spPr>
      </p:pic>
      <p:sp>
        <p:nvSpPr>
          <p:cNvPr id="73" name="Text 64"/>
          <p:cNvSpPr/>
          <p:nvPr/>
        </p:nvSpPr>
        <p:spPr>
          <a:xfrm>
            <a:off x="10984230" y="6263640"/>
            <a:ext cx="829218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60" b="1" spc="158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加权总分</a:t>
            </a:r>
            <a:endParaRPr lang="en-US" sz="1260" dirty="0"/>
          </a:p>
        </p:txBody>
      </p:sp>
      <p:sp>
        <p:nvSpPr>
          <p:cNvPr id="74" name="Text 65"/>
          <p:cNvSpPr/>
          <p:nvPr/>
        </p:nvSpPr>
        <p:spPr>
          <a:xfrm>
            <a:off x="10961187" y="6510711"/>
            <a:ext cx="1690726" cy="8503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133"/>
              </a:lnSpc>
              <a:buNone/>
            </a:pPr>
            <a:r>
              <a:rPr lang="en-US" sz="504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9.55</a:t>
            </a:r>
            <a:endParaRPr lang="en-US" sz="5040" dirty="0"/>
          </a:p>
        </p:txBody>
      </p:sp>
      <p:sp>
        <p:nvSpPr>
          <p:cNvPr id="75" name="Text 66"/>
          <p:cNvSpPr/>
          <p:nvPr/>
        </p:nvSpPr>
        <p:spPr>
          <a:xfrm>
            <a:off x="12309196" y="6488491"/>
            <a:ext cx="861822" cy="8503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133"/>
              </a:lnSpc>
              <a:buNone/>
            </a:pPr>
            <a:r>
              <a:rPr lang="en-US" sz="5040" b="1" dirty="0">
                <a:solidFill>
                  <a:srgbClr val="B7BB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</a:t>
            </a:r>
            <a:endParaRPr lang="en-US" sz="5040" dirty="0"/>
          </a:p>
        </p:txBody>
      </p:sp>
      <p:sp>
        <p:nvSpPr>
          <p:cNvPr id="76" name="Text 67"/>
          <p:cNvSpPr/>
          <p:nvPr/>
        </p:nvSpPr>
        <p:spPr>
          <a:xfrm>
            <a:off x="13025994" y="6932524"/>
            <a:ext cx="294071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512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</a:t>
            </a:r>
            <a:endParaRPr lang="en-US" sz="151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640080"/>
            <a:ext cx="13167360" cy="126205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90542"/>
            <a:ext cx="1316736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0080"/>
            <a:ext cx="265176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396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731520" y="1077889"/>
            <a:ext cx="2651760" cy="64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838"/>
              </a:lnSpc>
              <a:buNone/>
            </a:pPr>
            <a:r>
              <a:rPr lang="en-US" sz="504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内容导航</a:t>
            </a:r>
            <a:endParaRPr lang="en-US" sz="5040" dirty="0"/>
          </a:p>
        </p:txBody>
      </p:sp>
      <p:sp>
        <p:nvSpPr>
          <p:cNvPr id="8" name="Text 6"/>
          <p:cNvSpPr/>
          <p:nvPr/>
        </p:nvSpPr>
        <p:spPr>
          <a:xfrm>
            <a:off x="10012680" y="1324828"/>
            <a:ext cx="397764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从选型背景到落地建议的完整评估路径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074865"/>
            <a:ext cx="902814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920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本报告按背景、候选、框架、对比、评分、结论六部分展开。</a:t>
            </a:r>
            <a:endParaRPr lang="en-US" sz="192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76570"/>
            <a:ext cx="3166110" cy="17830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67710" y="3512850"/>
            <a:ext cx="402336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6D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67710" y="4124767"/>
            <a:ext cx="2785080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选型背景</a:t>
            </a:r>
            <a:endParaRPr lang="en-US" sz="2160" dirty="0"/>
          </a:p>
        </p:txBody>
      </p:sp>
      <p:sp>
        <p:nvSpPr>
          <p:cNvPr id="13" name="Text 10"/>
          <p:cNvSpPr/>
          <p:nvPr/>
        </p:nvSpPr>
        <p:spPr>
          <a:xfrm>
            <a:off x="967710" y="4594860"/>
            <a:ext cx="278508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spc="210" kern="0" dirty="0">
                <a:solidFill>
                  <a:srgbClr val="838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12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5240" y="3230850"/>
            <a:ext cx="3166110" cy="17830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764378" y="4125773"/>
            <a:ext cx="1742846" cy="14904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0"/>
              </a:lnSpc>
              <a:buNone/>
            </a:pPr>
            <a:r>
              <a:rPr lang="en-US" sz="9000" b="1" dirty="0">
                <a:solidFill>
                  <a:srgbClr val="86D62B">
                    <a:alpha val="1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0" dirty="0"/>
          </a:p>
        </p:txBody>
      </p:sp>
      <p:sp>
        <p:nvSpPr>
          <p:cNvPr id="16" name="Text 12"/>
          <p:cNvSpPr/>
          <p:nvPr/>
        </p:nvSpPr>
        <p:spPr>
          <a:xfrm>
            <a:off x="6630589" y="3467130"/>
            <a:ext cx="37581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60" b="1" spc="144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</a:t>
            </a:r>
            <a:endParaRPr lang="en-US" sz="960" dirty="0"/>
          </a:p>
        </p:txBody>
      </p:sp>
      <p:sp>
        <p:nvSpPr>
          <p:cNvPr id="17" name="Text 13"/>
          <p:cNvSpPr/>
          <p:nvPr/>
        </p:nvSpPr>
        <p:spPr>
          <a:xfrm>
            <a:off x="4301520" y="3467130"/>
            <a:ext cx="422453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6D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4301520" y="4079047"/>
            <a:ext cx="2785080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候选工具概览</a:t>
            </a:r>
            <a:endParaRPr lang="en-US" sz="2160" dirty="0"/>
          </a:p>
        </p:txBody>
      </p:sp>
      <p:sp>
        <p:nvSpPr>
          <p:cNvPr id="19" name="Text 15"/>
          <p:cNvSpPr/>
          <p:nvPr/>
        </p:nvSpPr>
        <p:spPr>
          <a:xfrm>
            <a:off x="4301520" y="4549140"/>
            <a:ext cx="278508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spc="210" kern="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CANDIDATES</a:t>
            </a:r>
            <a:endParaRPr lang="en-US" sz="12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050" y="3276570"/>
            <a:ext cx="3166110" cy="17830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635240" y="3512850"/>
            <a:ext cx="425653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6D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7635240" y="4124767"/>
            <a:ext cx="2785080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三维评测框架</a:t>
            </a:r>
            <a:endParaRPr lang="en-US" sz="2160" dirty="0"/>
          </a:p>
        </p:txBody>
      </p:sp>
      <p:sp>
        <p:nvSpPr>
          <p:cNvPr id="23" name="Text 18"/>
          <p:cNvSpPr/>
          <p:nvPr/>
        </p:nvSpPr>
        <p:spPr>
          <a:xfrm>
            <a:off x="7635240" y="4594860"/>
            <a:ext cx="278508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spc="210" kern="0" dirty="0">
                <a:solidFill>
                  <a:srgbClr val="838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12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2770" y="3276570"/>
            <a:ext cx="3166110" cy="17830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968960" y="3512850"/>
            <a:ext cx="432145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6D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10968960" y="4124767"/>
            <a:ext cx="2785080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六维逐项对比</a:t>
            </a:r>
            <a:endParaRPr lang="en-US" sz="2160" dirty="0"/>
          </a:p>
        </p:txBody>
      </p:sp>
      <p:sp>
        <p:nvSpPr>
          <p:cNvPr id="27" name="Text 21"/>
          <p:cNvSpPr/>
          <p:nvPr/>
        </p:nvSpPr>
        <p:spPr>
          <a:xfrm>
            <a:off x="10968960" y="4594860"/>
            <a:ext cx="278508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spc="210" kern="0" dirty="0">
                <a:solidFill>
                  <a:srgbClr val="838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DIMENSIONS</a:t>
            </a:r>
            <a:endParaRPr lang="en-US" sz="120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227350"/>
            <a:ext cx="3166110" cy="178308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67710" y="5463540"/>
            <a:ext cx="423916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6D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30" name="Text 23"/>
          <p:cNvSpPr/>
          <p:nvPr/>
        </p:nvSpPr>
        <p:spPr>
          <a:xfrm>
            <a:off x="967710" y="6075548"/>
            <a:ext cx="2785080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综合评分矩阵</a:t>
            </a:r>
            <a:endParaRPr lang="en-US" sz="2160" dirty="0"/>
          </a:p>
        </p:txBody>
      </p:sp>
      <p:sp>
        <p:nvSpPr>
          <p:cNvPr id="31" name="Text 24"/>
          <p:cNvSpPr/>
          <p:nvPr/>
        </p:nvSpPr>
        <p:spPr>
          <a:xfrm>
            <a:off x="967710" y="6545550"/>
            <a:ext cx="278508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spc="210" kern="0" dirty="0">
                <a:solidFill>
                  <a:srgbClr val="838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</a:t>
            </a:r>
            <a:endParaRPr lang="en-US" sz="120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5240" y="5227350"/>
            <a:ext cx="3166110" cy="178308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4301520" y="5463540"/>
            <a:ext cx="427939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6D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34" name="Text 26"/>
          <p:cNvSpPr/>
          <p:nvPr/>
        </p:nvSpPr>
        <p:spPr>
          <a:xfrm>
            <a:off x="4301520" y="6075548"/>
            <a:ext cx="2785080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推荐结论</a:t>
            </a:r>
            <a:endParaRPr lang="en-US" sz="2160" dirty="0"/>
          </a:p>
        </p:txBody>
      </p:sp>
      <p:sp>
        <p:nvSpPr>
          <p:cNvPr id="35" name="Text 27"/>
          <p:cNvSpPr/>
          <p:nvPr/>
        </p:nvSpPr>
        <p:spPr>
          <a:xfrm>
            <a:off x="4301520" y="6545550"/>
            <a:ext cx="278508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spc="210" kern="0" dirty="0">
                <a:solidFill>
                  <a:srgbClr val="838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200" dirty="0"/>
          </a:p>
        </p:txBody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99050" y="5227350"/>
            <a:ext cx="3166110" cy="178308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635240" y="5463540"/>
            <a:ext cx="408737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6D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800" dirty="0"/>
          </a:p>
        </p:txBody>
      </p:sp>
      <p:sp>
        <p:nvSpPr>
          <p:cNvPr id="38" name="Text 29"/>
          <p:cNvSpPr/>
          <p:nvPr/>
        </p:nvSpPr>
        <p:spPr>
          <a:xfrm>
            <a:off x="7635240" y="6075548"/>
            <a:ext cx="2785080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风险与限制</a:t>
            </a:r>
            <a:endParaRPr lang="en-US" sz="2160" dirty="0"/>
          </a:p>
        </p:txBody>
      </p:sp>
      <p:sp>
        <p:nvSpPr>
          <p:cNvPr id="39" name="Text 30"/>
          <p:cNvSpPr/>
          <p:nvPr/>
        </p:nvSpPr>
        <p:spPr>
          <a:xfrm>
            <a:off x="7635240" y="6545550"/>
            <a:ext cx="278508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spc="210" kern="0" dirty="0">
                <a:solidFill>
                  <a:srgbClr val="838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</a:t>
            </a:r>
            <a:endParaRPr lang="en-US" sz="1200" dirty="0"/>
          </a:p>
        </p:txBody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32770" y="5227350"/>
            <a:ext cx="3166110" cy="178308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10968960" y="5463540"/>
            <a:ext cx="423916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6D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800" dirty="0"/>
          </a:p>
        </p:txBody>
      </p:sp>
      <p:sp>
        <p:nvSpPr>
          <p:cNvPr id="42" name="Text 32"/>
          <p:cNvSpPr/>
          <p:nvPr/>
        </p:nvSpPr>
        <p:spPr>
          <a:xfrm>
            <a:off x="10968960" y="6075548"/>
            <a:ext cx="2785080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参考资源</a:t>
            </a:r>
            <a:endParaRPr lang="en-US" sz="2160" dirty="0"/>
          </a:p>
        </p:txBody>
      </p:sp>
      <p:sp>
        <p:nvSpPr>
          <p:cNvPr id="43" name="Text 33"/>
          <p:cNvSpPr/>
          <p:nvPr/>
        </p:nvSpPr>
        <p:spPr>
          <a:xfrm>
            <a:off x="10968960" y="6545550"/>
            <a:ext cx="278508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spc="210" kern="0" dirty="0">
                <a:solidFill>
                  <a:srgbClr val="838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44" name="Shape 34"/>
          <p:cNvSpPr/>
          <p:nvPr/>
        </p:nvSpPr>
        <p:spPr>
          <a:xfrm>
            <a:off x="731520" y="7501920"/>
            <a:ext cx="91440" cy="9144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35"/>
          <p:cNvSpPr/>
          <p:nvPr/>
        </p:nvSpPr>
        <p:spPr>
          <a:xfrm>
            <a:off x="944850" y="7399050"/>
            <a:ext cx="4535241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最终结论：推荐 PawBench 作为公司评测方案。</a:t>
            </a:r>
            <a:endParaRPr lang="en-US" sz="1620" dirty="0"/>
          </a:p>
        </p:txBody>
      </p:sp>
      <p:sp>
        <p:nvSpPr>
          <p:cNvPr id="46" name="Shape 36"/>
          <p:cNvSpPr/>
          <p:nvPr/>
        </p:nvSpPr>
        <p:spPr>
          <a:xfrm>
            <a:off x="11765310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37"/>
          <p:cNvSpPr/>
          <p:nvPr/>
        </p:nvSpPr>
        <p:spPr>
          <a:xfrm>
            <a:off x="11819352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38"/>
          <p:cNvSpPr/>
          <p:nvPr/>
        </p:nvSpPr>
        <p:spPr>
          <a:xfrm>
            <a:off x="11873484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39"/>
          <p:cNvSpPr/>
          <p:nvPr/>
        </p:nvSpPr>
        <p:spPr>
          <a:xfrm>
            <a:off x="11927525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0"/>
          <p:cNvSpPr/>
          <p:nvPr/>
        </p:nvSpPr>
        <p:spPr>
          <a:xfrm>
            <a:off x="11981749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1"/>
          <p:cNvSpPr/>
          <p:nvPr/>
        </p:nvSpPr>
        <p:spPr>
          <a:xfrm>
            <a:off x="12035790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2"/>
          <p:cNvSpPr/>
          <p:nvPr/>
        </p:nvSpPr>
        <p:spPr>
          <a:xfrm>
            <a:off x="12089922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43"/>
          <p:cNvSpPr/>
          <p:nvPr/>
        </p:nvSpPr>
        <p:spPr>
          <a:xfrm>
            <a:off x="12144055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44"/>
          <p:cNvSpPr/>
          <p:nvPr/>
        </p:nvSpPr>
        <p:spPr>
          <a:xfrm>
            <a:off x="12198187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45"/>
          <p:cNvSpPr/>
          <p:nvPr/>
        </p:nvSpPr>
        <p:spPr>
          <a:xfrm>
            <a:off x="12252228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12306452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47"/>
          <p:cNvSpPr/>
          <p:nvPr/>
        </p:nvSpPr>
        <p:spPr>
          <a:xfrm>
            <a:off x="12360493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48"/>
          <p:cNvSpPr/>
          <p:nvPr/>
        </p:nvSpPr>
        <p:spPr>
          <a:xfrm>
            <a:off x="12414626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49"/>
          <p:cNvSpPr/>
          <p:nvPr/>
        </p:nvSpPr>
        <p:spPr>
          <a:xfrm>
            <a:off x="12468667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0"/>
          <p:cNvSpPr/>
          <p:nvPr/>
        </p:nvSpPr>
        <p:spPr>
          <a:xfrm>
            <a:off x="12522891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1"/>
          <p:cNvSpPr/>
          <p:nvPr/>
        </p:nvSpPr>
        <p:spPr>
          <a:xfrm>
            <a:off x="12576932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2"/>
          <p:cNvSpPr/>
          <p:nvPr/>
        </p:nvSpPr>
        <p:spPr>
          <a:xfrm>
            <a:off x="12631064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53"/>
          <p:cNvSpPr/>
          <p:nvPr/>
        </p:nvSpPr>
        <p:spPr>
          <a:xfrm>
            <a:off x="12685197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54"/>
          <p:cNvSpPr/>
          <p:nvPr/>
        </p:nvSpPr>
        <p:spPr>
          <a:xfrm>
            <a:off x="12739329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55"/>
          <p:cNvSpPr/>
          <p:nvPr/>
        </p:nvSpPr>
        <p:spPr>
          <a:xfrm>
            <a:off x="12793370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56"/>
          <p:cNvSpPr/>
          <p:nvPr/>
        </p:nvSpPr>
        <p:spPr>
          <a:xfrm>
            <a:off x="12847594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57"/>
          <p:cNvSpPr/>
          <p:nvPr/>
        </p:nvSpPr>
        <p:spPr>
          <a:xfrm>
            <a:off x="12901635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58"/>
          <p:cNvSpPr/>
          <p:nvPr/>
        </p:nvSpPr>
        <p:spPr>
          <a:xfrm>
            <a:off x="12955768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59"/>
          <p:cNvSpPr/>
          <p:nvPr/>
        </p:nvSpPr>
        <p:spPr>
          <a:xfrm>
            <a:off x="13009809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0"/>
          <p:cNvSpPr/>
          <p:nvPr/>
        </p:nvSpPr>
        <p:spPr>
          <a:xfrm>
            <a:off x="13064033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1"/>
          <p:cNvSpPr/>
          <p:nvPr/>
        </p:nvSpPr>
        <p:spPr>
          <a:xfrm>
            <a:off x="13118074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62"/>
          <p:cNvSpPr/>
          <p:nvPr/>
        </p:nvSpPr>
        <p:spPr>
          <a:xfrm>
            <a:off x="13172206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63"/>
          <p:cNvSpPr/>
          <p:nvPr/>
        </p:nvSpPr>
        <p:spPr>
          <a:xfrm>
            <a:off x="13226339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64"/>
          <p:cNvSpPr/>
          <p:nvPr/>
        </p:nvSpPr>
        <p:spPr>
          <a:xfrm>
            <a:off x="13280471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65"/>
          <p:cNvSpPr/>
          <p:nvPr/>
        </p:nvSpPr>
        <p:spPr>
          <a:xfrm>
            <a:off x="13334512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66"/>
          <p:cNvSpPr/>
          <p:nvPr/>
        </p:nvSpPr>
        <p:spPr>
          <a:xfrm>
            <a:off x="13388736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67"/>
          <p:cNvSpPr/>
          <p:nvPr/>
        </p:nvSpPr>
        <p:spPr>
          <a:xfrm>
            <a:off x="13442777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68"/>
          <p:cNvSpPr/>
          <p:nvPr/>
        </p:nvSpPr>
        <p:spPr>
          <a:xfrm>
            <a:off x="13496910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69"/>
          <p:cNvSpPr/>
          <p:nvPr/>
        </p:nvSpPr>
        <p:spPr>
          <a:xfrm>
            <a:off x="13550951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70"/>
          <p:cNvSpPr/>
          <p:nvPr/>
        </p:nvSpPr>
        <p:spPr>
          <a:xfrm>
            <a:off x="13604992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1"/>
          <p:cNvSpPr/>
          <p:nvPr/>
        </p:nvSpPr>
        <p:spPr>
          <a:xfrm>
            <a:off x="13659124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72"/>
          <p:cNvSpPr/>
          <p:nvPr/>
        </p:nvSpPr>
        <p:spPr>
          <a:xfrm>
            <a:off x="13713165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Shape 73"/>
          <p:cNvSpPr/>
          <p:nvPr/>
        </p:nvSpPr>
        <p:spPr>
          <a:xfrm>
            <a:off x="13767206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74"/>
          <p:cNvSpPr/>
          <p:nvPr/>
        </p:nvSpPr>
        <p:spPr>
          <a:xfrm>
            <a:off x="13821247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75"/>
          <p:cNvSpPr/>
          <p:nvPr/>
        </p:nvSpPr>
        <p:spPr>
          <a:xfrm>
            <a:off x="13875288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658277"/>
            <a:ext cx="7315200" cy="576072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2133570"/>
            <a:ext cx="3962370" cy="396237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14400" y="2183587"/>
            <a:ext cx="487650" cy="15270"/>
          </a:xfrm>
          <a:prstGeom prst="rect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539210" y="2088398"/>
            <a:ext cx="1148029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b="1" spc="504" kern="0" dirty="0">
                <a:solidFill>
                  <a:srgbClr val="86D6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</a:t>
            </a:r>
            <a:endParaRPr lang="en-US" sz="1440" dirty="0"/>
          </a:p>
        </p:txBody>
      </p:sp>
      <p:sp>
        <p:nvSpPr>
          <p:cNvPr id="8" name="Text 4"/>
          <p:cNvSpPr/>
          <p:nvPr/>
        </p:nvSpPr>
        <p:spPr>
          <a:xfrm>
            <a:off x="2710739" y="2073128"/>
            <a:ext cx="455828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b="1" spc="504" kern="0" dirty="0">
                <a:solidFill>
                  <a:srgbClr val="86D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40" dirty="0"/>
          </a:p>
        </p:txBody>
      </p:sp>
      <p:sp>
        <p:nvSpPr>
          <p:cNvPr id="9" name="Text 5"/>
          <p:cNvSpPr/>
          <p:nvPr/>
        </p:nvSpPr>
        <p:spPr>
          <a:xfrm>
            <a:off x="914400" y="2595587"/>
            <a:ext cx="12893040" cy="10874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347"/>
              </a:lnSpc>
              <a:buNone/>
            </a:pPr>
            <a:r>
              <a:rPr lang="en-US" sz="8880" b="1" spc="-111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选型背景与诉求</a:t>
            </a:r>
            <a:endParaRPr lang="en-US" sz="8880" dirty="0"/>
          </a:p>
        </p:txBody>
      </p:sp>
      <p:sp>
        <p:nvSpPr>
          <p:cNvPr id="10" name="Text 6"/>
          <p:cNvSpPr/>
          <p:nvPr/>
        </p:nvSpPr>
        <p:spPr>
          <a:xfrm>
            <a:off x="914400" y="3882085"/>
            <a:ext cx="4267230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为什么需要一套 Agent 评测工具</a:t>
            </a:r>
            <a:endParaRPr lang="en-US" sz="2280" dirty="0"/>
          </a:p>
        </p:txBody>
      </p:sp>
      <p:sp>
        <p:nvSpPr>
          <p:cNvPr id="11" name="Text 7"/>
          <p:cNvSpPr/>
          <p:nvPr/>
        </p:nvSpPr>
        <p:spPr>
          <a:xfrm>
            <a:off x="914400" y="4489521"/>
            <a:ext cx="75177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620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公司正私有化部署 OpenClaw，需可量化、可复现的 Agent 能力评测；同时受国产</a:t>
            </a:r>
            <a:endParaRPr lang="en-US" sz="1620" dirty="0"/>
          </a:p>
        </p:txBody>
      </p:sp>
      <p:sp>
        <p:nvSpPr>
          <p:cNvPr id="12" name="Text 8"/>
          <p:cNvSpPr/>
          <p:nvPr/>
        </p:nvSpPr>
        <p:spPr>
          <a:xfrm>
            <a:off x="914400" y="4798131"/>
            <a:ext cx="19431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620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化与内网离线约束。</a:t>
            </a:r>
            <a:endParaRPr lang="en-US" sz="1620" dirty="0"/>
          </a:p>
        </p:txBody>
      </p:sp>
      <p:sp>
        <p:nvSpPr>
          <p:cNvPr id="13" name="Shape 9"/>
          <p:cNvSpPr/>
          <p:nvPr/>
        </p:nvSpPr>
        <p:spPr>
          <a:xfrm>
            <a:off x="914400" y="5502951"/>
            <a:ext cx="1612362" cy="510510"/>
          </a:xfrm>
          <a:prstGeom prst="roundRect">
            <a:avLst>
              <a:gd name="adj" fmla="val 109002"/>
            </a:avLst>
          </a:prstGeom>
          <a:solidFill>
            <a:srgbClr val="FFFFFF">
              <a:alpha val="0"/>
            </a:srgbClr>
          </a:solidFill>
          <a:ln w="9525">
            <a:solidFill>
              <a:srgbClr val="0E110B">
                <a:alpha val="10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14400" y="5502951"/>
            <a:ext cx="76170" cy="7617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303020" y="5502951"/>
            <a:ext cx="1094171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6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</a:t>
            </a:r>
            <a:endParaRPr lang="en-US" sz="1560" dirty="0"/>
          </a:p>
        </p:txBody>
      </p:sp>
      <p:sp>
        <p:nvSpPr>
          <p:cNvPr id="16" name="Shape 12"/>
          <p:cNvSpPr/>
          <p:nvPr/>
        </p:nvSpPr>
        <p:spPr>
          <a:xfrm>
            <a:off x="2648651" y="5502951"/>
            <a:ext cx="1203990" cy="510510"/>
          </a:xfrm>
          <a:prstGeom prst="roundRect">
            <a:avLst>
              <a:gd name="adj" fmla="val 109002"/>
            </a:avLst>
          </a:prstGeom>
          <a:solidFill>
            <a:srgbClr val="FFFFFF">
              <a:alpha val="0"/>
            </a:srgbClr>
          </a:solidFill>
          <a:ln w="9525">
            <a:solidFill>
              <a:srgbClr val="0E110B">
                <a:alpha val="10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648651" y="5502951"/>
            <a:ext cx="76170" cy="7617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037271" y="5502951"/>
            <a:ext cx="685800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6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国产化</a:t>
            </a:r>
            <a:endParaRPr lang="en-US" sz="1560" dirty="0"/>
          </a:p>
        </p:txBody>
      </p:sp>
      <p:sp>
        <p:nvSpPr>
          <p:cNvPr id="19" name="Shape 15"/>
          <p:cNvSpPr/>
          <p:nvPr/>
        </p:nvSpPr>
        <p:spPr>
          <a:xfrm>
            <a:off x="3974531" y="5502951"/>
            <a:ext cx="1402050" cy="510510"/>
          </a:xfrm>
          <a:prstGeom prst="roundRect">
            <a:avLst>
              <a:gd name="adj" fmla="val 109002"/>
            </a:avLst>
          </a:prstGeom>
          <a:solidFill>
            <a:srgbClr val="FFFFFF">
              <a:alpha val="0"/>
            </a:srgbClr>
          </a:solidFill>
          <a:ln w="9525">
            <a:solidFill>
              <a:srgbClr val="0E110B">
                <a:alpha val="10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974531" y="5502951"/>
            <a:ext cx="76170" cy="7617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363151" y="5502951"/>
            <a:ext cx="883950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6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内网离线</a:t>
            </a:r>
            <a:endParaRPr lang="en-US" sz="1560" dirty="0"/>
          </a:p>
        </p:txBody>
      </p:sp>
      <p:sp>
        <p:nvSpPr>
          <p:cNvPr id="22" name="Shape 18"/>
          <p:cNvSpPr/>
          <p:nvPr/>
        </p:nvSpPr>
        <p:spPr>
          <a:xfrm>
            <a:off x="5498562" y="5502951"/>
            <a:ext cx="1203990" cy="510510"/>
          </a:xfrm>
          <a:prstGeom prst="roundRect">
            <a:avLst>
              <a:gd name="adj" fmla="val 109002"/>
            </a:avLst>
          </a:prstGeom>
          <a:solidFill>
            <a:srgbClr val="FFFFFF">
              <a:alpha val="0"/>
            </a:srgbClr>
          </a:solidFill>
          <a:ln w="9525">
            <a:solidFill>
              <a:srgbClr val="0E110B">
                <a:alpha val="1000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498562" y="5502951"/>
            <a:ext cx="76170" cy="7617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887182" y="5502951"/>
            <a:ext cx="685800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6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可复现</a:t>
            </a:r>
            <a:endParaRPr lang="en-US" sz="1560" dirty="0"/>
          </a:p>
        </p:txBody>
      </p:sp>
      <p:sp>
        <p:nvSpPr>
          <p:cNvPr id="25" name="Shape 21"/>
          <p:cNvSpPr/>
          <p:nvPr/>
        </p:nvSpPr>
        <p:spPr>
          <a:xfrm>
            <a:off x="914400" y="7402800"/>
            <a:ext cx="91440" cy="9144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27730" y="7307610"/>
            <a:ext cx="3714750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目标：开箱即用、原生支持 OpenClaw。</a:t>
            </a:r>
            <a:endParaRPr lang="en-US" sz="1560" dirty="0"/>
          </a:p>
        </p:txBody>
      </p:sp>
      <p:sp>
        <p:nvSpPr>
          <p:cNvPr id="27" name="Shape 23"/>
          <p:cNvSpPr/>
          <p:nvPr/>
        </p:nvSpPr>
        <p:spPr>
          <a:xfrm>
            <a:off x="11430000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11494282" y="734190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11558748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11623030" y="734190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11687404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11751686" y="734190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11816151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11880433" y="734190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11944807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12009090" y="734190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12073555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12137837" y="734190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2202211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2266493" y="734190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2330958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12395241" y="734190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12459614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12523988" y="734190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12588362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12652644" y="734190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12717109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12781392" y="734190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12845766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12910048" y="734190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12974513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13038795" y="734190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13103169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13167451" y="734190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13231917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13296199" y="734190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13360573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13424855" y="734190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13489320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13553603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13617885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13682167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16" y="0"/>
            <a:ext cx="6729984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640080"/>
            <a:ext cx="13167360" cy="126205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890542"/>
            <a:ext cx="1316736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0080"/>
            <a:ext cx="420432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396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评测框架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731520" y="923406"/>
            <a:ext cx="2651760" cy="9494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838"/>
              </a:lnSpc>
              <a:buNone/>
            </a:pPr>
            <a:r>
              <a:rPr lang="en-US" sz="504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三维交叉</a:t>
            </a:r>
            <a:endParaRPr lang="en-US" sz="5040" dirty="0"/>
          </a:p>
        </p:txBody>
      </p:sp>
      <p:sp>
        <p:nvSpPr>
          <p:cNvPr id="9" name="Text 6"/>
          <p:cNvSpPr/>
          <p:nvPr/>
        </p:nvSpPr>
        <p:spPr>
          <a:xfrm>
            <a:off x="3459450" y="1348740"/>
            <a:ext cx="419252" cy="4007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2040" spc="51" kern="0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endParaRPr lang="en-US" sz="2040" dirty="0"/>
          </a:p>
        </p:txBody>
      </p:sp>
      <p:sp>
        <p:nvSpPr>
          <p:cNvPr id="10" name="Text 7"/>
          <p:cNvSpPr/>
          <p:nvPr/>
        </p:nvSpPr>
        <p:spPr>
          <a:xfrm>
            <a:off x="3787262" y="1350980"/>
            <a:ext cx="1148578" cy="4007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2040" spc="51" kern="0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评测模型</a:t>
            </a:r>
            <a:endParaRPr lang="en-US" sz="2040" dirty="0"/>
          </a:p>
        </p:txBody>
      </p:sp>
      <p:sp>
        <p:nvSpPr>
          <p:cNvPr id="11" name="Text 8"/>
          <p:cNvSpPr/>
          <p:nvPr/>
        </p:nvSpPr>
        <p:spPr>
          <a:xfrm>
            <a:off x="9695932" y="1324828"/>
            <a:ext cx="4294388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 × Harness × 任务 独立拆解影响因素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31520" y="2219523"/>
            <a:ext cx="11246206" cy="377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92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PawBench 采用 Model×Harness×Task 三维交叉评测，可独立分析模型因素与 Harness 因素，定位能</a:t>
            </a:r>
            <a:endParaRPr lang="en-US" sz="1920" dirty="0"/>
          </a:p>
        </p:txBody>
      </p:sp>
      <p:sp>
        <p:nvSpPr>
          <p:cNvPr id="13" name="Text 10"/>
          <p:cNvSpPr/>
          <p:nvPr/>
        </p:nvSpPr>
        <p:spPr>
          <a:xfrm>
            <a:off x="731520" y="2585283"/>
            <a:ext cx="1066830" cy="377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92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力短板。</a:t>
            </a:r>
            <a:endParaRPr lang="en-US" sz="1920" dirty="0"/>
          </a:p>
        </p:txBody>
      </p:sp>
      <p:sp>
        <p:nvSpPr>
          <p:cNvPr id="14" name="Text 11"/>
          <p:cNvSpPr/>
          <p:nvPr/>
        </p:nvSpPr>
        <p:spPr>
          <a:xfrm>
            <a:off x="699425" y="3717173"/>
            <a:ext cx="1976933" cy="119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904"/>
              </a:lnSpc>
              <a:buNone/>
            </a:pPr>
            <a:r>
              <a:rPr lang="en-US" sz="720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7200" dirty="0"/>
          </a:p>
        </p:txBody>
      </p:sp>
      <p:sp>
        <p:nvSpPr>
          <p:cNvPr id="15" name="Text 12"/>
          <p:cNvSpPr/>
          <p:nvPr/>
        </p:nvSpPr>
        <p:spPr>
          <a:xfrm>
            <a:off x="2549256" y="4270065"/>
            <a:ext cx="329184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76"/>
              </a:lnSpc>
              <a:buNone/>
            </a:pPr>
            <a:r>
              <a:rPr lang="en-US" sz="180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31520" y="4659600"/>
            <a:ext cx="1143000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现成任务覆盖</a:t>
            </a:r>
            <a:endParaRPr lang="en-US" sz="1380" dirty="0"/>
          </a:p>
        </p:txBody>
      </p:sp>
      <p:sp>
        <p:nvSpPr>
          <p:cNvPr id="17" name="Shape 14"/>
          <p:cNvSpPr/>
          <p:nvPr/>
        </p:nvSpPr>
        <p:spPr>
          <a:xfrm>
            <a:off x="731520" y="5193060"/>
            <a:ext cx="4668926" cy="1336487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" y="5193060"/>
            <a:ext cx="4668926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9425" y="5327980"/>
            <a:ext cx="843077" cy="119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904"/>
              </a:lnSpc>
              <a:buNone/>
            </a:pPr>
            <a:r>
              <a:rPr lang="en-US" sz="720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200" dirty="0"/>
          </a:p>
        </p:txBody>
      </p:sp>
      <p:sp>
        <p:nvSpPr>
          <p:cNvPr id="20" name="Text 17"/>
          <p:cNvSpPr/>
          <p:nvPr/>
        </p:nvSpPr>
        <p:spPr>
          <a:xfrm>
            <a:off x="1415400" y="5880872"/>
            <a:ext cx="329184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76"/>
              </a:lnSpc>
              <a:buNone/>
            </a:pPr>
            <a:r>
              <a:rPr lang="en-US" sz="180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31520" y="6270407"/>
            <a:ext cx="1585417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 Harness 支持</a:t>
            </a:r>
            <a:endParaRPr lang="en-US" sz="1380" dirty="0"/>
          </a:p>
        </p:txBody>
      </p:sp>
      <p:sp>
        <p:nvSpPr>
          <p:cNvPr id="22" name="Text 19"/>
          <p:cNvSpPr/>
          <p:nvPr/>
        </p:nvSpPr>
        <p:spPr>
          <a:xfrm>
            <a:off x="5949086" y="3291840"/>
            <a:ext cx="8041234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40" b="1" spc="200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三维定义</a:t>
            </a:r>
            <a:endParaRPr lang="en-US" sz="114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9086" y="3672870"/>
            <a:ext cx="2284354" cy="88395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125931" y="3790920"/>
            <a:ext cx="530992" cy="416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6503944" y="3790920"/>
            <a:ext cx="384048" cy="416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2400" dirty="0"/>
          </a:p>
        </p:txBody>
      </p:sp>
      <p:sp>
        <p:nvSpPr>
          <p:cNvPr id="26" name="Text 22"/>
          <p:cNvSpPr/>
          <p:nvPr/>
        </p:nvSpPr>
        <p:spPr>
          <a:xfrm>
            <a:off x="6131966" y="4187220"/>
            <a:ext cx="851032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 Model</a:t>
            </a:r>
            <a:endParaRPr lang="en-US" sz="1140" dirty="0"/>
          </a:p>
        </p:txBody>
      </p:sp>
      <p:sp>
        <p:nvSpPr>
          <p:cNvPr id="27" name="Shape 23"/>
          <p:cNvSpPr/>
          <p:nvPr/>
        </p:nvSpPr>
        <p:spPr>
          <a:xfrm>
            <a:off x="8263890" y="3672870"/>
            <a:ext cx="1964680" cy="883950"/>
          </a:xfrm>
          <a:prstGeom prst="rect">
            <a:avLst/>
          </a:prstGeom>
          <a:solidFill>
            <a:srgbClr val="B6E680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440735" y="3790920"/>
            <a:ext cx="530992" cy="416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400" dirty="0"/>
          </a:p>
        </p:txBody>
      </p:sp>
      <p:sp>
        <p:nvSpPr>
          <p:cNvPr id="29" name="Text 25"/>
          <p:cNvSpPr/>
          <p:nvPr/>
        </p:nvSpPr>
        <p:spPr>
          <a:xfrm>
            <a:off x="8818748" y="3790920"/>
            <a:ext cx="384048" cy="416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2400" dirty="0"/>
          </a:p>
        </p:txBody>
      </p:sp>
      <p:sp>
        <p:nvSpPr>
          <p:cNvPr id="30" name="Text 26"/>
          <p:cNvSpPr/>
          <p:nvPr/>
        </p:nvSpPr>
        <p:spPr>
          <a:xfrm>
            <a:off x="8446770" y="4187220"/>
            <a:ext cx="680161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</a:t>
            </a:r>
            <a:endParaRPr lang="en-US" sz="1140" dirty="0"/>
          </a:p>
        </p:txBody>
      </p:sp>
      <p:sp>
        <p:nvSpPr>
          <p:cNvPr id="31" name="Shape 27"/>
          <p:cNvSpPr/>
          <p:nvPr/>
        </p:nvSpPr>
        <p:spPr>
          <a:xfrm>
            <a:off x="10259019" y="3672870"/>
            <a:ext cx="1964497" cy="883950"/>
          </a:xfrm>
          <a:prstGeom prst="rect">
            <a:avLst/>
          </a:prstGeom>
          <a:solidFill>
            <a:srgbClr val="D1EFAE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0435864" y="3790920"/>
            <a:ext cx="530992" cy="416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3D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400" dirty="0"/>
          </a:p>
        </p:txBody>
      </p:sp>
      <p:sp>
        <p:nvSpPr>
          <p:cNvPr id="33" name="Text 29"/>
          <p:cNvSpPr/>
          <p:nvPr/>
        </p:nvSpPr>
        <p:spPr>
          <a:xfrm>
            <a:off x="10813877" y="3790920"/>
            <a:ext cx="384048" cy="416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3D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2400" dirty="0"/>
          </a:p>
        </p:txBody>
      </p:sp>
      <p:sp>
        <p:nvSpPr>
          <p:cNvPr id="34" name="Text 30"/>
          <p:cNvSpPr/>
          <p:nvPr/>
        </p:nvSpPr>
        <p:spPr>
          <a:xfrm>
            <a:off x="10441899" y="4187220"/>
            <a:ext cx="765581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 Task</a:t>
            </a:r>
            <a:endParaRPr lang="en-US" sz="1140" dirty="0"/>
          </a:p>
        </p:txBody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12254057" y="3672870"/>
            <a:ext cx="1644823" cy="883950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12430902" y="3790920"/>
            <a:ext cx="530992" cy="416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3D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400" dirty="0"/>
          </a:p>
        </p:txBody>
      </p:sp>
      <p:sp>
        <p:nvSpPr>
          <p:cNvPr id="37" name="Text 32"/>
          <p:cNvSpPr/>
          <p:nvPr/>
        </p:nvSpPr>
        <p:spPr>
          <a:xfrm>
            <a:off x="12808915" y="3790920"/>
            <a:ext cx="384048" cy="416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3D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2400" dirty="0"/>
          </a:p>
        </p:txBody>
      </p:sp>
      <p:sp>
        <p:nvSpPr>
          <p:cNvPr id="38" name="Text 33"/>
          <p:cNvSpPr/>
          <p:nvPr/>
        </p:nvSpPr>
        <p:spPr>
          <a:xfrm>
            <a:off x="12436937" y="4187220"/>
            <a:ext cx="84521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切片 Slice</a:t>
            </a:r>
            <a:endParaRPr lang="en-US" sz="1140" dirty="0"/>
          </a:p>
        </p:txBody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3864" y="3540648"/>
            <a:ext cx="4423593" cy="4688952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6413876" y="4983480"/>
            <a:ext cx="1170889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6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 Model</a:t>
            </a:r>
            <a:endParaRPr lang="en-US" sz="1620" dirty="0"/>
          </a:p>
        </p:txBody>
      </p:sp>
      <p:sp>
        <p:nvSpPr>
          <p:cNvPr id="41" name="Text 35"/>
          <p:cNvSpPr/>
          <p:nvPr/>
        </p:nvSpPr>
        <p:spPr>
          <a:xfrm>
            <a:off x="6413876" y="5274259"/>
            <a:ext cx="496062" cy="157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58"/>
              </a:lnSpc>
              <a:buNone/>
            </a:pPr>
            <a:r>
              <a:rPr lang="en-US" sz="780" spc="78" kern="0" dirty="0">
                <a:solidFill>
                  <a:srgbClr val="B7B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780" dirty="0"/>
          </a:p>
        </p:txBody>
      </p:sp>
      <p:sp>
        <p:nvSpPr>
          <p:cNvPr id="42" name="Text 36"/>
          <p:cNvSpPr/>
          <p:nvPr/>
        </p:nvSpPr>
        <p:spPr>
          <a:xfrm>
            <a:off x="6155924" y="5641895"/>
            <a:ext cx="728777" cy="591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958"/>
              </a:lnSpc>
              <a:buNone/>
            </a:pPr>
            <a:r>
              <a:rPr lang="en-US" sz="3480" b="1" dirty="0">
                <a:solidFill>
                  <a:srgbClr val="5FA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3480" dirty="0"/>
          </a:p>
        </p:txBody>
      </p:sp>
      <p:sp>
        <p:nvSpPr>
          <p:cNvPr id="43" name="Text 37"/>
          <p:cNvSpPr/>
          <p:nvPr/>
        </p:nvSpPr>
        <p:spPr>
          <a:xfrm>
            <a:off x="6704015" y="5641895"/>
            <a:ext cx="515813" cy="591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958"/>
              </a:lnSpc>
              <a:buNone/>
            </a:pPr>
            <a:r>
              <a:rPr lang="en-US" sz="3480" b="1" dirty="0">
                <a:solidFill>
                  <a:srgbClr val="5FA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3480" dirty="0"/>
          </a:p>
        </p:txBody>
      </p:sp>
      <p:sp>
        <p:nvSpPr>
          <p:cNvPr id="44" name="Text 38"/>
          <p:cNvSpPr/>
          <p:nvPr/>
        </p:nvSpPr>
        <p:spPr>
          <a:xfrm>
            <a:off x="6170097" y="6400800"/>
            <a:ext cx="402336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</a:t>
            </a:r>
            <a:endParaRPr lang="en-US" sz="1200" dirty="0"/>
          </a:p>
        </p:txBody>
      </p:sp>
      <p:sp>
        <p:nvSpPr>
          <p:cNvPr id="45" name="Text 39"/>
          <p:cNvSpPr/>
          <p:nvPr/>
        </p:nvSpPr>
        <p:spPr>
          <a:xfrm>
            <a:off x="6170097" y="6614130"/>
            <a:ext cx="2067367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Qwen/GLM/DeepSeek/Kimi</a:t>
            </a:r>
            <a:endParaRPr lang="en-US" sz="1200" dirty="0"/>
          </a:p>
        </p:txBody>
      </p:sp>
      <p:pic>
        <p:nvPicPr>
          <p:cNvPr id="4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4574" y="4861590"/>
            <a:ext cx="1873240" cy="2225010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8439363" y="5029200"/>
            <a:ext cx="920344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6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</a:t>
            </a:r>
            <a:endParaRPr lang="en-US" sz="1620" dirty="0"/>
          </a:p>
        </p:txBody>
      </p:sp>
      <p:sp>
        <p:nvSpPr>
          <p:cNvPr id="48" name="Text 41"/>
          <p:cNvSpPr/>
          <p:nvPr/>
        </p:nvSpPr>
        <p:spPr>
          <a:xfrm>
            <a:off x="8439363" y="5319979"/>
            <a:ext cx="657530" cy="157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58"/>
              </a:lnSpc>
              <a:buNone/>
            </a:pPr>
            <a:r>
              <a:rPr lang="en-US" sz="780" spc="78" kern="0" dirty="0">
                <a:solidFill>
                  <a:srgbClr val="B7B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</a:t>
            </a:r>
            <a:endParaRPr lang="en-US" sz="780" dirty="0"/>
          </a:p>
        </p:txBody>
      </p:sp>
      <p:sp>
        <p:nvSpPr>
          <p:cNvPr id="49" name="Text 42"/>
          <p:cNvSpPr/>
          <p:nvPr/>
        </p:nvSpPr>
        <p:spPr>
          <a:xfrm>
            <a:off x="8181411" y="5687615"/>
            <a:ext cx="728777" cy="591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958"/>
              </a:lnSpc>
              <a:buNone/>
            </a:pPr>
            <a:r>
              <a:rPr lang="en-US" sz="348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3480" dirty="0"/>
          </a:p>
        </p:txBody>
      </p:sp>
      <p:sp>
        <p:nvSpPr>
          <p:cNvPr id="50" name="Text 43"/>
          <p:cNvSpPr/>
          <p:nvPr/>
        </p:nvSpPr>
        <p:spPr>
          <a:xfrm>
            <a:off x="8729502" y="5687615"/>
            <a:ext cx="515813" cy="591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958"/>
              </a:lnSpc>
              <a:buNone/>
            </a:pPr>
            <a:r>
              <a:rPr lang="en-US" sz="348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3480" dirty="0"/>
          </a:p>
        </p:txBody>
      </p:sp>
      <p:sp>
        <p:nvSpPr>
          <p:cNvPr id="51" name="Text 44"/>
          <p:cNvSpPr/>
          <p:nvPr/>
        </p:nvSpPr>
        <p:spPr>
          <a:xfrm>
            <a:off x="8195584" y="6446520"/>
            <a:ext cx="2246224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OpenClaw/QwenPaw/Hermes</a:t>
            </a:r>
            <a:endParaRPr lang="en-US" sz="1200" dirty="0"/>
          </a:p>
        </p:txBody>
      </p:sp>
      <p:sp>
        <p:nvSpPr>
          <p:cNvPr id="52" name="Text 45"/>
          <p:cNvSpPr/>
          <p:nvPr/>
        </p:nvSpPr>
        <p:spPr>
          <a:xfrm>
            <a:off x="8195584" y="6659850"/>
            <a:ext cx="548640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适配器</a:t>
            </a:r>
            <a:endParaRPr lang="en-US" sz="1200" dirty="0"/>
          </a:p>
        </p:txBody>
      </p:sp>
      <p:pic>
        <p:nvPicPr>
          <p:cNvPr id="5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0153" y="4861590"/>
            <a:ext cx="1873057" cy="2225010"/>
          </a:xfrm>
          <a:prstGeom prst="rect">
            <a:avLst/>
          </a:prstGeom>
        </p:spPr>
      </p:pic>
      <p:sp>
        <p:nvSpPr>
          <p:cNvPr id="54" name="Text 46"/>
          <p:cNvSpPr/>
          <p:nvPr/>
        </p:nvSpPr>
        <p:spPr>
          <a:xfrm>
            <a:off x="10465034" y="5029200"/>
            <a:ext cx="104173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6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 Task</a:t>
            </a:r>
            <a:endParaRPr lang="en-US" sz="1620" dirty="0"/>
          </a:p>
        </p:txBody>
      </p:sp>
      <p:sp>
        <p:nvSpPr>
          <p:cNvPr id="55" name="Text 47"/>
          <p:cNvSpPr/>
          <p:nvPr/>
        </p:nvSpPr>
        <p:spPr>
          <a:xfrm>
            <a:off x="10465034" y="5319979"/>
            <a:ext cx="415328" cy="157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58"/>
              </a:lnSpc>
              <a:buNone/>
            </a:pPr>
            <a:r>
              <a:rPr lang="en-US" sz="780" spc="78" kern="0" dirty="0">
                <a:solidFill>
                  <a:srgbClr val="B7B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780" dirty="0"/>
          </a:p>
        </p:txBody>
      </p:sp>
      <p:sp>
        <p:nvSpPr>
          <p:cNvPr id="56" name="Text 48"/>
          <p:cNvSpPr/>
          <p:nvPr/>
        </p:nvSpPr>
        <p:spPr>
          <a:xfrm>
            <a:off x="10206990" y="5687615"/>
            <a:ext cx="728777" cy="591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958"/>
              </a:lnSpc>
              <a:buNone/>
            </a:pPr>
            <a:r>
              <a:rPr lang="en-US" sz="348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3480" dirty="0"/>
          </a:p>
        </p:txBody>
      </p:sp>
      <p:sp>
        <p:nvSpPr>
          <p:cNvPr id="57" name="Text 49"/>
          <p:cNvSpPr/>
          <p:nvPr/>
        </p:nvSpPr>
        <p:spPr>
          <a:xfrm>
            <a:off x="10755081" y="5687615"/>
            <a:ext cx="515813" cy="591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958"/>
              </a:lnSpc>
              <a:buNone/>
            </a:pPr>
            <a:r>
              <a:rPr lang="en-US" sz="348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3480" dirty="0"/>
          </a:p>
        </p:txBody>
      </p:sp>
      <p:sp>
        <p:nvSpPr>
          <p:cNvPr id="58" name="Text 50"/>
          <p:cNvSpPr/>
          <p:nvPr/>
        </p:nvSpPr>
        <p:spPr>
          <a:xfrm>
            <a:off x="10221163" y="6446520"/>
            <a:ext cx="1431859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子数据集覆盖多场</a:t>
            </a:r>
            <a:endParaRPr lang="en-US" sz="1200" dirty="0"/>
          </a:p>
        </p:txBody>
      </p:sp>
      <p:sp>
        <p:nvSpPr>
          <p:cNvPr id="59" name="Text 51"/>
          <p:cNvSpPr/>
          <p:nvPr/>
        </p:nvSpPr>
        <p:spPr>
          <a:xfrm>
            <a:off x="10221163" y="6659850"/>
            <a:ext cx="256032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景</a:t>
            </a:r>
            <a:endParaRPr lang="en-US" sz="1200" dirty="0"/>
          </a:p>
        </p:txBody>
      </p:sp>
      <p:pic>
        <p:nvPicPr>
          <p:cNvPr id="6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25640" y="4861590"/>
            <a:ext cx="1873240" cy="2225010"/>
          </a:xfrm>
          <a:prstGeom prst="rect">
            <a:avLst/>
          </a:prstGeom>
        </p:spPr>
      </p:pic>
      <p:sp>
        <p:nvSpPr>
          <p:cNvPr id="61" name="Text 52"/>
          <p:cNvSpPr/>
          <p:nvPr/>
        </p:nvSpPr>
        <p:spPr>
          <a:xfrm>
            <a:off x="12490521" y="5029200"/>
            <a:ext cx="1154887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6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切片 Slice</a:t>
            </a:r>
            <a:endParaRPr lang="en-US" sz="1620" dirty="0"/>
          </a:p>
        </p:txBody>
      </p:sp>
      <p:sp>
        <p:nvSpPr>
          <p:cNvPr id="62" name="Text 53"/>
          <p:cNvSpPr/>
          <p:nvPr/>
        </p:nvSpPr>
        <p:spPr>
          <a:xfrm>
            <a:off x="12490521" y="5319979"/>
            <a:ext cx="496062" cy="157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58"/>
              </a:lnSpc>
              <a:buNone/>
            </a:pPr>
            <a:r>
              <a:rPr lang="en-US" sz="780" spc="78" kern="0" dirty="0">
                <a:solidFill>
                  <a:srgbClr val="B7B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SLICE</a:t>
            </a:r>
            <a:endParaRPr lang="en-US" sz="780" dirty="0"/>
          </a:p>
        </p:txBody>
      </p:sp>
      <p:sp>
        <p:nvSpPr>
          <p:cNvPr id="63" name="Text 54"/>
          <p:cNvSpPr/>
          <p:nvPr/>
        </p:nvSpPr>
        <p:spPr>
          <a:xfrm>
            <a:off x="12232569" y="5687615"/>
            <a:ext cx="728777" cy="591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958"/>
              </a:lnSpc>
              <a:buNone/>
            </a:pPr>
            <a:r>
              <a:rPr lang="en-US" sz="348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3480" dirty="0"/>
          </a:p>
        </p:txBody>
      </p:sp>
      <p:sp>
        <p:nvSpPr>
          <p:cNvPr id="64" name="Text 55"/>
          <p:cNvSpPr/>
          <p:nvPr/>
        </p:nvSpPr>
        <p:spPr>
          <a:xfrm>
            <a:off x="12780569" y="5687615"/>
            <a:ext cx="515813" cy="591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958"/>
              </a:lnSpc>
              <a:buNone/>
            </a:pPr>
            <a:r>
              <a:rPr lang="en-US" sz="348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3480" dirty="0"/>
          </a:p>
        </p:txBody>
      </p:sp>
      <p:sp>
        <p:nvSpPr>
          <p:cNvPr id="65" name="Text 56"/>
          <p:cNvSpPr/>
          <p:nvPr/>
        </p:nvSpPr>
        <p:spPr>
          <a:xfrm>
            <a:off x="12246651" y="6446520"/>
            <a:ext cx="1463040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五维切片定位薄弱环</a:t>
            </a:r>
            <a:endParaRPr lang="en-US" sz="1200" dirty="0"/>
          </a:p>
        </p:txBody>
      </p:sp>
      <p:sp>
        <p:nvSpPr>
          <p:cNvPr id="66" name="Text 57"/>
          <p:cNvSpPr/>
          <p:nvPr/>
        </p:nvSpPr>
        <p:spPr>
          <a:xfrm>
            <a:off x="12246651" y="6659850"/>
            <a:ext cx="256032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</a:t>
            </a:r>
            <a:endParaRPr lang="en-US" sz="1200" dirty="0"/>
          </a:p>
        </p:txBody>
      </p:sp>
      <p:sp>
        <p:nvSpPr>
          <p:cNvPr id="67" name="Shape 58"/>
          <p:cNvSpPr/>
          <p:nvPr/>
        </p:nvSpPr>
        <p:spPr>
          <a:xfrm>
            <a:off x="731520" y="7547640"/>
            <a:ext cx="91440" cy="9144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Text 59"/>
          <p:cNvSpPr/>
          <p:nvPr/>
        </p:nvSpPr>
        <p:spPr>
          <a:xfrm>
            <a:off x="944850" y="7444770"/>
            <a:ext cx="4336725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据此框架，从六个维度对 10 款工具系统对比。</a:t>
            </a:r>
            <a:endParaRPr lang="en-US" sz="1620" dirty="0"/>
          </a:p>
        </p:txBody>
      </p:sp>
      <p:sp>
        <p:nvSpPr>
          <p:cNvPr id="69" name="Shape 60"/>
          <p:cNvSpPr/>
          <p:nvPr/>
        </p:nvSpPr>
        <p:spPr>
          <a:xfrm>
            <a:off x="11612880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1"/>
          <p:cNvSpPr/>
          <p:nvPr/>
        </p:nvSpPr>
        <p:spPr>
          <a:xfrm>
            <a:off x="11677162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2"/>
          <p:cNvSpPr/>
          <p:nvPr/>
        </p:nvSpPr>
        <p:spPr>
          <a:xfrm>
            <a:off x="11741628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63"/>
          <p:cNvSpPr/>
          <p:nvPr/>
        </p:nvSpPr>
        <p:spPr>
          <a:xfrm>
            <a:off x="11805910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64"/>
          <p:cNvSpPr/>
          <p:nvPr/>
        </p:nvSpPr>
        <p:spPr>
          <a:xfrm>
            <a:off x="11870284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65"/>
          <p:cNvSpPr/>
          <p:nvPr/>
        </p:nvSpPr>
        <p:spPr>
          <a:xfrm>
            <a:off x="11934566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66"/>
          <p:cNvSpPr/>
          <p:nvPr/>
        </p:nvSpPr>
        <p:spPr>
          <a:xfrm>
            <a:off x="11999031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67"/>
          <p:cNvSpPr/>
          <p:nvPr/>
        </p:nvSpPr>
        <p:spPr>
          <a:xfrm>
            <a:off x="12063313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68"/>
          <p:cNvSpPr/>
          <p:nvPr/>
        </p:nvSpPr>
        <p:spPr>
          <a:xfrm>
            <a:off x="1212768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69"/>
          <p:cNvSpPr/>
          <p:nvPr/>
        </p:nvSpPr>
        <p:spPr>
          <a:xfrm>
            <a:off x="12191970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70"/>
          <p:cNvSpPr/>
          <p:nvPr/>
        </p:nvSpPr>
        <p:spPr>
          <a:xfrm>
            <a:off x="12256435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71"/>
          <p:cNvSpPr/>
          <p:nvPr/>
        </p:nvSpPr>
        <p:spPr>
          <a:xfrm>
            <a:off x="12320717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2"/>
          <p:cNvSpPr/>
          <p:nvPr/>
        </p:nvSpPr>
        <p:spPr>
          <a:xfrm>
            <a:off x="12385091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73"/>
          <p:cNvSpPr/>
          <p:nvPr/>
        </p:nvSpPr>
        <p:spPr>
          <a:xfrm>
            <a:off x="12449373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Shape 74"/>
          <p:cNvSpPr/>
          <p:nvPr/>
        </p:nvSpPr>
        <p:spPr>
          <a:xfrm>
            <a:off x="12513838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75"/>
          <p:cNvSpPr/>
          <p:nvPr/>
        </p:nvSpPr>
        <p:spPr>
          <a:xfrm>
            <a:off x="12578121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76"/>
          <p:cNvSpPr/>
          <p:nvPr/>
        </p:nvSpPr>
        <p:spPr>
          <a:xfrm>
            <a:off x="12642494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Shape 77"/>
          <p:cNvSpPr/>
          <p:nvPr/>
        </p:nvSpPr>
        <p:spPr>
          <a:xfrm>
            <a:off x="12706868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Shape 78"/>
          <p:cNvSpPr/>
          <p:nvPr/>
        </p:nvSpPr>
        <p:spPr>
          <a:xfrm>
            <a:off x="12771242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Shape 79"/>
          <p:cNvSpPr/>
          <p:nvPr/>
        </p:nvSpPr>
        <p:spPr>
          <a:xfrm>
            <a:off x="12835524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hape 80"/>
          <p:cNvSpPr/>
          <p:nvPr/>
        </p:nvSpPr>
        <p:spPr>
          <a:xfrm>
            <a:off x="12899989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Shape 81"/>
          <p:cNvSpPr/>
          <p:nvPr/>
        </p:nvSpPr>
        <p:spPr>
          <a:xfrm>
            <a:off x="12964272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Shape 82"/>
          <p:cNvSpPr/>
          <p:nvPr/>
        </p:nvSpPr>
        <p:spPr>
          <a:xfrm>
            <a:off x="13028646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Shape 83"/>
          <p:cNvSpPr/>
          <p:nvPr/>
        </p:nvSpPr>
        <p:spPr>
          <a:xfrm>
            <a:off x="13092928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Shape 84"/>
          <p:cNvSpPr/>
          <p:nvPr/>
        </p:nvSpPr>
        <p:spPr>
          <a:xfrm>
            <a:off x="1315739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" name="Shape 85"/>
          <p:cNvSpPr/>
          <p:nvPr/>
        </p:nvSpPr>
        <p:spPr>
          <a:xfrm>
            <a:off x="13221675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Shape 86"/>
          <p:cNvSpPr/>
          <p:nvPr/>
        </p:nvSpPr>
        <p:spPr>
          <a:xfrm>
            <a:off x="13286049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Shape 87"/>
          <p:cNvSpPr/>
          <p:nvPr/>
        </p:nvSpPr>
        <p:spPr>
          <a:xfrm>
            <a:off x="13350331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Shape 88"/>
          <p:cNvSpPr/>
          <p:nvPr/>
        </p:nvSpPr>
        <p:spPr>
          <a:xfrm>
            <a:off x="1341479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" name="Shape 89"/>
          <p:cNvSpPr/>
          <p:nvPr/>
        </p:nvSpPr>
        <p:spPr>
          <a:xfrm>
            <a:off x="13479079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" name="Shape 90"/>
          <p:cNvSpPr/>
          <p:nvPr/>
        </p:nvSpPr>
        <p:spPr>
          <a:xfrm>
            <a:off x="1354345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0" name="Shape 91"/>
          <p:cNvSpPr/>
          <p:nvPr/>
        </p:nvSpPr>
        <p:spPr>
          <a:xfrm>
            <a:off x="13607735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" name="Shape 92"/>
          <p:cNvSpPr/>
          <p:nvPr/>
        </p:nvSpPr>
        <p:spPr>
          <a:xfrm>
            <a:off x="13672200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" name="Shape 93"/>
          <p:cNvSpPr/>
          <p:nvPr/>
        </p:nvSpPr>
        <p:spPr>
          <a:xfrm>
            <a:off x="1373648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3" name="Shape 94"/>
          <p:cNvSpPr/>
          <p:nvPr/>
        </p:nvSpPr>
        <p:spPr>
          <a:xfrm>
            <a:off x="13800765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4" name="Shape 95"/>
          <p:cNvSpPr/>
          <p:nvPr/>
        </p:nvSpPr>
        <p:spPr>
          <a:xfrm>
            <a:off x="1386504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99" y="0"/>
            <a:ext cx="7022501" cy="395029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640080"/>
            <a:ext cx="13167360" cy="126205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890542"/>
            <a:ext cx="1316736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0080"/>
            <a:ext cx="4218127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396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候选概览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731520" y="1077889"/>
            <a:ext cx="4218127" cy="64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838"/>
              </a:lnSpc>
              <a:buNone/>
            </a:pPr>
            <a:r>
              <a:rPr lang="en-US" sz="504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款候选工具</a:t>
            </a:r>
            <a:endParaRPr lang="en-US" sz="5040" dirty="0"/>
          </a:p>
        </p:txBody>
      </p:sp>
      <p:sp>
        <p:nvSpPr>
          <p:cNvPr id="9" name="Text 6"/>
          <p:cNvSpPr/>
          <p:nvPr/>
        </p:nvSpPr>
        <p:spPr>
          <a:xfrm>
            <a:off x="12984480" y="1324828"/>
            <a:ext cx="100584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代表一览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31520" y="2257676"/>
            <a:ext cx="10094976" cy="3817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6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覆盖阿里系、上海 AI Lab、OpenClaw 官方、框架类与学术基准，共 10 款，下表列 6 款代表。</a:t>
            </a:r>
            <a:endParaRPr lang="en-US" sz="1860" dirty="0"/>
          </a:p>
        </p:txBody>
      </p:sp>
      <p:sp>
        <p:nvSpPr>
          <p:cNvPr id="11" name="Shape 8"/>
          <p:cNvSpPr/>
          <p:nvPr/>
        </p:nvSpPr>
        <p:spPr>
          <a:xfrm>
            <a:off x="731520" y="2731770"/>
            <a:ext cx="198150" cy="15270"/>
          </a:xfrm>
          <a:prstGeom prst="rect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36290" y="2754630"/>
            <a:ext cx="2646445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60" b="1" spc="47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款候选 · 全部开源 · 6 维对比</a:t>
            </a:r>
            <a:endParaRPr lang="en-US" sz="1260" dirty="0"/>
          </a:p>
        </p:txBody>
      </p:sp>
      <p:sp>
        <p:nvSpPr>
          <p:cNvPr id="13" name="Shape 10"/>
          <p:cNvSpPr/>
          <p:nvPr/>
        </p:nvSpPr>
        <p:spPr>
          <a:xfrm>
            <a:off x="731520" y="3581430"/>
            <a:ext cx="13167360" cy="35049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31520" y="3908734"/>
            <a:ext cx="13167360" cy="23186"/>
          </a:xfrm>
          <a:prstGeom prst="rect">
            <a:avLst/>
          </a:prstGeom>
          <a:solidFill>
            <a:srgbClr val="0E110B"/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29670" y="3604290"/>
            <a:ext cx="425710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40" b="1" spc="171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</a:t>
            </a:r>
            <a:endParaRPr lang="en-US" sz="1140" dirty="0"/>
          </a:p>
        </p:txBody>
      </p:sp>
      <p:sp>
        <p:nvSpPr>
          <p:cNvPr id="16" name="Text 13"/>
          <p:cNvSpPr/>
          <p:nvPr/>
        </p:nvSpPr>
        <p:spPr>
          <a:xfrm>
            <a:off x="4604370" y="3604290"/>
            <a:ext cx="425710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40" b="1" spc="171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</a:t>
            </a:r>
            <a:endParaRPr lang="en-US" sz="1140" dirty="0"/>
          </a:p>
        </p:txBody>
      </p:sp>
      <p:sp>
        <p:nvSpPr>
          <p:cNvPr id="17" name="Text 14"/>
          <p:cNvSpPr/>
          <p:nvPr/>
        </p:nvSpPr>
        <p:spPr>
          <a:xfrm>
            <a:off x="8879315" y="3604290"/>
            <a:ext cx="425710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140" b="1" spc="171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</a:t>
            </a:r>
            <a:endParaRPr lang="en-US" sz="1140" dirty="0"/>
          </a:p>
        </p:txBody>
      </p:sp>
      <p:sp>
        <p:nvSpPr>
          <p:cNvPr id="18" name="Text 15"/>
          <p:cNvSpPr/>
          <p:nvPr/>
        </p:nvSpPr>
        <p:spPr>
          <a:xfrm>
            <a:off x="9533534" y="3592860"/>
            <a:ext cx="725043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40" b="1" spc="171" kern="0" dirty="0">
                <a:solidFill>
                  <a:srgbClr val="838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STARS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10828965" y="3604290"/>
            <a:ext cx="1074325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40" b="1" spc="171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维护方/协议</a:t>
            </a:r>
            <a:endParaRPr lang="en-US" sz="114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931920"/>
            <a:ext cx="13167360" cy="526969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188720" y="4027749"/>
            <a:ext cx="1390254" cy="3550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4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PawBench</a:t>
            </a:r>
            <a:endParaRPr lang="en-US" sz="2040" dirty="0"/>
          </a:p>
        </p:txBody>
      </p:sp>
      <p:sp>
        <p:nvSpPr>
          <p:cNvPr id="22" name="Text 18"/>
          <p:cNvSpPr/>
          <p:nvPr/>
        </p:nvSpPr>
        <p:spPr>
          <a:xfrm>
            <a:off x="4650090" y="4058290"/>
            <a:ext cx="1927372" cy="29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Model×Harness 评测</a:t>
            </a:r>
            <a:endParaRPr lang="en-US" sz="1440" dirty="0"/>
          </a:p>
        </p:txBody>
      </p:sp>
      <p:sp>
        <p:nvSpPr>
          <p:cNvPr id="23" name="Text 19"/>
          <p:cNvSpPr/>
          <p:nvPr/>
        </p:nvSpPr>
        <p:spPr>
          <a:xfrm>
            <a:off x="8509772" y="4008730"/>
            <a:ext cx="665683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228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2280" dirty="0"/>
          </a:p>
        </p:txBody>
      </p:sp>
      <p:sp>
        <p:nvSpPr>
          <p:cNvPr id="24" name="Text 20"/>
          <p:cNvSpPr/>
          <p:nvPr/>
        </p:nvSpPr>
        <p:spPr>
          <a:xfrm>
            <a:off x="9109253" y="4153479"/>
            <a:ext cx="241402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080" b="1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</a:t>
            </a:r>
            <a:endParaRPr lang="en-US" sz="1080" dirty="0"/>
          </a:p>
        </p:txBody>
      </p:sp>
      <p:sp>
        <p:nvSpPr>
          <p:cNvPr id="25" name="Text 21"/>
          <p:cNvSpPr/>
          <p:nvPr/>
        </p:nvSpPr>
        <p:spPr>
          <a:xfrm>
            <a:off x="9708825" y="4039179"/>
            <a:ext cx="401422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~2k</a:t>
            </a:r>
            <a:endParaRPr lang="en-US" sz="1320" dirty="0"/>
          </a:p>
        </p:txBody>
      </p:sp>
      <p:sp>
        <p:nvSpPr>
          <p:cNvPr id="26" name="Text 22"/>
          <p:cNvSpPr/>
          <p:nvPr/>
        </p:nvSpPr>
        <p:spPr>
          <a:xfrm>
            <a:off x="10889955" y="4046860"/>
            <a:ext cx="35844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</a:t>
            </a:r>
            <a:endParaRPr lang="en-US" sz="1020" dirty="0"/>
          </a:p>
        </p:txBody>
      </p:sp>
      <p:sp>
        <p:nvSpPr>
          <p:cNvPr id="27" name="Text 23"/>
          <p:cNvSpPr/>
          <p:nvPr/>
        </p:nvSpPr>
        <p:spPr>
          <a:xfrm>
            <a:off x="10889955" y="4237330"/>
            <a:ext cx="35844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通义</a:t>
            </a:r>
            <a:endParaRPr lang="en-US" sz="1020" dirty="0"/>
          </a:p>
        </p:txBody>
      </p:sp>
      <p:sp>
        <p:nvSpPr>
          <p:cNvPr id="28" name="Text 24"/>
          <p:cNvSpPr/>
          <p:nvPr/>
        </p:nvSpPr>
        <p:spPr>
          <a:xfrm>
            <a:off x="11219505" y="4008730"/>
            <a:ext cx="358445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</a:t>
            </a:r>
            <a:endParaRPr lang="en-US" sz="1020" dirty="0"/>
          </a:p>
        </p:txBody>
      </p:sp>
      <p:sp>
        <p:nvSpPr>
          <p:cNvPr id="29" name="Text 25"/>
          <p:cNvSpPr/>
          <p:nvPr/>
        </p:nvSpPr>
        <p:spPr>
          <a:xfrm>
            <a:off x="11476634" y="4008730"/>
            <a:ext cx="358445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</a:t>
            </a:r>
            <a:endParaRPr lang="en-US" sz="102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458889"/>
            <a:ext cx="13167360" cy="52706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143000" y="4554718"/>
            <a:ext cx="1529974" cy="3550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4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OpenJudge</a:t>
            </a:r>
            <a:endParaRPr lang="en-US" sz="2040" dirty="0"/>
          </a:p>
        </p:txBody>
      </p:sp>
      <p:sp>
        <p:nvSpPr>
          <p:cNvPr id="32" name="Text 27"/>
          <p:cNvSpPr/>
          <p:nvPr/>
        </p:nvSpPr>
        <p:spPr>
          <a:xfrm>
            <a:off x="4604370" y="4585259"/>
            <a:ext cx="1364285" cy="29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评测框架(底层)</a:t>
            </a:r>
            <a:endParaRPr lang="en-US" sz="1440" dirty="0"/>
          </a:p>
        </p:txBody>
      </p:sp>
      <p:sp>
        <p:nvSpPr>
          <p:cNvPr id="33" name="Text 28"/>
          <p:cNvSpPr/>
          <p:nvPr/>
        </p:nvSpPr>
        <p:spPr>
          <a:xfrm>
            <a:off x="8596274" y="4564593"/>
            <a:ext cx="670530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228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</a:t>
            </a:r>
            <a:endParaRPr lang="en-US" sz="2280" dirty="0"/>
          </a:p>
        </p:txBody>
      </p:sp>
      <p:sp>
        <p:nvSpPr>
          <p:cNvPr id="34" name="Text 29"/>
          <p:cNvSpPr/>
          <p:nvPr/>
        </p:nvSpPr>
        <p:spPr>
          <a:xfrm>
            <a:off x="9663105" y="4566148"/>
            <a:ext cx="401422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3D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~2k</a:t>
            </a:r>
            <a:endParaRPr lang="en-US" sz="1320" dirty="0"/>
          </a:p>
        </p:txBody>
      </p:sp>
      <p:sp>
        <p:nvSpPr>
          <p:cNvPr id="35" name="Text 30"/>
          <p:cNvSpPr/>
          <p:nvPr/>
        </p:nvSpPr>
        <p:spPr>
          <a:xfrm>
            <a:off x="10844235" y="4573829"/>
            <a:ext cx="35844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</a:t>
            </a:r>
            <a:endParaRPr lang="en-US" sz="1020" dirty="0"/>
          </a:p>
        </p:txBody>
      </p:sp>
      <p:sp>
        <p:nvSpPr>
          <p:cNvPr id="36" name="Text 31"/>
          <p:cNvSpPr/>
          <p:nvPr/>
        </p:nvSpPr>
        <p:spPr>
          <a:xfrm>
            <a:off x="10844235" y="4764298"/>
            <a:ext cx="35844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通义</a:t>
            </a:r>
            <a:endParaRPr lang="en-US" sz="1020" dirty="0"/>
          </a:p>
        </p:txBody>
      </p:sp>
      <p:sp>
        <p:nvSpPr>
          <p:cNvPr id="37" name="Text 32"/>
          <p:cNvSpPr/>
          <p:nvPr/>
        </p:nvSpPr>
        <p:spPr>
          <a:xfrm>
            <a:off x="11118555" y="4634728"/>
            <a:ext cx="785927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Apache2.0</a:t>
            </a:r>
            <a:endParaRPr lang="en-US" sz="1020" dirty="0"/>
          </a:p>
        </p:txBody>
      </p:sp>
      <p:sp>
        <p:nvSpPr>
          <p:cNvPr id="38" name="Text 33"/>
          <p:cNvSpPr/>
          <p:nvPr/>
        </p:nvSpPr>
        <p:spPr>
          <a:xfrm>
            <a:off x="11430914" y="4535698"/>
            <a:ext cx="358445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</a:t>
            </a:r>
            <a:endParaRPr lang="en-US" sz="1020" dirty="0"/>
          </a:p>
        </p:txBody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985949"/>
            <a:ext cx="13167360" cy="526969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1143000" y="5081869"/>
            <a:ext cx="2032102" cy="3550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4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WildClawBench</a:t>
            </a:r>
            <a:endParaRPr lang="en-US" sz="2040" dirty="0"/>
          </a:p>
        </p:txBody>
      </p:sp>
      <p:sp>
        <p:nvSpPr>
          <p:cNvPr id="41" name="Text 35"/>
          <p:cNvSpPr/>
          <p:nvPr/>
        </p:nvSpPr>
        <p:spPr>
          <a:xfrm>
            <a:off x="4604370" y="5112319"/>
            <a:ext cx="1188720" cy="29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野外真实任务</a:t>
            </a:r>
            <a:endParaRPr lang="en-US" sz="1440" dirty="0"/>
          </a:p>
        </p:txBody>
      </p:sp>
      <p:sp>
        <p:nvSpPr>
          <p:cNvPr id="42" name="Text 36"/>
          <p:cNvSpPr/>
          <p:nvPr/>
        </p:nvSpPr>
        <p:spPr>
          <a:xfrm>
            <a:off x="8649371" y="5062758"/>
            <a:ext cx="480365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228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2280" dirty="0"/>
          </a:p>
        </p:txBody>
      </p:sp>
      <p:sp>
        <p:nvSpPr>
          <p:cNvPr id="43" name="Text 37"/>
          <p:cNvSpPr/>
          <p:nvPr/>
        </p:nvSpPr>
        <p:spPr>
          <a:xfrm>
            <a:off x="9063533" y="5207599"/>
            <a:ext cx="241402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080" b="1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</a:t>
            </a:r>
            <a:endParaRPr lang="en-US" sz="1080" dirty="0"/>
          </a:p>
        </p:txBody>
      </p:sp>
      <p:sp>
        <p:nvSpPr>
          <p:cNvPr id="44" name="Text 38"/>
          <p:cNvSpPr/>
          <p:nvPr/>
        </p:nvSpPr>
        <p:spPr>
          <a:xfrm>
            <a:off x="9663105" y="5093299"/>
            <a:ext cx="431597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3D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471</a:t>
            </a:r>
            <a:endParaRPr lang="en-US" sz="1320" dirty="0"/>
          </a:p>
        </p:txBody>
      </p:sp>
      <p:sp>
        <p:nvSpPr>
          <p:cNvPr id="45" name="Text 39"/>
          <p:cNvSpPr/>
          <p:nvPr/>
        </p:nvSpPr>
        <p:spPr>
          <a:xfrm>
            <a:off x="10844235" y="5100889"/>
            <a:ext cx="35844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上海</a:t>
            </a:r>
            <a:endParaRPr lang="en-US" sz="1020" dirty="0"/>
          </a:p>
        </p:txBody>
      </p:sp>
      <p:sp>
        <p:nvSpPr>
          <p:cNvPr id="46" name="Text 40"/>
          <p:cNvSpPr/>
          <p:nvPr/>
        </p:nvSpPr>
        <p:spPr>
          <a:xfrm>
            <a:off x="10844235" y="5268498"/>
            <a:ext cx="500939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AILab</a:t>
            </a:r>
            <a:endParaRPr lang="en-US" sz="1020" dirty="0"/>
          </a:p>
        </p:txBody>
      </p:sp>
      <p:sp>
        <p:nvSpPr>
          <p:cNvPr id="47" name="Text 41"/>
          <p:cNvSpPr/>
          <p:nvPr/>
        </p:nvSpPr>
        <p:spPr>
          <a:xfrm>
            <a:off x="11173785" y="5062758"/>
            <a:ext cx="358445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</a:t>
            </a:r>
            <a:endParaRPr lang="en-US" sz="1020" dirty="0"/>
          </a:p>
        </p:txBody>
      </p:sp>
      <p:sp>
        <p:nvSpPr>
          <p:cNvPr id="48" name="Text 42"/>
          <p:cNvSpPr/>
          <p:nvPr/>
        </p:nvSpPr>
        <p:spPr>
          <a:xfrm>
            <a:off x="11392875" y="5100889"/>
            <a:ext cx="35844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需联</a:t>
            </a:r>
            <a:endParaRPr lang="en-US" sz="1020" dirty="0"/>
          </a:p>
        </p:txBody>
      </p:sp>
      <p:sp>
        <p:nvSpPr>
          <p:cNvPr id="49" name="Text 43"/>
          <p:cNvSpPr/>
          <p:nvPr/>
        </p:nvSpPr>
        <p:spPr>
          <a:xfrm>
            <a:off x="11392875" y="5291358"/>
            <a:ext cx="234086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</a:t>
            </a:r>
            <a:endParaRPr lang="en-US" sz="1020" dirty="0"/>
          </a:p>
        </p:txBody>
      </p:sp>
      <p:pic>
        <p:nvPicPr>
          <p:cNvPr id="5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512918"/>
            <a:ext cx="13167360" cy="527060"/>
          </a:xfrm>
          <a:prstGeom prst="rect">
            <a:avLst/>
          </a:prstGeom>
        </p:spPr>
      </p:pic>
      <p:sp>
        <p:nvSpPr>
          <p:cNvPr id="51" name="Text 44"/>
          <p:cNvSpPr/>
          <p:nvPr/>
        </p:nvSpPr>
        <p:spPr>
          <a:xfrm>
            <a:off x="1143000" y="5608838"/>
            <a:ext cx="1472093" cy="3550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4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ClawBench</a:t>
            </a:r>
            <a:endParaRPr lang="en-US" sz="2040" dirty="0"/>
          </a:p>
        </p:txBody>
      </p:sp>
      <p:sp>
        <p:nvSpPr>
          <p:cNvPr id="52" name="Text 45"/>
          <p:cNvSpPr/>
          <p:nvPr/>
        </p:nvSpPr>
        <p:spPr>
          <a:xfrm>
            <a:off x="4604370" y="5639288"/>
            <a:ext cx="1038758" cy="29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Trace 跑分</a:t>
            </a:r>
            <a:endParaRPr lang="en-US" sz="1440" dirty="0"/>
          </a:p>
        </p:txBody>
      </p:sp>
      <p:sp>
        <p:nvSpPr>
          <p:cNvPr id="53" name="Text 46"/>
          <p:cNvSpPr/>
          <p:nvPr/>
        </p:nvSpPr>
        <p:spPr>
          <a:xfrm>
            <a:off x="8649371" y="5589727"/>
            <a:ext cx="480365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228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2280" dirty="0"/>
          </a:p>
        </p:txBody>
      </p:sp>
      <p:sp>
        <p:nvSpPr>
          <p:cNvPr id="54" name="Text 47"/>
          <p:cNvSpPr/>
          <p:nvPr/>
        </p:nvSpPr>
        <p:spPr>
          <a:xfrm>
            <a:off x="9063533" y="5734568"/>
            <a:ext cx="241402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080" b="1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</a:t>
            </a:r>
            <a:endParaRPr lang="en-US" sz="1080" dirty="0"/>
          </a:p>
        </p:txBody>
      </p:sp>
      <p:sp>
        <p:nvSpPr>
          <p:cNvPr id="55" name="Text 48"/>
          <p:cNvSpPr/>
          <p:nvPr/>
        </p:nvSpPr>
        <p:spPr>
          <a:xfrm>
            <a:off x="9663105" y="5620268"/>
            <a:ext cx="431597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3D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</a:t>
            </a:r>
            <a:endParaRPr lang="en-US" sz="1320" dirty="0"/>
          </a:p>
        </p:txBody>
      </p:sp>
      <p:sp>
        <p:nvSpPr>
          <p:cNvPr id="56" name="Text 49"/>
          <p:cNvSpPr/>
          <p:nvPr/>
        </p:nvSpPr>
        <p:spPr>
          <a:xfrm>
            <a:off x="10844235" y="5604998"/>
            <a:ext cx="710306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</a:t>
            </a:r>
            <a:endParaRPr lang="en-US" sz="1020" dirty="0"/>
          </a:p>
        </p:txBody>
      </p:sp>
      <p:sp>
        <p:nvSpPr>
          <p:cNvPr id="57" name="Text 50"/>
          <p:cNvSpPr/>
          <p:nvPr/>
        </p:nvSpPr>
        <p:spPr>
          <a:xfrm>
            <a:off x="10844235" y="5795467"/>
            <a:ext cx="234086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</a:t>
            </a:r>
            <a:endParaRPr lang="en-US" sz="1020" dirty="0"/>
          </a:p>
        </p:txBody>
      </p:sp>
      <p:sp>
        <p:nvSpPr>
          <p:cNvPr id="58" name="Text 51"/>
          <p:cNvSpPr/>
          <p:nvPr/>
        </p:nvSpPr>
        <p:spPr>
          <a:xfrm>
            <a:off x="11173785" y="5589727"/>
            <a:ext cx="358445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</a:t>
            </a:r>
            <a:endParaRPr lang="en-US" sz="1020" dirty="0"/>
          </a:p>
        </p:txBody>
      </p:sp>
      <p:sp>
        <p:nvSpPr>
          <p:cNvPr id="59" name="Text 52"/>
          <p:cNvSpPr/>
          <p:nvPr/>
        </p:nvSpPr>
        <p:spPr>
          <a:xfrm>
            <a:off x="11392875" y="5604998"/>
            <a:ext cx="40637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</a:t>
            </a:r>
            <a:endParaRPr lang="en-US" sz="1020" dirty="0"/>
          </a:p>
        </p:txBody>
      </p:sp>
      <p:sp>
        <p:nvSpPr>
          <p:cNvPr id="60" name="Text 53"/>
          <p:cNvSpPr/>
          <p:nvPr/>
        </p:nvSpPr>
        <p:spPr>
          <a:xfrm>
            <a:off x="11392875" y="5772607"/>
            <a:ext cx="263881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</a:t>
            </a:r>
            <a:endParaRPr lang="en-US" sz="1020" dirty="0"/>
          </a:p>
        </p:txBody>
      </p:sp>
      <p:pic>
        <p:nvPicPr>
          <p:cNvPr id="6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6040069"/>
            <a:ext cx="13167360" cy="527060"/>
          </a:xfrm>
          <a:prstGeom prst="rect">
            <a:avLst/>
          </a:prstGeom>
        </p:spPr>
      </p:pic>
      <p:sp>
        <p:nvSpPr>
          <p:cNvPr id="62" name="Text 54"/>
          <p:cNvSpPr/>
          <p:nvPr/>
        </p:nvSpPr>
        <p:spPr>
          <a:xfrm>
            <a:off x="1143000" y="6135898"/>
            <a:ext cx="1472093" cy="3550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4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BenchClaw</a:t>
            </a:r>
            <a:endParaRPr lang="en-US" sz="2040" dirty="0"/>
          </a:p>
        </p:txBody>
      </p:sp>
      <p:sp>
        <p:nvSpPr>
          <p:cNvPr id="63" name="Text 55"/>
          <p:cNvSpPr/>
          <p:nvPr/>
        </p:nvSpPr>
        <p:spPr>
          <a:xfrm>
            <a:off x="4604370" y="6166348"/>
            <a:ext cx="1389888" cy="29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一键跑分 Skill</a:t>
            </a:r>
            <a:endParaRPr lang="en-US" sz="1440" dirty="0"/>
          </a:p>
        </p:txBody>
      </p:sp>
      <p:sp>
        <p:nvSpPr>
          <p:cNvPr id="64" name="Text 56"/>
          <p:cNvSpPr/>
          <p:nvPr/>
        </p:nvSpPr>
        <p:spPr>
          <a:xfrm>
            <a:off x="8649371" y="6116879"/>
            <a:ext cx="480365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228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280" dirty="0"/>
          </a:p>
        </p:txBody>
      </p:sp>
      <p:sp>
        <p:nvSpPr>
          <p:cNvPr id="65" name="Text 57"/>
          <p:cNvSpPr/>
          <p:nvPr/>
        </p:nvSpPr>
        <p:spPr>
          <a:xfrm>
            <a:off x="9063533" y="6261628"/>
            <a:ext cx="241402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080" b="1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</a:t>
            </a:r>
            <a:endParaRPr lang="en-US" sz="1080" dirty="0"/>
          </a:p>
        </p:txBody>
      </p:sp>
      <p:sp>
        <p:nvSpPr>
          <p:cNvPr id="66" name="Text 58"/>
          <p:cNvSpPr/>
          <p:nvPr/>
        </p:nvSpPr>
        <p:spPr>
          <a:xfrm>
            <a:off x="9663105" y="6132058"/>
            <a:ext cx="594360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不公开</a:t>
            </a:r>
            <a:endParaRPr lang="en-US" sz="1320" dirty="0"/>
          </a:p>
        </p:txBody>
      </p:sp>
      <p:sp>
        <p:nvSpPr>
          <p:cNvPr id="67" name="Text 59"/>
          <p:cNvSpPr/>
          <p:nvPr/>
        </p:nvSpPr>
        <p:spPr>
          <a:xfrm>
            <a:off x="10844235" y="6154918"/>
            <a:ext cx="35844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安兔</a:t>
            </a:r>
            <a:endParaRPr lang="en-US" sz="1020" dirty="0"/>
          </a:p>
        </p:txBody>
      </p:sp>
      <p:sp>
        <p:nvSpPr>
          <p:cNvPr id="68" name="Text 60"/>
          <p:cNvSpPr/>
          <p:nvPr/>
        </p:nvSpPr>
        <p:spPr>
          <a:xfrm>
            <a:off x="10844235" y="6345479"/>
            <a:ext cx="234086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兔</a:t>
            </a:r>
            <a:endParaRPr lang="en-US" sz="1020" dirty="0"/>
          </a:p>
        </p:txBody>
      </p:sp>
      <p:sp>
        <p:nvSpPr>
          <p:cNvPr id="69" name="Text 61"/>
          <p:cNvSpPr/>
          <p:nvPr/>
        </p:nvSpPr>
        <p:spPr>
          <a:xfrm>
            <a:off x="11118555" y="6132058"/>
            <a:ext cx="429692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MIT-</a:t>
            </a:r>
            <a:endParaRPr lang="en-US" sz="1020" dirty="0"/>
          </a:p>
        </p:txBody>
      </p:sp>
      <p:sp>
        <p:nvSpPr>
          <p:cNvPr id="70" name="Text 62"/>
          <p:cNvSpPr/>
          <p:nvPr/>
        </p:nvSpPr>
        <p:spPr>
          <a:xfrm>
            <a:off x="11118555" y="6299759"/>
            <a:ext cx="192634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20" dirty="0"/>
          </a:p>
        </p:txBody>
      </p:sp>
      <p:sp>
        <p:nvSpPr>
          <p:cNvPr id="71" name="Text 63"/>
          <p:cNvSpPr/>
          <p:nvPr/>
        </p:nvSpPr>
        <p:spPr>
          <a:xfrm>
            <a:off x="11392875" y="6154918"/>
            <a:ext cx="35844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远程</a:t>
            </a:r>
            <a:endParaRPr lang="en-US" sz="1020" dirty="0"/>
          </a:p>
        </p:txBody>
      </p:sp>
      <p:sp>
        <p:nvSpPr>
          <p:cNvPr id="72" name="Text 64"/>
          <p:cNvSpPr/>
          <p:nvPr/>
        </p:nvSpPr>
        <p:spPr>
          <a:xfrm>
            <a:off x="11392875" y="6345479"/>
            <a:ext cx="35844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拉题</a:t>
            </a:r>
            <a:endParaRPr lang="en-US" sz="1020" dirty="0"/>
          </a:p>
        </p:txBody>
      </p:sp>
      <p:sp>
        <p:nvSpPr>
          <p:cNvPr id="73" name="Shape 65"/>
          <p:cNvSpPr/>
          <p:nvPr/>
        </p:nvSpPr>
        <p:spPr>
          <a:xfrm>
            <a:off x="929670" y="6781099"/>
            <a:ext cx="91440" cy="91440"/>
          </a:xfrm>
          <a:prstGeom prst="roundRect">
            <a:avLst>
              <a:gd name="adj" fmla="val 38035"/>
            </a:avLst>
          </a:prstGeom>
          <a:solidFill>
            <a:srgbClr val="0E110B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Text 66"/>
          <p:cNvSpPr/>
          <p:nvPr/>
        </p:nvSpPr>
        <p:spPr>
          <a:xfrm>
            <a:off x="1143000" y="6662958"/>
            <a:ext cx="1637233" cy="3550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4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AgentBench</a:t>
            </a:r>
            <a:endParaRPr lang="en-US" sz="2040" dirty="0"/>
          </a:p>
        </p:txBody>
      </p:sp>
      <p:sp>
        <p:nvSpPr>
          <p:cNvPr id="75" name="Text 67"/>
          <p:cNvSpPr/>
          <p:nvPr/>
        </p:nvSpPr>
        <p:spPr>
          <a:xfrm>
            <a:off x="4604370" y="6693499"/>
            <a:ext cx="1188720" cy="29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通用学术基准</a:t>
            </a:r>
            <a:endParaRPr lang="en-US" sz="1440" dirty="0"/>
          </a:p>
        </p:txBody>
      </p:sp>
      <p:sp>
        <p:nvSpPr>
          <p:cNvPr id="76" name="Text 68"/>
          <p:cNvSpPr/>
          <p:nvPr/>
        </p:nvSpPr>
        <p:spPr>
          <a:xfrm>
            <a:off x="8304794" y="6643939"/>
            <a:ext cx="824941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228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~180</a:t>
            </a:r>
            <a:endParaRPr lang="en-US" sz="2280" dirty="0"/>
          </a:p>
        </p:txBody>
      </p:sp>
      <p:sp>
        <p:nvSpPr>
          <p:cNvPr id="77" name="Text 69"/>
          <p:cNvSpPr/>
          <p:nvPr/>
        </p:nvSpPr>
        <p:spPr>
          <a:xfrm>
            <a:off x="9063533" y="6788688"/>
            <a:ext cx="241402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080" b="1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</a:t>
            </a:r>
            <a:endParaRPr lang="en-US" sz="1080" dirty="0"/>
          </a:p>
        </p:txBody>
      </p:sp>
      <p:sp>
        <p:nvSpPr>
          <p:cNvPr id="78" name="Shape 70"/>
          <p:cNvSpPr/>
          <p:nvPr/>
        </p:nvSpPr>
        <p:spPr>
          <a:xfrm>
            <a:off x="9533534" y="6674388"/>
            <a:ext cx="556504" cy="304770"/>
          </a:xfrm>
          <a:prstGeom prst="roundRect">
            <a:avLst>
              <a:gd name="adj" fmla="val 182585"/>
            </a:avLst>
          </a:prstGeom>
          <a:solidFill>
            <a:srgbClr val="FFFFFF">
              <a:alpha val="0"/>
            </a:srgbClr>
          </a:solidFill>
          <a:ln w="9525">
            <a:solidFill>
              <a:srgbClr val="0E110B">
                <a:alpha val="16000"/>
              </a:srgbClr>
            </a:solidFill>
            <a:prstDash val="solid"/>
          </a:ln>
        </p:spPr>
      </p:sp>
      <p:sp>
        <p:nvSpPr>
          <p:cNvPr id="79" name="Text 71"/>
          <p:cNvSpPr/>
          <p:nvPr/>
        </p:nvSpPr>
        <p:spPr>
          <a:xfrm>
            <a:off x="9663105" y="6674388"/>
            <a:ext cx="401422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3D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~2k</a:t>
            </a:r>
            <a:endParaRPr lang="en-US" sz="1320" dirty="0"/>
          </a:p>
        </p:txBody>
      </p:sp>
      <p:sp>
        <p:nvSpPr>
          <p:cNvPr id="80" name="Shape 72"/>
          <p:cNvSpPr/>
          <p:nvPr/>
        </p:nvSpPr>
        <p:spPr>
          <a:xfrm>
            <a:off x="10828965" y="6643939"/>
            <a:ext cx="365760" cy="365760"/>
          </a:xfrm>
          <a:prstGeom prst="ellipse">
            <a:avLst/>
          </a:prstGeom>
          <a:solidFill>
            <a:srgbClr val="86D62B"/>
          </a:solidFill>
          <a:ln w="19050">
            <a:solidFill>
              <a:srgbClr val="FAFAF6"/>
            </a:solidFill>
            <a:prstDash val="solid"/>
          </a:ln>
          <a:effectLst>
            <a:outerShdw sx="100000" sy="100000" kx="0" ky="0" algn="bl" rotWithShape="0" blurRad="76200" dist="12700" dir="16200000">
              <a:srgbClr val="0E110B">
                <a:alpha val="16000"/>
              </a:srgbClr>
            </a:outerShdw>
          </a:effectLst>
        </p:spPr>
      </p:sp>
      <p:sp>
        <p:nvSpPr>
          <p:cNvPr id="81" name="Text 73"/>
          <p:cNvSpPr/>
          <p:nvPr/>
        </p:nvSpPr>
        <p:spPr>
          <a:xfrm>
            <a:off x="10844235" y="6682069"/>
            <a:ext cx="35844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多校</a:t>
            </a:r>
            <a:endParaRPr lang="en-US" sz="1020" dirty="0"/>
          </a:p>
        </p:txBody>
      </p:sp>
      <p:sp>
        <p:nvSpPr>
          <p:cNvPr id="82" name="Text 74"/>
          <p:cNvSpPr/>
          <p:nvPr/>
        </p:nvSpPr>
        <p:spPr>
          <a:xfrm>
            <a:off x="10844235" y="6872539"/>
            <a:ext cx="35844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联合</a:t>
            </a:r>
            <a:endParaRPr lang="en-US" sz="1020" dirty="0"/>
          </a:p>
        </p:txBody>
      </p:sp>
      <p:sp>
        <p:nvSpPr>
          <p:cNvPr id="83" name="Shape 75"/>
          <p:cNvSpPr/>
          <p:nvPr/>
        </p:nvSpPr>
        <p:spPr>
          <a:xfrm>
            <a:off x="11103285" y="6643939"/>
            <a:ext cx="365760" cy="365760"/>
          </a:xfrm>
          <a:prstGeom prst="ellipse">
            <a:avLst/>
          </a:prstGeom>
          <a:solidFill>
            <a:srgbClr val="E9FBC6"/>
          </a:solidFill>
          <a:ln w="19050">
            <a:solidFill>
              <a:srgbClr val="FAFAF6"/>
            </a:solidFill>
            <a:prstDash val="solid"/>
          </a:ln>
          <a:effectLst>
            <a:outerShdw sx="100000" sy="100000" kx="0" ky="0" algn="bl" rotWithShape="0" blurRad="76200" dist="12700" dir="16200000">
              <a:srgbClr val="0E110B">
                <a:alpha val="16000"/>
              </a:srgbClr>
            </a:outerShdw>
          </a:effectLst>
        </p:spPr>
      </p:sp>
      <p:sp>
        <p:nvSpPr>
          <p:cNvPr id="84" name="Text 76"/>
          <p:cNvSpPr/>
          <p:nvPr/>
        </p:nvSpPr>
        <p:spPr>
          <a:xfrm>
            <a:off x="11173785" y="6643939"/>
            <a:ext cx="358445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</a:t>
            </a:r>
            <a:endParaRPr lang="en-US" sz="1020" dirty="0"/>
          </a:p>
        </p:txBody>
      </p:sp>
      <p:sp>
        <p:nvSpPr>
          <p:cNvPr id="85" name="Shape 77"/>
          <p:cNvSpPr/>
          <p:nvPr/>
        </p:nvSpPr>
        <p:spPr>
          <a:xfrm>
            <a:off x="11377605" y="6643939"/>
            <a:ext cx="365760" cy="365760"/>
          </a:xfrm>
          <a:prstGeom prst="ellipse">
            <a:avLst/>
          </a:prstGeom>
          <a:solidFill>
            <a:srgbClr val="E9FBC6"/>
          </a:solidFill>
          <a:ln w="19050">
            <a:solidFill>
              <a:srgbClr val="FAFAF6"/>
            </a:solidFill>
            <a:prstDash val="solid"/>
          </a:ln>
          <a:effectLst>
            <a:outerShdw sx="100000" sy="100000" kx="0" ky="0" algn="bl" rotWithShape="0" blurRad="76200" dist="12700" dir="16200000">
              <a:srgbClr val="0E110B">
                <a:alpha val="16000"/>
              </a:srgbClr>
            </a:outerShdw>
          </a:effectLst>
        </p:spPr>
      </p:sp>
      <p:sp>
        <p:nvSpPr>
          <p:cNvPr id="86" name="Text 78"/>
          <p:cNvSpPr/>
          <p:nvPr/>
        </p:nvSpPr>
        <p:spPr>
          <a:xfrm>
            <a:off x="11392875" y="6682069"/>
            <a:ext cx="35844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</a:t>
            </a:r>
            <a:endParaRPr lang="en-US" sz="1020" dirty="0"/>
          </a:p>
        </p:txBody>
      </p:sp>
      <p:sp>
        <p:nvSpPr>
          <p:cNvPr id="87" name="Text 79"/>
          <p:cNvSpPr/>
          <p:nvPr/>
        </p:nvSpPr>
        <p:spPr>
          <a:xfrm>
            <a:off x="11392875" y="6872539"/>
            <a:ext cx="35844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偏离</a:t>
            </a:r>
            <a:endParaRPr lang="en-US" sz="1020" dirty="0"/>
          </a:p>
        </p:txBody>
      </p:sp>
      <p:sp>
        <p:nvSpPr>
          <p:cNvPr id="88" name="Shape 80"/>
          <p:cNvSpPr/>
          <p:nvPr/>
        </p:nvSpPr>
        <p:spPr>
          <a:xfrm>
            <a:off x="11612880" y="751335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hape 81"/>
          <p:cNvSpPr/>
          <p:nvPr/>
        </p:nvSpPr>
        <p:spPr>
          <a:xfrm>
            <a:off x="11677162" y="751335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Shape 82"/>
          <p:cNvSpPr/>
          <p:nvPr/>
        </p:nvSpPr>
        <p:spPr>
          <a:xfrm>
            <a:off x="11741628" y="751335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Shape 83"/>
          <p:cNvSpPr/>
          <p:nvPr/>
        </p:nvSpPr>
        <p:spPr>
          <a:xfrm>
            <a:off x="11805910" y="751335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Shape 84"/>
          <p:cNvSpPr/>
          <p:nvPr/>
        </p:nvSpPr>
        <p:spPr>
          <a:xfrm>
            <a:off x="11870284" y="751335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Shape 85"/>
          <p:cNvSpPr/>
          <p:nvPr/>
        </p:nvSpPr>
        <p:spPr>
          <a:xfrm>
            <a:off x="11934566" y="751335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" name="Shape 86"/>
          <p:cNvSpPr/>
          <p:nvPr/>
        </p:nvSpPr>
        <p:spPr>
          <a:xfrm>
            <a:off x="11999031" y="751335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Shape 87"/>
          <p:cNvSpPr/>
          <p:nvPr/>
        </p:nvSpPr>
        <p:spPr>
          <a:xfrm>
            <a:off x="12063313" y="751335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Shape 88"/>
          <p:cNvSpPr/>
          <p:nvPr/>
        </p:nvSpPr>
        <p:spPr>
          <a:xfrm>
            <a:off x="12127687" y="751335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Shape 89"/>
          <p:cNvSpPr/>
          <p:nvPr/>
        </p:nvSpPr>
        <p:spPr>
          <a:xfrm>
            <a:off x="12191970" y="751335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" name="Shape 90"/>
          <p:cNvSpPr/>
          <p:nvPr/>
        </p:nvSpPr>
        <p:spPr>
          <a:xfrm>
            <a:off x="12256435" y="751335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" name="Shape 91"/>
          <p:cNvSpPr/>
          <p:nvPr/>
        </p:nvSpPr>
        <p:spPr>
          <a:xfrm>
            <a:off x="12320717" y="751335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0" name="Shape 92"/>
          <p:cNvSpPr/>
          <p:nvPr/>
        </p:nvSpPr>
        <p:spPr>
          <a:xfrm>
            <a:off x="12385091" y="751335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" name="Shape 93"/>
          <p:cNvSpPr/>
          <p:nvPr/>
        </p:nvSpPr>
        <p:spPr>
          <a:xfrm>
            <a:off x="12449373" y="751335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" name="Shape 94"/>
          <p:cNvSpPr/>
          <p:nvPr/>
        </p:nvSpPr>
        <p:spPr>
          <a:xfrm>
            <a:off x="12513838" y="751335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3" name="Shape 95"/>
          <p:cNvSpPr/>
          <p:nvPr/>
        </p:nvSpPr>
        <p:spPr>
          <a:xfrm>
            <a:off x="12578121" y="751335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4" name="Shape 96"/>
          <p:cNvSpPr/>
          <p:nvPr/>
        </p:nvSpPr>
        <p:spPr>
          <a:xfrm>
            <a:off x="12642494" y="751335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" name="Shape 97"/>
          <p:cNvSpPr/>
          <p:nvPr/>
        </p:nvSpPr>
        <p:spPr>
          <a:xfrm>
            <a:off x="12706868" y="751335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6" name="Shape 98"/>
          <p:cNvSpPr/>
          <p:nvPr/>
        </p:nvSpPr>
        <p:spPr>
          <a:xfrm>
            <a:off x="12771242" y="751335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7" name="Shape 99"/>
          <p:cNvSpPr/>
          <p:nvPr/>
        </p:nvSpPr>
        <p:spPr>
          <a:xfrm>
            <a:off x="12835524" y="751335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8" name="Shape 100"/>
          <p:cNvSpPr/>
          <p:nvPr/>
        </p:nvSpPr>
        <p:spPr>
          <a:xfrm>
            <a:off x="12899989" y="751335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9" name="Shape 101"/>
          <p:cNvSpPr/>
          <p:nvPr/>
        </p:nvSpPr>
        <p:spPr>
          <a:xfrm>
            <a:off x="12964272" y="751335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0" name="Shape 102"/>
          <p:cNvSpPr/>
          <p:nvPr/>
        </p:nvSpPr>
        <p:spPr>
          <a:xfrm>
            <a:off x="13028646" y="751335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1" name="Shape 103"/>
          <p:cNvSpPr/>
          <p:nvPr/>
        </p:nvSpPr>
        <p:spPr>
          <a:xfrm>
            <a:off x="13092928" y="751335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2" name="Shape 104"/>
          <p:cNvSpPr/>
          <p:nvPr/>
        </p:nvSpPr>
        <p:spPr>
          <a:xfrm>
            <a:off x="13157393" y="751335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3" name="Shape 105"/>
          <p:cNvSpPr/>
          <p:nvPr/>
        </p:nvSpPr>
        <p:spPr>
          <a:xfrm>
            <a:off x="13221675" y="751335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4" name="Shape 106"/>
          <p:cNvSpPr/>
          <p:nvPr/>
        </p:nvSpPr>
        <p:spPr>
          <a:xfrm>
            <a:off x="13286049" y="751335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5" name="Shape 107"/>
          <p:cNvSpPr/>
          <p:nvPr/>
        </p:nvSpPr>
        <p:spPr>
          <a:xfrm>
            <a:off x="13350331" y="751335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6" name="Shape 108"/>
          <p:cNvSpPr/>
          <p:nvPr/>
        </p:nvSpPr>
        <p:spPr>
          <a:xfrm>
            <a:off x="13414797" y="751335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7" name="Shape 109"/>
          <p:cNvSpPr/>
          <p:nvPr/>
        </p:nvSpPr>
        <p:spPr>
          <a:xfrm>
            <a:off x="13479079" y="751335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8" name="Shape 110"/>
          <p:cNvSpPr/>
          <p:nvPr/>
        </p:nvSpPr>
        <p:spPr>
          <a:xfrm>
            <a:off x="13543453" y="751335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9" name="Shape 111"/>
          <p:cNvSpPr/>
          <p:nvPr/>
        </p:nvSpPr>
        <p:spPr>
          <a:xfrm>
            <a:off x="13607735" y="751335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0" name="Shape 112"/>
          <p:cNvSpPr/>
          <p:nvPr/>
        </p:nvSpPr>
        <p:spPr>
          <a:xfrm>
            <a:off x="13672200" y="751335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1" name="Shape 113"/>
          <p:cNvSpPr/>
          <p:nvPr/>
        </p:nvSpPr>
        <p:spPr>
          <a:xfrm>
            <a:off x="13736483" y="751335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2" name="Shape 114"/>
          <p:cNvSpPr/>
          <p:nvPr/>
        </p:nvSpPr>
        <p:spPr>
          <a:xfrm>
            <a:off x="13800765" y="751335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3" name="Shape 115"/>
          <p:cNvSpPr/>
          <p:nvPr/>
        </p:nvSpPr>
        <p:spPr>
          <a:xfrm>
            <a:off x="13865047" y="751335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0"/>
            <a:ext cx="731520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640080"/>
            <a:ext cx="13167360" cy="121825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846742"/>
            <a:ext cx="1316736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0080"/>
            <a:ext cx="365760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396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规模分布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731520" y="1077101"/>
            <a:ext cx="3657600" cy="598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493"/>
              </a:lnSpc>
              <a:buNone/>
            </a:pPr>
            <a:r>
              <a:rPr lang="en-US" sz="468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现成任务规模</a:t>
            </a:r>
            <a:endParaRPr lang="en-US" sz="4680" dirty="0"/>
          </a:p>
        </p:txBody>
      </p:sp>
      <p:sp>
        <p:nvSpPr>
          <p:cNvPr id="9" name="Text 6"/>
          <p:cNvSpPr/>
          <p:nvPr/>
        </p:nvSpPr>
        <p:spPr>
          <a:xfrm>
            <a:off x="10610606" y="1281029"/>
            <a:ext cx="3379714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候选工具的任务/数据集数量分布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31520" y="2295830"/>
            <a:ext cx="3718590" cy="4007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204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多数工具任务数偏少或需自建；</a:t>
            </a:r>
            <a:endParaRPr lang="en-US" sz="2040" dirty="0"/>
          </a:p>
        </p:txBody>
      </p:sp>
      <p:sp>
        <p:nvSpPr>
          <p:cNvPr id="11" name="Text 8"/>
          <p:cNvSpPr/>
          <p:nvPr/>
        </p:nvSpPr>
        <p:spPr>
          <a:xfrm>
            <a:off x="731520" y="2684450"/>
            <a:ext cx="3817894" cy="4007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204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PawBench 以 150 道现成任务显</a:t>
            </a:r>
            <a:endParaRPr lang="en-US" sz="2040" dirty="0"/>
          </a:p>
        </p:txBody>
      </p:sp>
      <p:sp>
        <p:nvSpPr>
          <p:cNvPr id="12" name="Text 9"/>
          <p:cNvSpPr/>
          <p:nvPr/>
        </p:nvSpPr>
        <p:spPr>
          <a:xfrm>
            <a:off x="731520" y="3073070"/>
            <a:ext cx="1127730" cy="4007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204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著领先。</a:t>
            </a:r>
            <a:endParaRPr lang="en-US" sz="2040" dirty="0"/>
          </a:p>
        </p:txBody>
      </p:sp>
      <p:sp>
        <p:nvSpPr>
          <p:cNvPr id="13" name="Text 10"/>
          <p:cNvSpPr/>
          <p:nvPr/>
        </p:nvSpPr>
        <p:spPr>
          <a:xfrm>
            <a:off x="695584" y="3610582"/>
            <a:ext cx="2040941" cy="1315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494"/>
              </a:lnSpc>
              <a:buNone/>
            </a:pPr>
            <a:r>
              <a:rPr lang="en-US" sz="792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7920" dirty="0"/>
          </a:p>
        </p:txBody>
      </p:sp>
      <p:sp>
        <p:nvSpPr>
          <p:cNvPr id="14" name="Text 11"/>
          <p:cNvSpPr/>
          <p:nvPr/>
        </p:nvSpPr>
        <p:spPr>
          <a:xfrm>
            <a:off x="2525939" y="4237650"/>
            <a:ext cx="399410" cy="4617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48"/>
              </a:lnSpc>
              <a:buNone/>
            </a:pPr>
            <a:r>
              <a:rPr lang="en-US" sz="2376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</a:t>
            </a:r>
            <a:endParaRPr lang="en-US" sz="2376" dirty="0"/>
          </a:p>
        </p:txBody>
      </p:sp>
      <p:sp>
        <p:nvSpPr>
          <p:cNvPr id="15" name="Text 12"/>
          <p:cNvSpPr/>
          <p:nvPr/>
        </p:nvSpPr>
        <p:spPr>
          <a:xfrm>
            <a:off x="731520" y="4703308"/>
            <a:ext cx="3596610" cy="270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14"/>
              </a:lnSpc>
              <a:buNone/>
            </a:pPr>
            <a:r>
              <a:rPr lang="en-US" sz="132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PawBench 现成 Agent 任务数，开箱即用</a:t>
            </a:r>
            <a:endParaRPr lang="en-US" sz="1320" dirty="0"/>
          </a:p>
        </p:txBody>
      </p:sp>
      <p:sp>
        <p:nvSpPr>
          <p:cNvPr id="16" name="Text 13"/>
          <p:cNvSpPr/>
          <p:nvPr/>
        </p:nvSpPr>
        <p:spPr>
          <a:xfrm>
            <a:off x="731520" y="5220675"/>
            <a:ext cx="405381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b="1" spc="162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工具数量按任务区间分布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731520" y="5609295"/>
            <a:ext cx="121890" cy="12189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44850" y="5548305"/>
            <a:ext cx="92967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现成数据集</a:t>
            </a:r>
            <a:endParaRPr lang="en-US" sz="1320" dirty="0"/>
          </a:p>
        </p:txBody>
      </p:sp>
      <p:sp>
        <p:nvSpPr>
          <p:cNvPr id="19" name="Shape 16"/>
          <p:cNvSpPr/>
          <p:nvPr/>
        </p:nvSpPr>
        <p:spPr>
          <a:xfrm>
            <a:off x="731520" y="5952195"/>
            <a:ext cx="121890" cy="121890"/>
          </a:xfrm>
          <a:prstGeom prst="ellipse">
            <a:avLst/>
          </a:prstGeom>
          <a:solidFill>
            <a:srgbClr val="0E11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44850" y="5891205"/>
            <a:ext cx="76197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开箱即用</a:t>
            </a:r>
            <a:endParaRPr lang="en-US" sz="1320" dirty="0"/>
          </a:p>
        </p:txBody>
      </p:sp>
      <p:sp>
        <p:nvSpPr>
          <p:cNvPr id="21" name="Shape 18"/>
          <p:cNvSpPr/>
          <p:nvPr/>
        </p:nvSpPr>
        <p:spPr>
          <a:xfrm>
            <a:off x="731520" y="6295095"/>
            <a:ext cx="121890" cy="121890"/>
          </a:xfrm>
          <a:prstGeom prst="ellipse">
            <a:avLst/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44850" y="6234105"/>
            <a:ext cx="59436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需自建</a:t>
            </a:r>
            <a:endParaRPr lang="en-US" sz="1320" dirty="0"/>
          </a:p>
        </p:txBody>
      </p:sp>
      <p:sp>
        <p:nvSpPr>
          <p:cNvPr id="23" name="Shape 20"/>
          <p:cNvSpPr/>
          <p:nvPr/>
        </p:nvSpPr>
        <p:spPr>
          <a:xfrm>
            <a:off x="731520" y="6637995"/>
            <a:ext cx="121890" cy="121890"/>
          </a:xfrm>
          <a:prstGeom prst="ellipse">
            <a:avLst/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44850" y="6577005"/>
            <a:ext cx="76197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场景契合</a:t>
            </a:r>
            <a:endParaRPr lang="en-US" sz="1320" dirty="0"/>
          </a:p>
        </p:txBody>
      </p:sp>
      <p:sp>
        <p:nvSpPr>
          <p:cNvPr id="25" name="Shape 22"/>
          <p:cNvSpPr/>
          <p:nvPr/>
        </p:nvSpPr>
        <p:spPr>
          <a:xfrm>
            <a:off x="731520" y="7331385"/>
            <a:ext cx="91440" cy="9144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44850" y="7095195"/>
            <a:ext cx="3648822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DeepEval / Promptfoo 等框架类无现成</a:t>
            </a:r>
            <a:endParaRPr lang="en-US" sz="1560" dirty="0"/>
          </a:p>
        </p:txBody>
      </p:sp>
      <p:sp>
        <p:nvSpPr>
          <p:cNvPr id="27" name="Text 24"/>
          <p:cNvSpPr/>
          <p:nvPr/>
        </p:nvSpPr>
        <p:spPr>
          <a:xfrm>
            <a:off x="944850" y="7377105"/>
            <a:ext cx="2072670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数据集，需自行构建。</a:t>
            </a:r>
            <a:endParaRPr lang="en-US" sz="1560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5950" y="2179290"/>
            <a:ext cx="8442930" cy="411480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6408938" y="6025164"/>
            <a:ext cx="431597" cy="2360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道</a:t>
            </a:r>
            <a:endParaRPr lang="en-US" sz="1320" dirty="0"/>
          </a:p>
        </p:txBody>
      </p:sp>
      <p:sp>
        <p:nvSpPr>
          <p:cNvPr id="30" name="Text 26"/>
          <p:cNvSpPr/>
          <p:nvPr/>
        </p:nvSpPr>
        <p:spPr>
          <a:xfrm>
            <a:off x="8285561" y="6025164"/>
            <a:ext cx="845668" cy="2360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19–25 道</a:t>
            </a:r>
            <a:endParaRPr lang="en-US" sz="1320" dirty="0"/>
          </a:p>
        </p:txBody>
      </p:sp>
      <p:sp>
        <p:nvSpPr>
          <p:cNvPr id="31" name="Text 27"/>
          <p:cNvSpPr/>
          <p:nvPr/>
        </p:nvSpPr>
        <p:spPr>
          <a:xfrm>
            <a:off x="10311506" y="6025164"/>
            <a:ext cx="952957" cy="2360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60–102 道</a:t>
            </a:r>
            <a:endParaRPr lang="en-US" sz="1320" dirty="0"/>
          </a:p>
        </p:txBody>
      </p:sp>
      <p:sp>
        <p:nvSpPr>
          <p:cNvPr id="32" name="Text 28"/>
          <p:cNvSpPr/>
          <p:nvPr/>
        </p:nvSpPr>
        <p:spPr>
          <a:xfrm>
            <a:off x="12475159" y="6025164"/>
            <a:ext cx="738378" cy="2360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150+ 道</a:t>
            </a:r>
            <a:endParaRPr lang="en-US" sz="1320" dirty="0"/>
          </a:p>
        </p:txBody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5950" y="6476970"/>
            <a:ext cx="2007840" cy="123444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5631150" y="6667530"/>
            <a:ext cx="444216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道</a:t>
            </a:r>
            <a:endParaRPr lang="en-US" sz="1320" dirty="0"/>
          </a:p>
        </p:txBody>
      </p:sp>
      <p:sp>
        <p:nvSpPr>
          <p:cNvPr id="35" name="Text 30"/>
          <p:cNvSpPr/>
          <p:nvPr/>
        </p:nvSpPr>
        <p:spPr>
          <a:xfrm>
            <a:off x="5631150" y="6941850"/>
            <a:ext cx="295046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80" dirty="0"/>
          </a:p>
        </p:txBody>
      </p:sp>
      <p:sp>
        <p:nvSpPr>
          <p:cNvPr id="36" name="Text 31"/>
          <p:cNvSpPr/>
          <p:nvPr/>
        </p:nvSpPr>
        <p:spPr>
          <a:xfrm>
            <a:off x="5856458" y="7086600"/>
            <a:ext cx="241402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笔</a:t>
            </a:r>
            <a:endParaRPr lang="en-US" sz="1080" dirty="0"/>
          </a:p>
        </p:txBody>
      </p:sp>
      <p:sp>
        <p:nvSpPr>
          <p:cNvPr id="37" name="Text 32"/>
          <p:cNvSpPr/>
          <p:nvPr/>
        </p:nvSpPr>
        <p:spPr>
          <a:xfrm>
            <a:off x="5631150" y="7353330"/>
            <a:ext cx="19751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80" dirty="0"/>
          </a:p>
        </p:txBody>
      </p:sp>
      <p:sp>
        <p:nvSpPr>
          <p:cNvPr id="38" name="Text 33"/>
          <p:cNvSpPr/>
          <p:nvPr/>
        </p:nvSpPr>
        <p:spPr>
          <a:xfrm>
            <a:off x="5712165" y="7353330"/>
            <a:ext cx="534101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亿美元</a:t>
            </a:r>
            <a:endParaRPr lang="en-US" sz="1080" dirty="0"/>
          </a:p>
        </p:txBody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0950" y="6476970"/>
            <a:ext cx="2007840" cy="1234440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7776240" y="6667530"/>
            <a:ext cx="845668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19–25 道</a:t>
            </a:r>
            <a:endParaRPr lang="en-US" sz="1320" dirty="0"/>
          </a:p>
        </p:txBody>
      </p:sp>
      <p:sp>
        <p:nvSpPr>
          <p:cNvPr id="41" name="Text 35"/>
          <p:cNvSpPr/>
          <p:nvPr/>
        </p:nvSpPr>
        <p:spPr>
          <a:xfrm>
            <a:off x="7776240" y="6941850"/>
            <a:ext cx="295046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80" dirty="0"/>
          </a:p>
        </p:txBody>
      </p:sp>
      <p:sp>
        <p:nvSpPr>
          <p:cNvPr id="42" name="Text 36"/>
          <p:cNvSpPr/>
          <p:nvPr/>
        </p:nvSpPr>
        <p:spPr>
          <a:xfrm>
            <a:off x="8001457" y="7086600"/>
            <a:ext cx="241402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笔</a:t>
            </a:r>
            <a:endParaRPr lang="en-US" sz="1080" dirty="0"/>
          </a:p>
        </p:txBody>
      </p:sp>
      <p:sp>
        <p:nvSpPr>
          <p:cNvPr id="43" name="Text 37"/>
          <p:cNvSpPr/>
          <p:nvPr/>
        </p:nvSpPr>
        <p:spPr>
          <a:xfrm>
            <a:off x="7776240" y="7353330"/>
            <a:ext cx="19751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80" dirty="0"/>
          </a:p>
        </p:txBody>
      </p:sp>
      <p:sp>
        <p:nvSpPr>
          <p:cNvPr id="44" name="Text 38"/>
          <p:cNvSpPr/>
          <p:nvPr/>
        </p:nvSpPr>
        <p:spPr>
          <a:xfrm>
            <a:off x="7857165" y="7353330"/>
            <a:ext cx="534101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亿美元</a:t>
            </a:r>
            <a:endParaRPr lang="en-US" sz="1080" dirty="0"/>
          </a:p>
        </p:txBody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5950" y="6476970"/>
            <a:ext cx="2007840" cy="1234440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9921240" y="6667530"/>
            <a:ext cx="952957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60–102 道</a:t>
            </a:r>
            <a:endParaRPr lang="en-US" sz="1320" dirty="0"/>
          </a:p>
        </p:txBody>
      </p:sp>
      <p:sp>
        <p:nvSpPr>
          <p:cNvPr id="47" name="Text 40"/>
          <p:cNvSpPr/>
          <p:nvPr/>
        </p:nvSpPr>
        <p:spPr>
          <a:xfrm>
            <a:off x="9921240" y="6941850"/>
            <a:ext cx="295046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80" dirty="0"/>
          </a:p>
        </p:txBody>
      </p:sp>
      <p:sp>
        <p:nvSpPr>
          <p:cNvPr id="48" name="Text 41"/>
          <p:cNvSpPr/>
          <p:nvPr/>
        </p:nvSpPr>
        <p:spPr>
          <a:xfrm>
            <a:off x="10146548" y="7086600"/>
            <a:ext cx="241402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笔</a:t>
            </a:r>
            <a:endParaRPr lang="en-US" sz="1080" dirty="0"/>
          </a:p>
        </p:txBody>
      </p:sp>
      <p:sp>
        <p:nvSpPr>
          <p:cNvPr id="49" name="Text 42"/>
          <p:cNvSpPr/>
          <p:nvPr/>
        </p:nvSpPr>
        <p:spPr>
          <a:xfrm>
            <a:off x="9921240" y="7353330"/>
            <a:ext cx="19751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80" dirty="0"/>
          </a:p>
        </p:txBody>
      </p:sp>
      <p:sp>
        <p:nvSpPr>
          <p:cNvPr id="50" name="Text 43"/>
          <p:cNvSpPr/>
          <p:nvPr/>
        </p:nvSpPr>
        <p:spPr>
          <a:xfrm>
            <a:off x="10002164" y="7353330"/>
            <a:ext cx="534101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亿美元</a:t>
            </a:r>
            <a:endParaRPr lang="en-US" sz="1080" dirty="0"/>
          </a:p>
        </p:txBody>
      </p:sp>
      <p:pic>
        <p:nvPicPr>
          <p:cNvPr id="5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91040" y="6431250"/>
            <a:ext cx="2007840" cy="1234440"/>
          </a:xfrm>
          <a:prstGeom prst="rect">
            <a:avLst/>
          </a:prstGeom>
        </p:spPr>
      </p:pic>
      <p:sp>
        <p:nvSpPr>
          <p:cNvPr id="52" name="Text 44"/>
          <p:cNvSpPr/>
          <p:nvPr/>
        </p:nvSpPr>
        <p:spPr>
          <a:xfrm>
            <a:off x="12066240" y="6621810"/>
            <a:ext cx="738378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E110B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150+ 道</a:t>
            </a:r>
            <a:endParaRPr lang="en-US" sz="1320" dirty="0"/>
          </a:p>
        </p:txBody>
      </p:sp>
      <p:sp>
        <p:nvSpPr>
          <p:cNvPr id="53" name="Text 45"/>
          <p:cNvSpPr/>
          <p:nvPr/>
        </p:nvSpPr>
        <p:spPr>
          <a:xfrm>
            <a:off x="12066240" y="6896130"/>
            <a:ext cx="295046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80" dirty="0"/>
          </a:p>
        </p:txBody>
      </p:sp>
      <p:sp>
        <p:nvSpPr>
          <p:cNvPr id="54" name="Text 46"/>
          <p:cNvSpPr/>
          <p:nvPr/>
        </p:nvSpPr>
        <p:spPr>
          <a:xfrm>
            <a:off x="12291548" y="7040880"/>
            <a:ext cx="241402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0E110B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笔</a:t>
            </a:r>
            <a:endParaRPr lang="en-US" sz="1080" dirty="0"/>
          </a:p>
        </p:txBody>
      </p:sp>
      <p:sp>
        <p:nvSpPr>
          <p:cNvPr id="55" name="Text 47"/>
          <p:cNvSpPr/>
          <p:nvPr/>
        </p:nvSpPr>
        <p:spPr>
          <a:xfrm>
            <a:off x="12066240" y="7307610"/>
            <a:ext cx="19751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0E110B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80" dirty="0"/>
          </a:p>
        </p:txBody>
      </p:sp>
      <p:sp>
        <p:nvSpPr>
          <p:cNvPr id="56" name="Text 48"/>
          <p:cNvSpPr/>
          <p:nvPr/>
        </p:nvSpPr>
        <p:spPr>
          <a:xfrm>
            <a:off x="12147255" y="7307610"/>
            <a:ext cx="534101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0E110B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亿美元</a:t>
            </a:r>
            <a:endParaRPr lang="en-US" sz="1080" dirty="0"/>
          </a:p>
        </p:txBody>
      </p:sp>
      <p:sp>
        <p:nvSpPr>
          <p:cNvPr id="57" name="Shape 49"/>
          <p:cNvSpPr/>
          <p:nvPr/>
        </p:nvSpPr>
        <p:spPr>
          <a:xfrm>
            <a:off x="11765310" y="7833390"/>
            <a:ext cx="29535" cy="198150"/>
          </a:xfrm>
          <a:prstGeom prst="roundRect">
            <a:avLst>
              <a:gd name="adj" fmla="val 78504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0"/>
          <p:cNvSpPr/>
          <p:nvPr/>
        </p:nvSpPr>
        <p:spPr>
          <a:xfrm>
            <a:off x="11825295" y="7833390"/>
            <a:ext cx="29627" cy="198150"/>
          </a:xfrm>
          <a:prstGeom prst="roundRect">
            <a:avLst>
              <a:gd name="adj" fmla="val 78260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1"/>
          <p:cNvSpPr/>
          <p:nvPr/>
        </p:nvSpPr>
        <p:spPr>
          <a:xfrm>
            <a:off x="11885371" y="7833390"/>
            <a:ext cx="29535" cy="198150"/>
          </a:xfrm>
          <a:prstGeom prst="roundRect">
            <a:avLst>
              <a:gd name="adj" fmla="val 78504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2"/>
          <p:cNvSpPr/>
          <p:nvPr/>
        </p:nvSpPr>
        <p:spPr>
          <a:xfrm>
            <a:off x="11945447" y="7833390"/>
            <a:ext cx="29627" cy="198150"/>
          </a:xfrm>
          <a:prstGeom prst="roundRect">
            <a:avLst>
              <a:gd name="adj" fmla="val 78260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3"/>
          <p:cNvSpPr/>
          <p:nvPr/>
        </p:nvSpPr>
        <p:spPr>
          <a:xfrm>
            <a:off x="12005523" y="7833390"/>
            <a:ext cx="29535" cy="198150"/>
          </a:xfrm>
          <a:prstGeom prst="roundRect">
            <a:avLst>
              <a:gd name="adj" fmla="val 78504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4"/>
          <p:cNvSpPr/>
          <p:nvPr/>
        </p:nvSpPr>
        <p:spPr>
          <a:xfrm>
            <a:off x="12065599" y="7833390"/>
            <a:ext cx="29627" cy="198150"/>
          </a:xfrm>
          <a:prstGeom prst="roundRect">
            <a:avLst>
              <a:gd name="adj" fmla="val 78260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55"/>
          <p:cNvSpPr/>
          <p:nvPr/>
        </p:nvSpPr>
        <p:spPr>
          <a:xfrm>
            <a:off x="12125676" y="7833390"/>
            <a:ext cx="29535" cy="198150"/>
          </a:xfrm>
          <a:prstGeom prst="roundRect">
            <a:avLst>
              <a:gd name="adj" fmla="val 78504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56"/>
          <p:cNvSpPr/>
          <p:nvPr/>
        </p:nvSpPr>
        <p:spPr>
          <a:xfrm>
            <a:off x="12185660" y="7833390"/>
            <a:ext cx="29627" cy="198150"/>
          </a:xfrm>
          <a:prstGeom prst="roundRect">
            <a:avLst>
              <a:gd name="adj" fmla="val 78260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57"/>
          <p:cNvSpPr/>
          <p:nvPr/>
        </p:nvSpPr>
        <p:spPr>
          <a:xfrm>
            <a:off x="12245828" y="7833390"/>
            <a:ext cx="29627" cy="198150"/>
          </a:xfrm>
          <a:prstGeom prst="roundRect">
            <a:avLst>
              <a:gd name="adj" fmla="val 78260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58"/>
          <p:cNvSpPr/>
          <p:nvPr/>
        </p:nvSpPr>
        <p:spPr>
          <a:xfrm>
            <a:off x="12305904" y="7833390"/>
            <a:ext cx="29627" cy="198150"/>
          </a:xfrm>
          <a:prstGeom prst="roundRect">
            <a:avLst>
              <a:gd name="adj" fmla="val 78260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59"/>
          <p:cNvSpPr/>
          <p:nvPr/>
        </p:nvSpPr>
        <p:spPr>
          <a:xfrm>
            <a:off x="12366071" y="7833390"/>
            <a:ext cx="29627" cy="198150"/>
          </a:xfrm>
          <a:prstGeom prst="roundRect">
            <a:avLst>
              <a:gd name="adj" fmla="val 78260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0"/>
          <p:cNvSpPr/>
          <p:nvPr/>
        </p:nvSpPr>
        <p:spPr>
          <a:xfrm>
            <a:off x="12426239" y="7833390"/>
            <a:ext cx="29627" cy="198150"/>
          </a:xfrm>
          <a:prstGeom prst="roundRect">
            <a:avLst>
              <a:gd name="adj" fmla="val 78260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1"/>
          <p:cNvSpPr/>
          <p:nvPr/>
        </p:nvSpPr>
        <p:spPr>
          <a:xfrm>
            <a:off x="12486315" y="7833390"/>
            <a:ext cx="29627" cy="198150"/>
          </a:xfrm>
          <a:prstGeom prst="roundRect">
            <a:avLst>
              <a:gd name="adj" fmla="val 78260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2"/>
          <p:cNvSpPr/>
          <p:nvPr/>
        </p:nvSpPr>
        <p:spPr>
          <a:xfrm>
            <a:off x="12546482" y="7833390"/>
            <a:ext cx="29627" cy="198150"/>
          </a:xfrm>
          <a:prstGeom prst="roundRect">
            <a:avLst>
              <a:gd name="adj" fmla="val 78260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3"/>
          <p:cNvSpPr/>
          <p:nvPr/>
        </p:nvSpPr>
        <p:spPr>
          <a:xfrm>
            <a:off x="12606558" y="7833390"/>
            <a:ext cx="29627" cy="198150"/>
          </a:xfrm>
          <a:prstGeom prst="roundRect">
            <a:avLst>
              <a:gd name="adj" fmla="val 78260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64"/>
          <p:cNvSpPr/>
          <p:nvPr/>
        </p:nvSpPr>
        <p:spPr>
          <a:xfrm>
            <a:off x="12666726" y="7833390"/>
            <a:ext cx="29627" cy="198150"/>
          </a:xfrm>
          <a:prstGeom prst="roundRect">
            <a:avLst>
              <a:gd name="adj" fmla="val 78260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65"/>
          <p:cNvSpPr/>
          <p:nvPr/>
        </p:nvSpPr>
        <p:spPr>
          <a:xfrm>
            <a:off x="12726802" y="7833390"/>
            <a:ext cx="29627" cy="198150"/>
          </a:xfrm>
          <a:prstGeom prst="roundRect">
            <a:avLst>
              <a:gd name="adj" fmla="val 78260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66"/>
          <p:cNvSpPr/>
          <p:nvPr/>
        </p:nvSpPr>
        <p:spPr>
          <a:xfrm>
            <a:off x="12786970" y="7833390"/>
            <a:ext cx="29627" cy="198150"/>
          </a:xfrm>
          <a:prstGeom prst="roundRect">
            <a:avLst>
              <a:gd name="adj" fmla="val 78260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67"/>
          <p:cNvSpPr/>
          <p:nvPr/>
        </p:nvSpPr>
        <p:spPr>
          <a:xfrm>
            <a:off x="12847046" y="7833390"/>
            <a:ext cx="29627" cy="198150"/>
          </a:xfrm>
          <a:prstGeom prst="roundRect">
            <a:avLst>
              <a:gd name="adj" fmla="val 78260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68"/>
          <p:cNvSpPr/>
          <p:nvPr/>
        </p:nvSpPr>
        <p:spPr>
          <a:xfrm>
            <a:off x="12907213" y="7833390"/>
            <a:ext cx="29627" cy="198150"/>
          </a:xfrm>
          <a:prstGeom prst="roundRect">
            <a:avLst>
              <a:gd name="adj" fmla="val 78260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69"/>
          <p:cNvSpPr/>
          <p:nvPr/>
        </p:nvSpPr>
        <p:spPr>
          <a:xfrm>
            <a:off x="12967289" y="7833390"/>
            <a:ext cx="29627" cy="198150"/>
          </a:xfrm>
          <a:prstGeom prst="roundRect">
            <a:avLst>
              <a:gd name="adj" fmla="val 78260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70"/>
          <p:cNvSpPr/>
          <p:nvPr/>
        </p:nvSpPr>
        <p:spPr>
          <a:xfrm>
            <a:off x="13027457" y="7833390"/>
            <a:ext cx="29627" cy="198150"/>
          </a:xfrm>
          <a:prstGeom prst="roundRect">
            <a:avLst>
              <a:gd name="adj" fmla="val 78260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71"/>
          <p:cNvSpPr/>
          <p:nvPr/>
        </p:nvSpPr>
        <p:spPr>
          <a:xfrm>
            <a:off x="13087624" y="7833390"/>
            <a:ext cx="29627" cy="198150"/>
          </a:xfrm>
          <a:prstGeom prst="roundRect">
            <a:avLst>
              <a:gd name="adj" fmla="val 78260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72"/>
          <p:cNvSpPr/>
          <p:nvPr/>
        </p:nvSpPr>
        <p:spPr>
          <a:xfrm>
            <a:off x="13147700" y="7833390"/>
            <a:ext cx="29627" cy="198150"/>
          </a:xfrm>
          <a:prstGeom prst="roundRect">
            <a:avLst>
              <a:gd name="adj" fmla="val 78260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3"/>
          <p:cNvSpPr/>
          <p:nvPr/>
        </p:nvSpPr>
        <p:spPr>
          <a:xfrm>
            <a:off x="13207868" y="7833390"/>
            <a:ext cx="29627" cy="198150"/>
          </a:xfrm>
          <a:prstGeom prst="roundRect">
            <a:avLst>
              <a:gd name="adj" fmla="val 78260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74"/>
          <p:cNvSpPr/>
          <p:nvPr/>
        </p:nvSpPr>
        <p:spPr>
          <a:xfrm>
            <a:off x="13267944" y="7833390"/>
            <a:ext cx="29627" cy="198150"/>
          </a:xfrm>
          <a:prstGeom prst="roundRect">
            <a:avLst>
              <a:gd name="adj" fmla="val 78260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Shape 75"/>
          <p:cNvSpPr/>
          <p:nvPr/>
        </p:nvSpPr>
        <p:spPr>
          <a:xfrm>
            <a:off x="13328112" y="7833390"/>
            <a:ext cx="29627" cy="198150"/>
          </a:xfrm>
          <a:prstGeom prst="roundRect">
            <a:avLst>
              <a:gd name="adj" fmla="val 78260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76"/>
          <p:cNvSpPr/>
          <p:nvPr/>
        </p:nvSpPr>
        <p:spPr>
          <a:xfrm>
            <a:off x="13388188" y="7833390"/>
            <a:ext cx="29627" cy="198150"/>
          </a:xfrm>
          <a:prstGeom prst="roundRect">
            <a:avLst>
              <a:gd name="adj" fmla="val 78260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77"/>
          <p:cNvSpPr/>
          <p:nvPr/>
        </p:nvSpPr>
        <p:spPr>
          <a:xfrm>
            <a:off x="13448355" y="7833390"/>
            <a:ext cx="29627" cy="198150"/>
          </a:xfrm>
          <a:prstGeom prst="roundRect">
            <a:avLst>
              <a:gd name="adj" fmla="val 78260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Shape 78"/>
          <p:cNvSpPr/>
          <p:nvPr/>
        </p:nvSpPr>
        <p:spPr>
          <a:xfrm>
            <a:off x="13508431" y="7833390"/>
            <a:ext cx="29627" cy="198150"/>
          </a:xfrm>
          <a:prstGeom prst="roundRect">
            <a:avLst>
              <a:gd name="adj" fmla="val 78260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Shape 79"/>
          <p:cNvSpPr/>
          <p:nvPr/>
        </p:nvSpPr>
        <p:spPr>
          <a:xfrm>
            <a:off x="13568599" y="7833390"/>
            <a:ext cx="29627" cy="198150"/>
          </a:xfrm>
          <a:prstGeom prst="roundRect">
            <a:avLst>
              <a:gd name="adj" fmla="val 78260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Shape 80"/>
          <p:cNvSpPr/>
          <p:nvPr/>
        </p:nvSpPr>
        <p:spPr>
          <a:xfrm>
            <a:off x="13628766" y="7833390"/>
            <a:ext cx="29627" cy="198150"/>
          </a:xfrm>
          <a:prstGeom prst="roundRect">
            <a:avLst>
              <a:gd name="adj" fmla="val 78260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hape 81"/>
          <p:cNvSpPr/>
          <p:nvPr/>
        </p:nvSpPr>
        <p:spPr>
          <a:xfrm>
            <a:off x="13688842" y="7833390"/>
            <a:ext cx="29627" cy="198150"/>
          </a:xfrm>
          <a:prstGeom prst="roundRect">
            <a:avLst>
              <a:gd name="adj" fmla="val 78260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Shape 82"/>
          <p:cNvSpPr/>
          <p:nvPr/>
        </p:nvSpPr>
        <p:spPr>
          <a:xfrm>
            <a:off x="13749010" y="7833390"/>
            <a:ext cx="29627" cy="198150"/>
          </a:xfrm>
          <a:prstGeom prst="roundRect">
            <a:avLst>
              <a:gd name="adj" fmla="val 78260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Shape 83"/>
          <p:cNvSpPr/>
          <p:nvPr/>
        </p:nvSpPr>
        <p:spPr>
          <a:xfrm>
            <a:off x="13809086" y="7833390"/>
            <a:ext cx="29627" cy="198150"/>
          </a:xfrm>
          <a:prstGeom prst="roundRect">
            <a:avLst>
              <a:gd name="adj" fmla="val 78260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Shape 84"/>
          <p:cNvSpPr/>
          <p:nvPr/>
        </p:nvSpPr>
        <p:spPr>
          <a:xfrm>
            <a:off x="13869253" y="7833390"/>
            <a:ext cx="29627" cy="198150"/>
          </a:xfrm>
          <a:prstGeom prst="roundRect">
            <a:avLst>
              <a:gd name="adj" fmla="val 78260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9461" y="2139696"/>
            <a:ext cx="8192933" cy="5266853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30" y="1524030"/>
            <a:ext cx="5105370" cy="579117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31520" y="640080"/>
            <a:ext cx="13167360" cy="108658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731520" y="1715068"/>
            <a:ext cx="1316736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31520" y="640080"/>
            <a:ext cx="329184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396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核心亮点</a:t>
            </a:r>
            <a:endParaRPr lang="en-US" sz="1320" dirty="0"/>
          </a:p>
        </p:txBody>
      </p:sp>
      <p:sp>
        <p:nvSpPr>
          <p:cNvPr id="9" name="Text 5"/>
          <p:cNvSpPr/>
          <p:nvPr/>
        </p:nvSpPr>
        <p:spPr>
          <a:xfrm>
            <a:off x="731520" y="1074729"/>
            <a:ext cx="3291840" cy="4662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456"/>
              </a:lnSpc>
              <a:buNone/>
            </a:pPr>
            <a:r>
              <a:rPr lang="en-US" sz="36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最大现成任务集</a:t>
            </a:r>
            <a:endParaRPr lang="en-US" sz="3600" dirty="0"/>
          </a:p>
        </p:txBody>
      </p:sp>
      <p:sp>
        <p:nvSpPr>
          <p:cNvPr id="10" name="Text 6"/>
          <p:cNvSpPr/>
          <p:nvPr/>
        </p:nvSpPr>
        <p:spPr>
          <a:xfrm>
            <a:off x="9854214" y="1149264"/>
            <a:ext cx="4136106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PawBench 开箱即用的 Agent 任务数量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731520" y="2587020"/>
            <a:ext cx="487650" cy="38130"/>
          </a:xfrm>
          <a:prstGeom prst="rect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341150" y="2514600"/>
            <a:ext cx="2194926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PawBench 开箱即用的 Agent 任务数量</a:t>
            </a:r>
            <a:endParaRPr lang="en-US" sz="960" dirty="0"/>
          </a:p>
        </p:txBody>
      </p:sp>
      <p:sp>
        <p:nvSpPr>
          <p:cNvPr id="13" name="Text 9"/>
          <p:cNvSpPr/>
          <p:nvPr/>
        </p:nvSpPr>
        <p:spPr>
          <a:xfrm>
            <a:off x="627278" y="2539018"/>
            <a:ext cx="5669280" cy="3723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696"/>
              </a:lnSpc>
              <a:buNone/>
            </a:pPr>
            <a:r>
              <a:rPr lang="en-US" sz="2280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22800" dirty="0"/>
          </a:p>
        </p:txBody>
      </p:sp>
      <p:sp>
        <p:nvSpPr>
          <p:cNvPr id="14" name="Text 10"/>
          <p:cNvSpPr/>
          <p:nvPr/>
        </p:nvSpPr>
        <p:spPr>
          <a:xfrm>
            <a:off x="5897148" y="4183974"/>
            <a:ext cx="960120" cy="12847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609"/>
              </a:lnSpc>
              <a:buNone/>
            </a:pPr>
            <a:r>
              <a:rPr lang="en-US" sz="684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</a:t>
            </a:r>
            <a:endParaRPr lang="en-US" sz="6840" dirty="0"/>
          </a:p>
        </p:txBody>
      </p:sp>
      <p:sp>
        <p:nvSpPr>
          <p:cNvPr id="15" name="Text 11"/>
          <p:cNvSpPr/>
          <p:nvPr/>
        </p:nvSpPr>
        <p:spPr>
          <a:xfrm>
            <a:off x="731520" y="5348645"/>
            <a:ext cx="7711410" cy="4465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现成 Agent 任务集</a:t>
            </a:r>
            <a:endParaRPr lang="en-US" sz="2280" dirty="0"/>
          </a:p>
        </p:txBody>
      </p:sp>
      <p:sp>
        <p:nvSpPr>
          <p:cNvPr id="16" name="Shape 12"/>
          <p:cNvSpPr/>
          <p:nvPr/>
        </p:nvSpPr>
        <p:spPr>
          <a:xfrm>
            <a:off x="731520" y="5775990"/>
            <a:ext cx="1433596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31520" y="5775990"/>
            <a:ext cx="34779" cy="685800"/>
          </a:xfrm>
          <a:prstGeom prst="rect">
            <a:avLst/>
          </a:prstGeom>
          <a:solidFill>
            <a:srgbClr val="0E110B">
              <a:alpha val="16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37260" y="5775990"/>
            <a:ext cx="1319296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WildClawBench</a:t>
            </a:r>
            <a:endParaRPr lang="en-US" sz="1260" dirty="0"/>
          </a:p>
        </p:txBody>
      </p:sp>
      <p:sp>
        <p:nvSpPr>
          <p:cNvPr id="19" name="Text 15"/>
          <p:cNvSpPr/>
          <p:nvPr/>
        </p:nvSpPr>
        <p:spPr>
          <a:xfrm>
            <a:off x="937260" y="6034811"/>
            <a:ext cx="616915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312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3120" dirty="0"/>
          </a:p>
        </p:txBody>
      </p:sp>
      <p:sp>
        <p:nvSpPr>
          <p:cNvPr id="20" name="Text 16"/>
          <p:cNvSpPr/>
          <p:nvPr/>
        </p:nvSpPr>
        <p:spPr>
          <a:xfrm>
            <a:off x="1474379" y="6248370"/>
            <a:ext cx="256032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2591867" y="5775990"/>
            <a:ext cx="1877995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2591867" y="5775990"/>
            <a:ext cx="34779" cy="685800"/>
          </a:xfrm>
          <a:prstGeom prst="rect">
            <a:avLst/>
          </a:prstGeom>
          <a:solidFill>
            <a:srgbClr val="0E110B">
              <a:alpha val="16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2797607" y="5775990"/>
            <a:ext cx="1244956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ClawProBench</a:t>
            </a:r>
            <a:endParaRPr lang="en-US" sz="1260" dirty="0"/>
          </a:p>
        </p:txBody>
      </p:sp>
      <p:sp>
        <p:nvSpPr>
          <p:cNvPr id="24" name="Text 20"/>
          <p:cNvSpPr/>
          <p:nvPr/>
        </p:nvSpPr>
        <p:spPr>
          <a:xfrm>
            <a:off x="2797607" y="6034811"/>
            <a:ext cx="1595628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312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102+68</a:t>
            </a:r>
            <a:endParaRPr lang="en-US" sz="3120" dirty="0"/>
          </a:p>
        </p:txBody>
      </p:sp>
      <p:sp>
        <p:nvSpPr>
          <p:cNvPr id="25" name="Text 21"/>
          <p:cNvSpPr/>
          <p:nvPr/>
        </p:nvSpPr>
        <p:spPr>
          <a:xfrm>
            <a:off x="4317431" y="6248370"/>
            <a:ext cx="256032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4896521" y="5775990"/>
            <a:ext cx="1538387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4896521" y="5775990"/>
            <a:ext cx="34779" cy="685800"/>
          </a:xfrm>
          <a:prstGeom prst="rect">
            <a:avLst/>
          </a:prstGeom>
          <a:solidFill>
            <a:srgbClr val="0E110B">
              <a:alpha val="16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102261" y="5775990"/>
            <a:ext cx="1479499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框架类(DeepEval)</a:t>
            </a:r>
            <a:endParaRPr lang="en-US" sz="1260" dirty="0"/>
          </a:p>
        </p:txBody>
      </p:sp>
      <p:sp>
        <p:nvSpPr>
          <p:cNvPr id="29" name="Text 25"/>
          <p:cNvSpPr/>
          <p:nvPr/>
        </p:nvSpPr>
        <p:spPr>
          <a:xfrm>
            <a:off x="5102261" y="6034811"/>
            <a:ext cx="363322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312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120" dirty="0"/>
          </a:p>
        </p:txBody>
      </p:sp>
      <p:sp>
        <p:nvSpPr>
          <p:cNvPr id="30" name="Text 26"/>
          <p:cNvSpPr/>
          <p:nvPr/>
        </p:nvSpPr>
        <p:spPr>
          <a:xfrm>
            <a:off x="5393771" y="6248370"/>
            <a:ext cx="256032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731520" y="6804690"/>
            <a:ext cx="198150" cy="15270"/>
          </a:xfrm>
          <a:prstGeom prst="rect">
            <a:avLst/>
          </a:prstGeom>
          <a:solidFill>
            <a:srgbClr val="0E110B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036290" y="6804690"/>
            <a:ext cx="4814682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其他工具最多 60–102 道，框架类需自行构建数据集。</a:t>
            </a:r>
            <a:endParaRPr lang="en-US" sz="1560" dirty="0"/>
          </a:p>
        </p:txBody>
      </p:sp>
      <p:sp>
        <p:nvSpPr>
          <p:cNvPr id="33" name="Shape 29"/>
          <p:cNvSpPr/>
          <p:nvPr/>
        </p:nvSpPr>
        <p:spPr>
          <a:xfrm>
            <a:off x="731520" y="7547640"/>
            <a:ext cx="91440" cy="9144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944850" y="7444770"/>
            <a:ext cx="379476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开箱即用，无需额外开发即可开展评测。</a:t>
            </a:r>
            <a:endParaRPr lang="en-US" sz="1620" dirty="0"/>
          </a:p>
        </p:txBody>
      </p:sp>
      <p:sp>
        <p:nvSpPr>
          <p:cNvPr id="35" name="Shape 31"/>
          <p:cNvSpPr/>
          <p:nvPr/>
        </p:nvSpPr>
        <p:spPr>
          <a:xfrm>
            <a:off x="11612880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11677162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11741628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11805910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1870284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1934566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1999031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12063313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1212768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12191970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12256435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12320717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12385091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12449373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12513838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12578121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12642494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12706868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12771242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12835524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12899989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12964272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13028646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13092928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1315739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13221675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13286049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13350331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1341479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13479079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1354345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13607735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13672200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4"/>
          <p:cNvSpPr/>
          <p:nvPr/>
        </p:nvSpPr>
        <p:spPr>
          <a:xfrm>
            <a:off x="1373648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13800765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1386504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658277"/>
            <a:ext cx="7315200" cy="576072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2133570"/>
            <a:ext cx="3962370" cy="396237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14400" y="2344064"/>
            <a:ext cx="487650" cy="15270"/>
          </a:xfrm>
          <a:prstGeom prst="rect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539210" y="2248875"/>
            <a:ext cx="1148029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b="1" spc="504" kern="0" dirty="0">
                <a:solidFill>
                  <a:srgbClr val="86D6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</a:t>
            </a:r>
            <a:endParaRPr lang="en-US" sz="1440" dirty="0"/>
          </a:p>
        </p:txBody>
      </p:sp>
      <p:sp>
        <p:nvSpPr>
          <p:cNvPr id="8" name="Text 4"/>
          <p:cNvSpPr/>
          <p:nvPr/>
        </p:nvSpPr>
        <p:spPr>
          <a:xfrm>
            <a:off x="2710739" y="2233605"/>
            <a:ext cx="455828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b="1" spc="504" kern="0" dirty="0">
                <a:solidFill>
                  <a:srgbClr val="86D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40" dirty="0"/>
          </a:p>
        </p:txBody>
      </p:sp>
      <p:sp>
        <p:nvSpPr>
          <p:cNvPr id="9" name="Text 5"/>
          <p:cNvSpPr/>
          <p:nvPr/>
        </p:nvSpPr>
        <p:spPr>
          <a:xfrm>
            <a:off x="914400" y="2756064"/>
            <a:ext cx="12893040" cy="10874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347"/>
              </a:lnSpc>
              <a:buNone/>
            </a:pPr>
            <a:r>
              <a:rPr lang="en-US" sz="8880" b="1" spc="-111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六维逐项对比</a:t>
            </a:r>
            <a:endParaRPr lang="en-US" sz="8880" dirty="0"/>
          </a:p>
        </p:txBody>
      </p:sp>
      <p:sp>
        <p:nvSpPr>
          <p:cNvPr id="10" name="Text 6"/>
          <p:cNvSpPr/>
          <p:nvPr/>
        </p:nvSpPr>
        <p:spPr>
          <a:xfrm>
            <a:off x="914400" y="4042562"/>
            <a:ext cx="4434840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从活跃度到现成数据集的系统评估</a:t>
            </a:r>
            <a:endParaRPr lang="en-US" sz="2280" dirty="0"/>
          </a:p>
        </p:txBody>
      </p:sp>
      <p:sp>
        <p:nvSpPr>
          <p:cNvPr id="11" name="Text 7"/>
          <p:cNvSpPr/>
          <p:nvPr/>
        </p:nvSpPr>
        <p:spPr>
          <a:xfrm>
            <a:off x="914400" y="4649998"/>
            <a:ext cx="7656546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620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按六个维度对 10 款工具逐一比较，明确各自优劣与适用边界。</a:t>
            </a:r>
            <a:endParaRPr lang="en-US" sz="1620" dirty="0"/>
          </a:p>
        </p:txBody>
      </p:sp>
      <p:sp>
        <p:nvSpPr>
          <p:cNvPr id="12" name="Shape 8"/>
          <p:cNvSpPr/>
          <p:nvPr/>
        </p:nvSpPr>
        <p:spPr>
          <a:xfrm>
            <a:off x="914400" y="5354818"/>
            <a:ext cx="1203990" cy="510510"/>
          </a:xfrm>
          <a:prstGeom prst="roundRect">
            <a:avLst>
              <a:gd name="adj" fmla="val 109002"/>
            </a:avLst>
          </a:prstGeom>
          <a:solidFill>
            <a:srgbClr val="FFFFFF">
              <a:alpha val="0"/>
            </a:srgbClr>
          </a:solidFill>
          <a:ln w="9525">
            <a:solidFill>
              <a:srgbClr val="0E110B">
                <a:alpha val="10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914400" y="5354818"/>
            <a:ext cx="76170" cy="7617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303020" y="5354818"/>
            <a:ext cx="685800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6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活跃度</a:t>
            </a:r>
            <a:endParaRPr lang="en-US" sz="1560" dirty="0"/>
          </a:p>
        </p:txBody>
      </p:sp>
      <p:sp>
        <p:nvSpPr>
          <p:cNvPr id="15" name="Shape 11"/>
          <p:cNvSpPr/>
          <p:nvPr/>
        </p:nvSpPr>
        <p:spPr>
          <a:xfrm>
            <a:off x="2240280" y="5354818"/>
            <a:ext cx="1005840" cy="510510"/>
          </a:xfrm>
          <a:prstGeom prst="roundRect">
            <a:avLst>
              <a:gd name="adj" fmla="val 109002"/>
            </a:avLst>
          </a:prstGeom>
          <a:solidFill>
            <a:srgbClr val="FFFFFF">
              <a:alpha val="0"/>
            </a:srgbClr>
          </a:solidFill>
          <a:ln w="9525">
            <a:solidFill>
              <a:srgbClr val="0E110B">
                <a:alpha val="10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240280" y="5354818"/>
            <a:ext cx="76170" cy="7617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628900" y="5354818"/>
            <a:ext cx="490118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6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</a:t>
            </a:r>
            <a:endParaRPr lang="en-US" sz="1560" dirty="0"/>
          </a:p>
        </p:txBody>
      </p:sp>
      <p:sp>
        <p:nvSpPr>
          <p:cNvPr id="18" name="Shape 14"/>
          <p:cNvSpPr/>
          <p:nvPr/>
        </p:nvSpPr>
        <p:spPr>
          <a:xfrm>
            <a:off x="3368010" y="5354818"/>
            <a:ext cx="1203990" cy="510510"/>
          </a:xfrm>
          <a:prstGeom prst="roundRect">
            <a:avLst>
              <a:gd name="adj" fmla="val 109002"/>
            </a:avLst>
          </a:prstGeom>
          <a:solidFill>
            <a:srgbClr val="FFFFFF">
              <a:alpha val="0"/>
            </a:srgbClr>
          </a:solidFill>
          <a:ln w="9525">
            <a:solidFill>
              <a:srgbClr val="0E110B">
                <a:alpha val="10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368010" y="5354818"/>
            <a:ext cx="76170" cy="7617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756630" y="5354818"/>
            <a:ext cx="685800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6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国产化</a:t>
            </a:r>
            <a:endParaRPr lang="en-US" sz="1560" dirty="0"/>
          </a:p>
        </p:txBody>
      </p:sp>
      <p:sp>
        <p:nvSpPr>
          <p:cNvPr id="21" name="Shape 17"/>
          <p:cNvSpPr/>
          <p:nvPr/>
        </p:nvSpPr>
        <p:spPr>
          <a:xfrm>
            <a:off x="4693890" y="5354818"/>
            <a:ext cx="1600200" cy="510510"/>
          </a:xfrm>
          <a:prstGeom prst="roundRect">
            <a:avLst>
              <a:gd name="adj" fmla="val 109002"/>
            </a:avLst>
          </a:prstGeom>
          <a:solidFill>
            <a:srgbClr val="FFFFFF">
              <a:alpha val="0"/>
            </a:srgbClr>
          </a:solidFill>
          <a:ln w="9525">
            <a:solidFill>
              <a:srgbClr val="0E110B">
                <a:alpha val="1000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693890" y="5354818"/>
            <a:ext cx="76170" cy="7617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082510" y="5354818"/>
            <a:ext cx="1082010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6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现成数据集</a:t>
            </a:r>
            <a:endParaRPr lang="en-US" sz="1560" dirty="0"/>
          </a:p>
        </p:txBody>
      </p:sp>
      <p:sp>
        <p:nvSpPr>
          <p:cNvPr id="24" name="Shape 20"/>
          <p:cNvSpPr/>
          <p:nvPr/>
        </p:nvSpPr>
        <p:spPr>
          <a:xfrm>
            <a:off x="914400" y="7402800"/>
            <a:ext cx="91440" cy="9144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1127730" y="7307610"/>
            <a:ext cx="4450110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下一页起逐项展开活跃度、开源、国产化等维度。</a:t>
            </a:r>
            <a:endParaRPr lang="en-US" sz="1560" dirty="0"/>
          </a:p>
        </p:txBody>
      </p:sp>
      <p:sp>
        <p:nvSpPr>
          <p:cNvPr id="26" name="Shape 22"/>
          <p:cNvSpPr/>
          <p:nvPr/>
        </p:nvSpPr>
        <p:spPr>
          <a:xfrm>
            <a:off x="11430000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11494282" y="734190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11558748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11623030" y="734190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11687404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11751686" y="734190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11816151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11880433" y="734190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11944807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12009090" y="734190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12073555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12137837" y="734190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12202211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2266493" y="734190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2330958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2395241" y="734190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12459614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12523988" y="734190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12588362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12652644" y="734190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12717109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12781392" y="734190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12845766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12910048" y="734190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12974513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13038795" y="734190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13103169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13167451" y="734190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13231917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13296199" y="734190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13360573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13424855" y="734190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13489320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13553603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13617885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13682167" y="734190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99" y="0"/>
            <a:ext cx="7022501" cy="395029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640080"/>
            <a:ext cx="13167360" cy="123288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861372"/>
            <a:ext cx="1316736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0080"/>
            <a:ext cx="374904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396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维度对比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731520" y="1077364"/>
            <a:ext cx="3749040" cy="6126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608"/>
              </a:lnSpc>
              <a:buNone/>
            </a:pPr>
            <a:r>
              <a:rPr lang="en-US" sz="48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活跃度与开源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13213080" y="1295659"/>
            <a:ext cx="77724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可控性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16798" y="2097588"/>
            <a:ext cx="1457279" cy="568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688"/>
              </a:lnSpc>
              <a:buNone/>
            </a:pPr>
            <a:r>
              <a:rPr lang="en-US" sz="3360" b="1" dirty="0">
                <a:solidFill>
                  <a:srgbClr val="EFA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活跃度</a:t>
            </a:r>
            <a:endParaRPr lang="en-US" sz="3360" dirty="0"/>
          </a:p>
        </p:txBody>
      </p:sp>
      <p:sp>
        <p:nvSpPr>
          <p:cNvPr id="11" name="Text 8"/>
          <p:cNvSpPr/>
          <p:nvPr/>
        </p:nvSpPr>
        <p:spPr>
          <a:xfrm>
            <a:off x="2148840" y="2354580"/>
            <a:ext cx="1302639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180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活跃度 / 开源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20" y="2722329"/>
            <a:ext cx="5641757" cy="35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174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款工具均已开源，但维护频率与离线可控性差异明显。</a:t>
            </a:r>
            <a:endParaRPr lang="en-US" sz="1740" dirty="0"/>
          </a:p>
        </p:txBody>
      </p:sp>
      <p:sp>
        <p:nvSpPr>
          <p:cNvPr id="13" name="Text 10"/>
          <p:cNvSpPr/>
          <p:nvPr/>
        </p:nvSpPr>
        <p:spPr>
          <a:xfrm>
            <a:off x="731520" y="3166110"/>
            <a:ext cx="2574236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60" b="1" spc="47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10/10 开源 · 维护频率参差不齐</a:t>
            </a:r>
            <a:endParaRPr lang="en-US" sz="1260" dirty="0"/>
          </a:p>
        </p:txBody>
      </p:sp>
      <p:sp>
        <p:nvSpPr>
          <p:cNvPr id="14" name="Text 11"/>
          <p:cNvSpPr/>
          <p:nvPr/>
        </p:nvSpPr>
        <p:spPr>
          <a:xfrm>
            <a:off x="12517953" y="2067411"/>
            <a:ext cx="1498519" cy="9265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4526"/>
              </a:lnSpc>
              <a:buNone/>
            </a:pPr>
            <a:r>
              <a:rPr lang="en-US" sz="5520" b="1" dirty="0">
                <a:solidFill>
                  <a:srgbClr val="EFA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~2k</a:t>
            </a:r>
            <a:endParaRPr lang="en-US" sz="5520" dirty="0"/>
          </a:p>
        </p:txBody>
      </p:sp>
      <p:sp>
        <p:nvSpPr>
          <p:cNvPr id="15" name="Text 12"/>
          <p:cNvSpPr/>
          <p:nvPr/>
        </p:nvSpPr>
        <p:spPr>
          <a:xfrm>
            <a:off x="11942521" y="2860792"/>
            <a:ext cx="1956359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260" b="1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PawBench GitHub Stars</a:t>
            </a:r>
            <a:endParaRPr lang="en-US" sz="1260" dirty="0"/>
          </a:p>
        </p:txBody>
      </p:sp>
      <p:sp>
        <p:nvSpPr>
          <p:cNvPr id="16" name="Shape 13"/>
          <p:cNvSpPr/>
          <p:nvPr/>
        </p:nvSpPr>
        <p:spPr>
          <a:xfrm>
            <a:off x="731520" y="3855750"/>
            <a:ext cx="13167360" cy="3200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" y="4152604"/>
            <a:ext cx="13167360" cy="23186"/>
          </a:xfrm>
          <a:prstGeom prst="rect">
            <a:avLst/>
          </a:prstGeom>
          <a:solidFill>
            <a:srgbClr val="0E110B"/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29670" y="3878610"/>
            <a:ext cx="744436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b="1" spc="162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评测工具</a:t>
            </a:r>
            <a:endParaRPr lang="en-US" sz="1080" dirty="0"/>
          </a:p>
        </p:txBody>
      </p:sp>
      <p:sp>
        <p:nvSpPr>
          <p:cNvPr id="19" name="Text 16"/>
          <p:cNvSpPr/>
          <p:nvPr/>
        </p:nvSpPr>
        <p:spPr>
          <a:xfrm>
            <a:off x="4420301" y="3878610"/>
            <a:ext cx="576758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b="1" spc="162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活跃度</a:t>
            </a:r>
            <a:endParaRPr lang="en-US" sz="1080" dirty="0"/>
          </a:p>
        </p:txBody>
      </p:sp>
      <p:sp>
        <p:nvSpPr>
          <p:cNvPr id="20" name="Text 17"/>
          <p:cNvSpPr/>
          <p:nvPr/>
        </p:nvSpPr>
        <p:spPr>
          <a:xfrm>
            <a:off x="8554395" y="3878610"/>
            <a:ext cx="1079792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b="1" spc="162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开源与可控性</a:t>
            </a:r>
            <a:endParaRPr lang="en-US" sz="108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175790"/>
            <a:ext cx="13167360" cy="324521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188720" y="4181826"/>
            <a:ext cx="1313810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2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PawBench</a:t>
            </a:r>
            <a:endParaRPr lang="en-US" sz="1920" dirty="0"/>
          </a:p>
        </p:txBody>
      </p:sp>
      <p:sp>
        <p:nvSpPr>
          <p:cNvPr id="23" name="Text 19"/>
          <p:cNvSpPr/>
          <p:nvPr/>
        </p:nvSpPr>
        <p:spPr>
          <a:xfrm>
            <a:off x="7758288" y="4197096"/>
            <a:ext cx="24627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68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80" dirty="0"/>
          </a:p>
        </p:txBody>
      </p:sp>
      <p:sp>
        <p:nvSpPr>
          <p:cNvPr id="24" name="Text 20"/>
          <p:cNvSpPr/>
          <p:nvPr/>
        </p:nvSpPr>
        <p:spPr>
          <a:xfrm>
            <a:off x="7896103" y="4280855"/>
            <a:ext cx="429692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838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/100</a:t>
            </a:r>
            <a:endParaRPr lang="en-US" sz="1020" dirty="0"/>
          </a:p>
        </p:txBody>
      </p:sp>
      <p:sp>
        <p:nvSpPr>
          <p:cNvPr id="25" name="Text 21"/>
          <p:cNvSpPr/>
          <p:nvPr/>
        </p:nvSpPr>
        <p:spPr>
          <a:xfrm>
            <a:off x="8600115" y="4200845"/>
            <a:ext cx="2240280" cy="29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MIT，持续更新，离线可控</a:t>
            </a:r>
            <a:endParaRPr lang="en-US" sz="144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500311"/>
            <a:ext cx="13167360" cy="324703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143000" y="4506438"/>
            <a:ext cx="1445301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2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OpenJudge</a:t>
            </a:r>
            <a:endParaRPr lang="en-US" sz="1920" dirty="0"/>
          </a:p>
        </p:txBody>
      </p:sp>
      <p:sp>
        <p:nvSpPr>
          <p:cNvPr id="28" name="Text 23"/>
          <p:cNvSpPr/>
          <p:nvPr/>
        </p:nvSpPr>
        <p:spPr>
          <a:xfrm>
            <a:off x="7712568" y="4521617"/>
            <a:ext cx="24627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68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80" dirty="0"/>
          </a:p>
        </p:txBody>
      </p:sp>
      <p:sp>
        <p:nvSpPr>
          <p:cNvPr id="29" name="Text 24"/>
          <p:cNvSpPr/>
          <p:nvPr/>
        </p:nvSpPr>
        <p:spPr>
          <a:xfrm>
            <a:off x="7850383" y="4605467"/>
            <a:ext cx="429692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838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/100</a:t>
            </a:r>
            <a:endParaRPr lang="en-US" sz="1020" dirty="0"/>
          </a:p>
        </p:txBody>
      </p:sp>
      <p:sp>
        <p:nvSpPr>
          <p:cNvPr id="30" name="Text 25"/>
          <p:cNvSpPr/>
          <p:nvPr/>
        </p:nvSpPr>
        <p:spPr>
          <a:xfrm>
            <a:off x="8554395" y="4525457"/>
            <a:ext cx="2093976" cy="29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Apache2.0，阿里云采用</a:t>
            </a:r>
            <a:endParaRPr lang="en-US" sz="144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825014"/>
            <a:ext cx="13167360" cy="324521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143000" y="4831050"/>
            <a:ext cx="1919021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2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WildClawBench</a:t>
            </a:r>
            <a:endParaRPr lang="en-US" sz="1920" dirty="0"/>
          </a:p>
        </p:txBody>
      </p:sp>
      <p:sp>
        <p:nvSpPr>
          <p:cNvPr id="33" name="Text 27"/>
          <p:cNvSpPr/>
          <p:nvPr/>
        </p:nvSpPr>
        <p:spPr>
          <a:xfrm>
            <a:off x="7712568" y="4846320"/>
            <a:ext cx="24627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68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80" dirty="0"/>
          </a:p>
        </p:txBody>
      </p:sp>
      <p:sp>
        <p:nvSpPr>
          <p:cNvPr id="34" name="Text 28"/>
          <p:cNvSpPr/>
          <p:nvPr/>
        </p:nvSpPr>
        <p:spPr>
          <a:xfrm>
            <a:off x="7850383" y="4930170"/>
            <a:ext cx="429692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838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/100</a:t>
            </a:r>
            <a:endParaRPr lang="en-US" sz="1020" dirty="0"/>
          </a:p>
        </p:txBody>
      </p:sp>
      <p:sp>
        <p:nvSpPr>
          <p:cNvPr id="35" name="Text 29"/>
          <p:cNvSpPr/>
          <p:nvPr/>
        </p:nvSpPr>
        <p:spPr>
          <a:xfrm>
            <a:off x="8554395" y="4850160"/>
            <a:ext cx="1691640" cy="29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MIT，但素材需联网</a:t>
            </a:r>
            <a:endParaRPr lang="en-US" sz="1440" dirty="0"/>
          </a:p>
        </p:txBody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149535"/>
            <a:ext cx="13167360" cy="324703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143000" y="5155662"/>
            <a:ext cx="1390894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2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BenchClaw</a:t>
            </a:r>
            <a:endParaRPr lang="en-US" sz="1920" dirty="0"/>
          </a:p>
        </p:txBody>
      </p:sp>
      <p:sp>
        <p:nvSpPr>
          <p:cNvPr id="38" name="Text 31"/>
          <p:cNvSpPr/>
          <p:nvPr/>
        </p:nvSpPr>
        <p:spPr>
          <a:xfrm>
            <a:off x="7712568" y="5170841"/>
            <a:ext cx="24627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68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80" dirty="0"/>
          </a:p>
        </p:txBody>
      </p:sp>
      <p:sp>
        <p:nvSpPr>
          <p:cNvPr id="39" name="Text 32"/>
          <p:cNvSpPr/>
          <p:nvPr/>
        </p:nvSpPr>
        <p:spPr>
          <a:xfrm>
            <a:off x="7850383" y="5254691"/>
            <a:ext cx="429692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838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/100</a:t>
            </a:r>
            <a:endParaRPr lang="en-US" sz="1020" dirty="0"/>
          </a:p>
        </p:txBody>
      </p:sp>
      <p:sp>
        <p:nvSpPr>
          <p:cNvPr id="40" name="Text 33"/>
          <p:cNvSpPr/>
          <p:nvPr/>
        </p:nvSpPr>
        <p:spPr>
          <a:xfrm>
            <a:off x="8554395" y="5174681"/>
            <a:ext cx="1663294" cy="29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MIT-0，但远程拉题</a:t>
            </a:r>
            <a:endParaRPr lang="en-US" sz="1440" dirty="0"/>
          </a:p>
        </p:txBody>
      </p:sp>
      <p:sp>
        <p:nvSpPr>
          <p:cNvPr id="41" name="Shape 34"/>
          <p:cNvSpPr/>
          <p:nvPr/>
        </p:nvSpPr>
        <p:spPr>
          <a:xfrm>
            <a:off x="929670" y="5586984"/>
            <a:ext cx="91440" cy="91440"/>
          </a:xfrm>
          <a:prstGeom prst="roundRect">
            <a:avLst>
              <a:gd name="adj" fmla="val 38035"/>
            </a:avLst>
          </a:prstGeom>
          <a:solidFill>
            <a:srgbClr val="EFA63A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1143000" y="5480365"/>
            <a:ext cx="1546250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2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AgentBench</a:t>
            </a:r>
            <a:endParaRPr lang="en-US" sz="1920" dirty="0"/>
          </a:p>
        </p:txBody>
      </p:sp>
      <p:sp>
        <p:nvSpPr>
          <p:cNvPr id="43" name="Shape 36"/>
          <p:cNvSpPr/>
          <p:nvPr/>
        </p:nvSpPr>
        <p:spPr>
          <a:xfrm>
            <a:off x="4420301" y="5586984"/>
            <a:ext cx="2991094" cy="91440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4420301" y="5586984"/>
            <a:ext cx="996879" cy="91440"/>
          </a:xfrm>
          <a:prstGeom prst="rect">
            <a:avLst/>
          </a:prstGeom>
          <a:solidFill>
            <a:srgbClr val="EE835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7712568" y="5495544"/>
            <a:ext cx="24627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68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80" dirty="0"/>
          </a:p>
        </p:txBody>
      </p:sp>
      <p:sp>
        <p:nvSpPr>
          <p:cNvPr id="46" name="Text 39"/>
          <p:cNvSpPr/>
          <p:nvPr/>
        </p:nvSpPr>
        <p:spPr>
          <a:xfrm>
            <a:off x="7850383" y="5579394"/>
            <a:ext cx="429692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838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/100</a:t>
            </a:r>
            <a:endParaRPr lang="en-US" sz="1020" dirty="0"/>
          </a:p>
        </p:txBody>
      </p:sp>
      <p:sp>
        <p:nvSpPr>
          <p:cNvPr id="47" name="Text 40"/>
          <p:cNvSpPr/>
          <p:nvPr/>
        </p:nvSpPr>
        <p:spPr>
          <a:xfrm>
            <a:off x="8554395" y="5499384"/>
            <a:ext cx="1874520" cy="29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MIT，学术项目已完结</a:t>
            </a:r>
            <a:endParaRPr lang="en-US" sz="1440" dirty="0"/>
          </a:p>
        </p:txBody>
      </p:sp>
      <p:sp>
        <p:nvSpPr>
          <p:cNvPr id="48" name="Text 41"/>
          <p:cNvSpPr/>
          <p:nvPr/>
        </p:nvSpPr>
        <p:spPr>
          <a:xfrm>
            <a:off x="731520" y="6240780"/>
            <a:ext cx="13258800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spc="179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关键观察</a:t>
            </a:r>
            <a:endParaRPr lang="en-US" sz="1020" dirty="0"/>
          </a:p>
        </p:txBody>
      </p:sp>
      <p:sp>
        <p:nvSpPr>
          <p:cNvPr id="49" name="Shape 42"/>
          <p:cNvSpPr/>
          <p:nvPr/>
        </p:nvSpPr>
        <p:spPr>
          <a:xfrm>
            <a:off x="731520" y="6537960"/>
            <a:ext cx="2468880" cy="548640"/>
          </a:xfrm>
          <a:prstGeom prst="roundRect">
            <a:avLst>
              <a:gd name="adj" fmla="val 29583"/>
            </a:avLst>
          </a:prstGeom>
          <a:solidFill>
            <a:srgbClr val="FFFFFF"/>
          </a:solidFill>
          <a:ln w="9525">
            <a:solidFill>
              <a:srgbClr val="0E110B">
                <a:alpha val="16000"/>
              </a:srgbClr>
            </a:solidFill>
            <a:prstDash val="solid"/>
          </a:ln>
        </p:spPr>
      </p:sp>
      <p:sp>
        <p:nvSpPr>
          <p:cNvPr id="50" name="Shape 43"/>
          <p:cNvSpPr/>
          <p:nvPr/>
        </p:nvSpPr>
        <p:spPr>
          <a:xfrm>
            <a:off x="906810" y="6682710"/>
            <a:ext cx="259050" cy="259050"/>
          </a:xfrm>
          <a:prstGeom prst="ellipse">
            <a:avLst/>
          </a:prstGeom>
          <a:solidFill>
            <a:srgbClr val="86D62B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998342" y="6682710"/>
            <a:ext cx="217018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5FA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20" dirty="0"/>
          </a:p>
        </p:txBody>
      </p:sp>
      <p:sp>
        <p:nvSpPr>
          <p:cNvPr id="52" name="Text 45"/>
          <p:cNvSpPr/>
          <p:nvPr/>
        </p:nvSpPr>
        <p:spPr>
          <a:xfrm>
            <a:off x="1272570" y="6682710"/>
            <a:ext cx="1844070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阿里通义团队高频维护</a:t>
            </a:r>
            <a:endParaRPr lang="en-US" sz="1380" dirty="0"/>
          </a:p>
        </p:txBody>
      </p:sp>
      <p:pic>
        <p:nvPicPr>
          <p:cNvPr id="5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2830" y="6736110"/>
            <a:ext cx="152430" cy="152430"/>
          </a:xfrm>
          <a:prstGeom prst="rect">
            <a:avLst/>
          </a:prstGeom>
        </p:spPr>
      </p:pic>
      <p:sp>
        <p:nvSpPr>
          <p:cNvPr id="54" name="Shape 46"/>
          <p:cNvSpPr/>
          <p:nvPr/>
        </p:nvSpPr>
        <p:spPr>
          <a:xfrm>
            <a:off x="3550890" y="6537960"/>
            <a:ext cx="2770723" cy="548640"/>
          </a:xfrm>
          <a:prstGeom prst="roundRect">
            <a:avLst>
              <a:gd name="adj" fmla="val 29583"/>
            </a:avLst>
          </a:prstGeom>
          <a:solidFill>
            <a:srgbClr val="FFFFFF"/>
          </a:solidFill>
          <a:ln w="9525">
            <a:solidFill>
              <a:srgbClr val="0E110B">
                <a:alpha val="16000"/>
              </a:srgbClr>
            </a:solidFill>
            <a:prstDash val="solid"/>
          </a:ln>
        </p:spPr>
      </p:sp>
      <p:sp>
        <p:nvSpPr>
          <p:cNvPr id="55" name="Shape 47"/>
          <p:cNvSpPr/>
          <p:nvPr/>
        </p:nvSpPr>
        <p:spPr>
          <a:xfrm>
            <a:off x="3726180" y="6682710"/>
            <a:ext cx="259050" cy="259050"/>
          </a:xfrm>
          <a:prstGeom prst="ellipse">
            <a:avLst/>
          </a:prstGeom>
          <a:solidFill>
            <a:srgbClr val="86D62B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48"/>
          <p:cNvSpPr/>
          <p:nvPr/>
        </p:nvSpPr>
        <p:spPr>
          <a:xfrm>
            <a:off x="3805824" y="6682710"/>
            <a:ext cx="217018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5FA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20" dirty="0"/>
          </a:p>
        </p:txBody>
      </p:sp>
      <p:sp>
        <p:nvSpPr>
          <p:cNvPr id="57" name="Text 49"/>
          <p:cNvSpPr/>
          <p:nvPr/>
        </p:nvSpPr>
        <p:spPr>
          <a:xfrm>
            <a:off x="4091940" y="6682710"/>
            <a:ext cx="214582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BenchClaw 题目远程拉取</a:t>
            </a:r>
            <a:endParaRPr lang="en-US" sz="1380" dirty="0"/>
          </a:p>
        </p:txBody>
      </p:sp>
      <p:pic>
        <p:nvPicPr>
          <p:cNvPr id="5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4043" y="6736110"/>
            <a:ext cx="152430" cy="152430"/>
          </a:xfrm>
          <a:prstGeom prst="rect">
            <a:avLst/>
          </a:prstGeom>
        </p:spPr>
      </p:pic>
      <p:sp>
        <p:nvSpPr>
          <p:cNvPr id="59" name="Shape 50"/>
          <p:cNvSpPr/>
          <p:nvPr/>
        </p:nvSpPr>
        <p:spPr>
          <a:xfrm>
            <a:off x="6672102" y="6537960"/>
            <a:ext cx="2439071" cy="548640"/>
          </a:xfrm>
          <a:prstGeom prst="roundRect">
            <a:avLst>
              <a:gd name="adj" fmla="val 29583"/>
            </a:avLst>
          </a:prstGeom>
          <a:solidFill>
            <a:srgbClr val="FFFFFF"/>
          </a:solidFill>
          <a:ln w="9525">
            <a:solidFill>
              <a:srgbClr val="0E110B">
                <a:alpha val="16000"/>
              </a:srgbClr>
            </a:solidFill>
            <a:prstDash val="solid"/>
          </a:ln>
        </p:spPr>
      </p:sp>
      <p:sp>
        <p:nvSpPr>
          <p:cNvPr id="60" name="Shape 51"/>
          <p:cNvSpPr/>
          <p:nvPr/>
        </p:nvSpPr>
        <p:spPr>
          <a:xfrm>
            <a:off x="6847393" y="6682710"/>
            <a:ext cx="259050" cy="259050"/>
          </a:xfrm>
          <a:prstGeom prst="ellipse">
            <a:avLst/>
          </a:prstGeom>
          <a:solidFill>
            <a:srgbClr val="86D62B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Text 52"/>
          <p:cNvSpPr/>
          <p:nvPr/>
        </p:nvSpPr>
        <p:spPr>
          <a:xfrm>
            <a:off x="6925848" y="6682710"/>
            <a:ext cx="217018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5FA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20" dirty="0"/>
          </a:p>
        </p:txBody>
      </p:sp>
      <p:sp>
        <p:nvSpPr>
          <p:cNvPr id="62" name="Text 53"/>
          <p:cNvSpPr/>
          <p:nvPr/>
        </p:nvSpPr>
        <p:spPr>
          <a:xfrm>
            <a:off x="7213153" y="6682710"/>
            <a:ext cx="1814261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WildClaw 素材需联网</a:t>
            </a:r>
            <a:endParaRPr lang="en-US" sz="1380" dirty="0"/>
          </a:p>
        </p:txBody>
      </p:sp>
      <p:pic>
        <p:nvPicPr>
          <p:cNvPr id="6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63695" y="6736110"/>
            <a:ext cx="152430" cy="152430"/>
          </a:xfrm>
          <a:prstGeom prst="rect">
            <a:avLst/>
          </a:prstGeom>
        </p:spPr>
      </p:pic>
      <p:sp>
        <p:nvSpPr>
          <p:cNvPr id="64" name="Shape 54"/>
          <p:cNvSpPr/>
          <p:nvPr/>
        </p:nvSpPr>
        <p:spPr>
          <a:xfrm>
            <a:off x="9461754" y="6537960"/>
            <a:ext cx="2671054" cy="548640"/>
          </a:xfrm>
          <a:prstGeom prst="roundRect">
            <a:avLst>
              <a:gd name="adj" fmla="val 29583"/>
            </a:avLst>
          </a:prstGeom>
          <a:solidFill>
            <a:srgbClr val="FFFFFF"/>
          </a:solidFill>
          <a:ln w="9525">
            <a:solidFill>
              <a:srgbClr val="0E110B">
                <a:alpha val="16000"/>
              </a:srgbClr>
            </a:solidFill>
            <a:prstDash val="solid"/>
          </a:ln>
        </p:spPr>
      </p:sp>
      <p:sp>
        <p:nvSpPr>
          <p:cNvPr id="65" name="Shape 55"/>
          <p:cNvSpPr/>
          <p:nvPr/>
        </p:nvSpPr>
        <p:spPr>
          <a:xfrm>
            <a:off x="9637044" y="6682710"/>
            <a:ext cx="259050" cy="259050"/>
          </a:xfrm>
          <a:prstGeom prst="ellipse">
            <a:avLst/>
          </a:prstGeom>
          <a:solidFill>
            <a:srgbClr val="86D62B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Text 56"/>
          <p:cNvSpPr/>
          <p:nvPr/>
        </p:nvSpPr>
        <p:spPr>
          <a:xfrm>
            <a:off x="9713214" y="6682710"/>
            <a:ext cx="217018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5FA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20" dirty="0"/>
          </a:p>
        </p:txBody>
      </p:sp>
      <p:sp>
        <p:nvSpPr>
          <p:cNvPr id="67" name="Text 57"/>
          <p:cNvSpPr/>
          <p:nvPr/>
        </p:nvSpPr>
        <p:spPr>
          <a:xfrm>
            <a:off x="10002804" y="6682710"/>
            <a:ext cx="2046244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AgentBench 已停止开发</a:t>
            </a:r>
            <a:endParaRPr lang="en-US" sz="1380" dirty="0"/>
          </a:p>
        </p:txBody>
      </p:sp>
      <p:pic>
        <p:nvPicPr>
          <p:cNvPr id="6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85238" y="6736110"/>
            <a:ext cx="152430" cy="152430"/>
          </a:xfrm>
          <a:prstGeom prst="rect">
            <a:avLst/>
          </a:prstGeom>
        </p:spPr>
      </p:pic>
      <p:sp>
        <p:nvSpPr>
          <p:cNvPr id="69" name="Shape 58"/>
          <p:cNvSpPr/>
          <p:nvPr/>
        </p:nvSpPr>
        <p:spPr>
          <a:xfrm>
            <a:off x="12483389" y="6537960"/>
            <a:ext cx="2118390" cy="548640"/>
          </a:xfrm>
          <a:prstGeom prst="roundRect">
            <a:avLst>
              <a:gd name="adj" fmla="val 29583"/>
            </a:avLst>
          </a:prstGeom>
          <a:solidFill>
            <a:srgbClr val="FFFFFF"/>
          </a:solidFill>
          <a:ln w="9525">
            <a:solidFill>
              <a:srgbClr val="0E110B">
                <a:alpha val="16000"/>
              </a:srgbClr>
            </a:solidFill>
            <a:prstDash val="solid"/>
          </a:ln>
        </p:spPr>
      </p:sp>
      <p:sp>
        <p:nvSpPr>
          <p:cNvPr id="70" name="Shape 59"/>
          <p:cNvSpPr/>
          <p:nvPr/>
        </p:nvSpPr>
        <p:spPr>
          <a:xfrm>
            <a:off x="12658588" y="6682710"/>
            <a:ext cx="259050" cy="259050"/>
          </a:xfrm>
          <a:prstGeom prst="ellipse">
            <a:avLst/>
          </a:prstGeom>
          <a:solidFill>
            <a:srgbClr val="86D62B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Text 60"/>
          <p:cNvSpPr/>
          <p:nvPr/>
        </p:nvSpPr>
        <p:spPr>
          <a:xfrm>
            <a:off x="12737775" y="6682710"/>
            <a:ext cx="217018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5FA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20" dirty="0"/>
          </a:p>
        </p:txBody>
      </p:sp>
      <p:sp>
        <p:nvSpPr>
          <p:cNvPr id="72" name="Text 61"/>
          <p:cNvSpPr/>
          <p:nvPr/>
        </p:nvSpPr>
        <p:spPr>
          <a:xfrm>
            <a:off x="13024348" y="6682710"/>
            <a:ext cx="1493490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框架类需自建用例</a:t>
            </a:r>
            <a:endParaRPr lang="en-US" sz="1380" dirty="0"/>
          </a:p>
        </p:txBody>
      </p:sp>
      <p:sp>
        <p:nvSpPr>
          <p:cNvPr id="73" name="Shape 62"/>
          <p:cNvSpPr/>
          <p:nvPr/>
        </p:nvSpPr>
        <p:spPr>
          <a:xfrm>
            <a:off x="731520" y="7547640"/>
            <a:ext cx="91440" cy="9144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Text 63"/>
          <p:cNvSpPr/>
          <p:nvPr/>
        </p:nvSpPr>
        <p:spPr>
          <a:xfrm>
            <a:off x="944850" y="7444770"/>
            <a:ext cx="407859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PawBench/OpenJudge 由阿里持续维护。</a:t>
            </a:r>
            <a:endParaRPr lang="en-US" sz="1620" dirty="0"/>
          </a:p>
        </p:txBody>
      </p:sp>
      <p:sp>
        <p:nvSpPr>
          <p:cNvPr id="75" name="Shape 64"/>
          <p:cNvSpPr/>
          <p:nvPr/>
        </p:nvSpPr>
        <p:spPr>
          <a:xfrm>
            <a:off x="11612880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65"/>
          <p:cNvSpPr/>
          <p:nvPr/>
        </p:nvSpPr>
        <p:spPr>
          <a:xfrm>
            <a:off x="11677162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66"/>
          <p:cNvSpPr/>
          <p:nvPr/>
        </p:nvSpPr>
        <p:spPr>
          <a:xfrm>
            <a:off x="11741628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67"/>
          <p:cNvSpPr/>
          <p:nvPr/>
        </p:nvSpPr>
        <p:spPr>
          <a:xfrm>
            <a:off x="11805910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68"/>
          <p:cNvSpPr/>
          <p:nvPr/>
        </p:nvSpPr>
        <p:spPr>
          <a:xfrm>
            <a:off x="11870284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69"/>
          <p:cNvSpPr/>
          <p:nvPr/>
        </p:nvSpPr>
        <p:spPr>
          <a:xfrm>
            <a:off x="11934566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0"/>
          <p:cNvSpPr/>
          <p:nvPr/>
        </p:nvSpPr>
        <p:spPr>
          <a:xfrm>
            <a:off x="11999031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71"/>
          <p:cNvSpPr/>
          <p:nvPr/>
        </p:nvSpPr>
        <p:spPr>
          <a:xfrm>
            <a:off x="12063313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Shape 72"/>
          <p:cNvSpPr/>
          <p:nvPr/>
        </p:nvSpPr>
        <p:spPr>
          <a:xfrm>
            <a:off x="1212768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73"/>
          <p:cNvSpPr/>
          <p:nvPr/>
        </p:nvSpPr>
        <p:spPr>
          <a:xfrm>
            <a:off x="12191970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74"/>
          <p:cNvSpPr/>
          <p:nvPr/>
        </p:nvSpPr>
        <p:spPr>
          <a:xfrm>
            <a:off x="12256435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Shape 75"/>
          <p:cNvSpPr/>
          <p:nvPr/>
        </p:nvSpPr>
        <p:spPr>
          <a:xfrm>
            <a:off x="12320717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Shape 76"/>
          <p:cNvSpPr/>
          <p:nvPr/>
        </p:nvSpPr>
        <p:spPr>
          <a:xfrm>
            <a:off x="12385091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Shape 77"/>
          <p:cNvSpPr/>
          <p:nvPr/>
        </p:nvSpPr>
        <p:spPr>
          <a:xfrm>
            <a:off x="12449373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hape 78"/>
          <p:cNvSpPr/>
          <p:nvPr/>
        </p:nvSpPr>
        <p:spPr>
          <a:xfrm>
            <a:off x="12513838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Shape 79"/>
          <p:cNvSpPr/>
          <p:nvPr/>
        </p:nvSpPr>
        <p:spPr>
          <a:xfrm>
            <a:off x="12578121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Shape 80"/>
          <p:cNvSpPr/>
          <p:nvPr/>
        </p:nvSpPr>
        <p:spPr>
          <a:xfrm>
            <a:off x="12642494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Shape 81"/>
          <p:cNvSpPr/>
          <p:nvPr/>
        </p:nvSpPr>
        <p:spPr>
          <a:xfrm>
            <a:off x="12706868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Shape 82"/>
          <p:cNvSpPr/>
          <p:nvPr/>
        </p:nvSpPr>
        <p:spPr>
          <a:xfrm>
            <a:off x="12771242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" name="Shape 83"/>
          <p:cNvSpPr/>
          <p:nvPr/>
        </p:nvSpPr>
        <p:spPr>
          <a:xfrm>
            <a:off x="12835524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Shape 84"/>
          <p:cNvSpPr/>
          <p:nvPr/>
        </p:nvSpPr>
        <p:spPr>
          <a:xfrm>
            <a:off x="12899989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Shape 85"/>
          <p:cNvSpPr/>
          <p:nvPr/>
        </p:nvSpPr>
        <p:spPr>
          <a:xfrm>
            <a:off x="12964272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Shape 86"/>
          <p:cNvSpPr/>
          <p:nvPr/>
        </p:nvSpPr>
        <p:spPr>
          <a:xfrm>
            <a:off x="13028646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" name="Shape 87"/>
          <p:cNvSpPr/>
          <p:nvPr/>
        </p:nvSpPr>
        <p:spPr>
          <a:xfrm>
            <a:off x="13092928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" name="Shape 88"/>
          <p:cNvSpPr/>
          <p:nvPr/>
        </p:nvSpPr>
        <p:spPr>
          <a:xfrm>
            <a:off x="1315739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0" name="Shape 89"/>
          <p:cNvSpPr/>
          <p:nvPr/>
        </p:nvSpPr>
        <p:spPr>
          <a:xfrm>
            <a:off x="13221675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" name="Shape 90"/>
          <p:cNvSpPr/>
          <p:nvPr/>
        </p:nvSpPr>
        <p:spPr>
          <a:xfrm>
            <a:off x="13286049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" name="Shape 91"/>
          <p:cNvSpPr/>
          <p:nvPr/>
        </p:nvSpPr>
        <p:spPr>
          <a:xfrm>
            <a:off x="13350331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3" name="Shape 92"/>
          <p:cNvSpPr/>
          <p:nvPr/>
        </p:nvSpPr>
        <p:spPr>
          <a:xfrm>
            <a:off x="1341479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4" name="Shape 93"/>
          <p:cNvSpPr/>
          <p:nvPr/>
        </p:nvSpPr>
        <p:spPr>
          <a:xfrm>
            <a:off x="13479079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" name="Shape 94"/>
          <p:cNvSpPr/>
          <p:nvPr/>
        </p:nvSpPr>
        <p:spPr>
          <a:xfrm>
            <a:off x="1354345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6" name="Shape 95"/>
          <p:cNvSpPr/>
          <p:nvPr/>
        </p:nvSpPr>
        <p:spPr>
          <a:xfrm>
            <a:off x="13607735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7" name="Shape 96"/>
          <p:cNvSpPr/>
          <p:nvPr/>
        </p:nvSpPr>
        <p:spPr>
          <a:xfrm>
            <a:off x="13672200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8" name="Shape 97"/>
          <p:cNvSpPr/>
          <p:nvPr/>
        </p:nvSpPr>
        <p:spPr>
          <a:xfrm>
            <a:off x="1373648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9" name="Shape 98"/>
          <p:cNvSpPr/>
          <p:nvPr/>
        </p:nvSpPr>
        <p:spPr>
          <a:xfrm>
            <a:off x="13800765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0" name="Shape 99"/>
          <p:cNvSpPr/>
          <p:nvPr/>
        </p:nvSpPr>
        <p:spPr>
          <a:xfrm>
            <a:off x="1386504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4336" y="1810421"/>
            <a:ext cx="8778240" cy="5431536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4953030"/>
            <a:ext cx="3429000" cy="327657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31520" y="640080"/>
            <a:ext cx="13167360" cy="108658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731520" y="1715068"/>
            <a:ext cx="1316736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31520" y="640080"/>
            <a:ext cx="329184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396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维度对比</a:t>
            </a:r>
            <a:endParaRPr lang="en-US" sz="1320" dirty="0"/>
          </a:p>
        </p:txBody>
      </p:sp>
      <p:sp>
        <p:nvSpPr>
          <p:cNvPr id="9" name="Text 5"/>
          <p:cNvSpPr/>
          <p:nvPr/>
        </p:nvSpPr>
        <p:spPr>
          <a:xfrm>
            <a:off x="731520" y="1074729"/>
            <a:ext cx="3291840" cy="4662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456"/>
              </a:lnSpc>
              <a:buNone/>
            </a:pPr>
            <a:r>
              <a:rPr lang="en-US" sz="36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国产化与扩展性</a:t>
            </a:r>
            <a:endParaRPr lang="en-US" sz="3600" dirty="0"/>
          </a:p>
        </p:txBody>
      </p:sp>
      <p:sp>
        <p:nvSpPr>
          <p:cNvPr id="10" name="Text 6"/>
          <p:cNvSpPr/>
          <p:nvPr/>
        </p:nvSpPr>
        <p:spPr>
          <a:xfrm>
            <a:off x="10698480" y="1149264"/>
            <a:ext cx="329184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国产模型支持与自定义任务能力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731520" y="2388870"/>
            <a:ext cx="487650" cy="38130"/>
          </a:xfrm>
          <a:prstGeom prst="rect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341150" y="2316450"/>
            <a:ext cx="929488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264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国产友好</a:t>
            </a:r>
            <a:endParaRPr lang="en-US" sz="1320" dirty="0"/>
          </a:p>
        </p:txBody>
      </p:sp>
      <p:sp>
        <p:nvSpPr>
          <p:cNvPr id="13" name="Text 9"/>
          <p:cNvSpPr/>
          <p:nvPr/>
        </p:nvSpPr>
        <p:spPr>
          <a:xfrm>
            <a:off x="669524" y="2439623"/>
            <a:ext cx="2372959" cy="22601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316"/>
              </a:lnSpc>
              <a:buNone/>
            </a:pPr>
            <a:r>
              <a:rPr lang="en-US" sz="1380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800" dirty="0"/>
          </a:p>
        </p:txBody>
      </p:sp>
      <p:sp>
        <p:nvSpPr>
          <p:cNvPr id="14" name="Text 10"/>
          <p:cNvSpPr/>
          <p:nvPr/>
        </p:nvSpPr>
        <p:spPr>
          <a:xfrm>
            <a:off x="2597353" y="2439623"/>
            <a:ext cx="3316986" cy="22601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316"/>
              </a:lnSpc>
              <a:buNone/>
            </a:pPr>
            <a:r>
              <a:rPr lang="en-US" sz="13800" b="1" dirty="0">
                <a:solidFill>
                  <a:srgbClr val="B7B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/10</a:t>
            </a:r>
            <a:endParaRPr lang="en-US" sz="13800" dirty="0"/>
          </a:p>
        </p:txBody>
      </p:sp>
      <p:sp>
        <p:nvSpPr>
          <p:cNvPr id="15" name="Text 11"/>
          <p:cNvSpPr/>
          <p:nvPr/>
        </p:nvSpPr>
        <p:spPr>
          <a:xfrm>
            <a:off x="5414528" y="3427628"/>
            <a:ext cx="617220" cy="7894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395"/>
              </a:lnSpc>
              <a:buNone/>
            </a:pPr>
            <a:r>
              <a:rPr lang="en-US" sz="414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</a:t>
            </a:r>
            <a:endParaRPr lang="en-US" sz="4140" dirty="0"/>
          </a:p>
        </p:txBody>
      </p:sp>
      <p:sp>
        <p:nvSpPr>
          <p:cNvPr id="16" name="Text 12"/>
          <p:cNvSpPr/>
          <p:nvPr/>
        </p:nvSpPr>
        <p:spPr>
          <a:xfrm>
            <a:off x="731520" y="4136791"/>
            <a:ext cx="7559070" cy="4007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4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PawBench 国产化契合度</a:t>
            </a:r>
            <a:endParaRPr lang="en-US" sz="2040" dirty="0"/>
          </a:p>
        </p:txBody>
      </p:sp>
      <p:sp>
        <p:nvSpPr>
          <p:cNvPr id="17" name="Text 13"/>
          <p:cNvSpPr/>
          <p:nvPr/>
        </p:nvSpPr>
        <p:spPr>
          <a:xfrm>
            <a:off x="731520" y="4789902"/>
            <a:ext cx="726434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b="1" spc="135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满分基准</a:t>
            </a:r>
            <a:endParaRPr lang="en-US" sz="1080" dirty="0"/>
          </a:p>
        </p:txBody>
      </p:sp>
      <p:sp>
        <p:nvSpPr>
          <p:cNvPr id="18" name="Shape 14"/>
          <p:cNvSpPr/>
          <p:nvPr/>
        </p:nvSpPr>
        <p:spPr>
          <a:xfrm>
            <a:off x="1441734" y="4854641"/>
            <a:ext cx="7366955" cy="228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441734" y="4854641"/>
            <a:ext cx="7366955" cy="34779"/>
          </a:xfrm>
          <a:prstGeom prst="rect">
            <a:avLst/>
          </a:prstGeom>
          <a:solidFill>
            <a:srgbClr val="0E110B"/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31520" y="5064222"/>
            <a:ext cx="867537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spc="153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扩展性评分</a:t>
            </a:r>
            <a:endParaRPr lang="en-US" sz="1020" dirty="0"/>
          </a:p>
        </p:txBody>
      </p:sp>
      <p:sp>
        <p:nvSpPr>
          <p:cNvPr id="21" name="Shape 17"/>
          <p:cNvSpPr/>
          <p:nvPr/>
        </p:nvSpPr>
        <p:spPr>
          <a:xfrm>
            <a:off x="6612209" y="5041362"/>
            <a:ext cx="198150" cy="1527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8443B">
                <a:alpha val="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612209" y="5041362"/>
            <a:ext cx="198150" cy="23186"/>
          </a:xfrm>
          <a:prstGeom prst="rect">
            <a:avLst/>
          </a:prstGeom>
          <a:solidFill>
            <a:srgbClr val="E8443B"/>
          </a:solidFill>
          <a:ln w="12700">
            <a:solidFill>
              <a:srgbClr val="E8443B">
                <a:alpha val="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871350" y="5064222"/>
            <a:ext cx="2258797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spc="153" kern="0" dirty="0">
                <a:solidFill>
                  <a:srgbClr val="E84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OPENJUDGE，扩展性强</a:t>
            </a:r>
            <a:endParaRPr lang="en-US" sz="102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323271"/>
            <a:ext cx="8077170" cy="67053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906810" y="5429982"/>
            <a:ext cx="504749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E84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国产化</a:t>
            </a:r>
            <a:endParaRPr lang="en-US" sz="1080" dirty="0"/>
          </a:p>
        </p:txBody>
      </p:sp>
      <p:sp>
        <p:nvSpPr>
          <p:cNvPr id="26" name="Text 21"/>
          <p:cNvSpPr/>
          <p:nvPr/>
        </p:nvSpPr>
        <p:spPr>
          <a:xfrm>
            <a:off x="906810" y="5620451"/>
            <a:ext cx="402336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E84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  <p:sp>
        <p:nvSpPr>
          <p:cNvPr id="27" name="Text 22"/>
          <p:cNvSpPr/>
          <p:nvPr/>
        </p:nvSpPr>
        <p:spPr>
          <a:xfrm>
            <a:off x="1190274" y="5620451"/>
            <a:ext cx="2648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E84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1800" dirty="0"/>
          </a:p>
        </p:txBody>
      </p:sp>
      <p:sp>
        <p:nvSpPr>
          <p:cNvPr id="28" name="Text 23"/>
          <p:cNvSpPr/>
          <p:nvPr/>
        </p:nvSpPr>
        <p:spPr>
          <a:xfrm>
            <a:off x="3766414" y="5429982"/>
            <a:ext cx="504749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扩展性</a:t>
            </a:r>
            <a:endParaRPr lang="en-US" sz="1080" dirty="0"/>
          </a:p>
        </p:txBody>
      </p:sp>
      <p:sp>
        <p:nvSpPr>
          <p:cNvPr id="29" name="Text 24"/>
          <p:cNvSpPr/>
          <p:nvPr/>
        </p:nvSpPr>
        <p:spPr>
          <a:xfrm>
            <a:off x="3766414" y="5620451"/>
            <a:ext cx="256032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838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  <p:sp>
        <p:nvSpPr>
          <p:cNvPr id="30" name="Text 25"/>
          <p:cNvSpPr/>
          <p:nvPr/>
        </p:nvSpPr>
        <p:spPr>
          <a:xfrm>
            <a:off x="3908237" y="5620451"/>
            <a:ext cx="2648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838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1800" dirty="0"/>
          </a:p>
        </p:txBody>
      </p:sp>
      <p:sp>
        <p:nvSpPr>
          <p:cNvPr id="31" name="Text 26"/>
          <p:cNvSpPr/>
          <p:nvPr/>
        </p:nvSpPr>
        <p:spPr>
          <a:xfrm>
            <a:off x="6375197" y="5429982"/>
            <a:ext cx="504749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5FA0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易用性</a:t>
            </a:r>
            <a:endParaRPr lang="en-US" sz="1080" dirty="0"/>
          </a:p>
        </p:txBody>
      </p:sp>
      <p:sp>
        <p:nvSpPr>
          <p:cNvPr id="32" name="Text 27"/>
          <p:cNvSpPr/>
          <p:nvPr/>
        </p:nvSpPr>
        <p:spPr>
          <a:xfrm>
            <a:off x="6375197" y="5620451"/>
            <a:ext cx="256032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  <p:sp>
        <p:nvSpPr>
          <p:cNvPr id="33" name="Text 28"/>
          <p:cNvSpPr/>
          <p:nvPr/>
        </p:nvSpPr>
        <p:spPr>
          <a:xfrm>
            <a:off x="6517020" y="5620451"/>
            <a:ext cx="2648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1800" dirty="0"/>
          </a:p>
        </p:txBody>
      </p:sp>
      <p:sp>
        <p:nvSpPr>
          <p:cNvPr id="34" name="Shape 29"/>
          <p:cNvSpPr/>
          <p:nvPr/>
        </p:nvSpPr>
        <p:spPr>
          <a:xfrm>
            <a:off x="731520" y="6728430"/>
            <a:ext cx="198150" cy="15270"/>
          </a:xfrm>
          <a:prstGeom prst="rect">
            <a:avLst/>
          </a:prstGeom>
          <a:solidFill>
            <a:srgbClr val="0E110B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1036290" y="6911310"/>
            <a:ext cx="4373758" cy="29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国产模型 Qwen/GLM/DeepSeek/Kimi 均内置支持。</a:t>
            </a:r>
            <a:endParaRPr lang="en-US" sz="1440" dirty="0"/>
          </a:p>
        </p:txBody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1650" y="2682210"/>
            <a:ext cx="4267230" cy="111255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9905970" y="2872770"/>
            <a:ext cx="1918777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WildClawBench 国产化</a:t>
            </a:r>
            <a:endParaRPr lang="en-US" sz="1320" dirty="0"/>
          </a:p>
        </p:txBody>
      </p:sp>
      <p:sp>
        <p:nvSpPr>
          <p:cNvPr id="38" name="Text 32"/>
          <p:cNvSpPr/>
          <p:nvPr/>
        </p:nvSpPr>
        <p:spPr>
          <a:xfrm>
            <a:off x="9905970" y="3140897"/>
            <a:ext cx="382829" cy="568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36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3360" dirty="0"/>
          </a:p>
        </p:txBody>
      </p:sp>
      <p:sp>
        <p:nvSpPr>
          <p:cNvPr id="39" name="Text 33"/>
          <p:cNvSpPr/>
          <p:nvPr/>
        </p:nvSpPr>
        <p:spPr>
          <a:xfrm>
            <a:off x="10216408" y="3368010"/>
            <a:ext cx="270662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320" b="1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</a:t>
            </a:r>
            <a:endParaRPr lang="en-US" sz="1320" dirty="0"/>
          </a:p>
        </p:txBody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1650" y="3977640"/>
            <a:ext cx="4267230" cy="111255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9905970" y="4168110"/>
            <a:ext cx="1553657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ClawBench 国产化</a:t>
            </a:r>
            <a:endParaRPr lang="en-US" sz="1320" dirty="0"/>
          </a:p>
        </p:txBody>
      </p:sp>
      <p:sp>
        <p:nvSpPr>
          <p:cNvPr id="42" name="Text 35"/>
          <p:cNvSpPr/>
          <p:nvPr/>
        </p:nvSpPr>
        <p:spPr>
          <a:xfrm>
            <a:off x="9905970" y="4436327"/>
            <a:ext cx="382829" cy="568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36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360" dirty="0"/>
          </a:p>
        </p:txBody>
      </p:sp>
      <p:sp>
        <p:nvSpPr>
          <p:cNvPr id="43" name="Text 36"/>
          <p:cNvSpPr/>
          <p:nvPr/>
        </p:nvSpPr>
        <p:spPr>
          <a:xfrm>
            <a:off x="10216408" y="4663440"/>
            <a:ext cx="270662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320" b="1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</a:t>
            </a:r>
            <a:endParaRPr lang="en-US" sz="1320" dirty="0"/>
          </a:p>
        </p:txBody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31650" y="5273070"/>
            <a:ext cx="4267230" cy="1112550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9905970" y="5463540"/>
            <a:ext cx="113541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框架类 国产化</a:t>
            </a:r>
            <a:endParaRPr lang="en-US" sz="1320" dirty="0"/>
          </a:p>
        </p:txBody>
      </p:sp>
      <p:sp>
        <p:nvSpPr>
          <p:cNvPr id="46" name="Text 38"/>
          <p:cNvSpPr/>
          <p:nvPr/>
        </p:nvSpPr>
        <p:spPr>
          <a:xfrm>
            <a:off x="9905970" y="5731758"/>
            <a:ext cx="382829" cy="568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36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360" dirty="0"/>
          </a:p>
        </p:txBody>
      </p:sp>
      <p:sp>
        <p:nvSpPr>
          <p:cNvPr id="47" name="Text 39"/>
          <p:cNvSpPr/>
          <p:nvPr/>
        </p:nvSpPr>
        <p:spPr>
          <a:xfrm>
            <a:off x="10216408" y="5958870"/>
            <a:ext cx="270662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320" b="1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</a:t>
            </a:r>
            <a:endParaRPr lang="en-US" sz="1320" dirty="0"/>
          </a:p>
        </p:txBody>
      </p:sp>
      <p:sp>
        <p:nvSpPr>
          <p:cNvPr id="48" name="Shape 40"/>
          <p:cNvSpPr/>
          <p:nvPr/>
        </p:nvSpPr>
        <p:spPr>
          <a:xfrm>
            <a:off x="731520" y="7547640"/>
            <a:ext cx="91440" cy="9144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Text 41"/>
          <p:cNvSpPr/>
          <p:nvPr/>
        </p:nvSpPr>
        <p:spPr>
          <a:xfrm>
            <a:off x="944850" y="7444770"/>
            <a:ext cx="317754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框架类国际化，未优化国产模型。</a:t>
            </a:r>
            <a:endParaRPr lang="en-US" sz="1620" dirty="0"/>
          </a:p>
        </p:txBody>
      </p:sp>
      <p:sp>
        <p:nvSpPr>
          <p:cNvPr id="50" name="Shape 42"/>
          <p:cNvSpPr/>
          <p:nvPr/>
        </p:nvSpPr>
        <p:spPr>
          <a:xfrm>
            <a:off x="11612880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3"/>
          <p:cNvSpPr/>
          <p:nvPr/>
        </p:nvSpPr>
        <p:spPr>
          <a:xfrm>
            <a:off x="11677162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4"/>
          <p:cNvSpPr/>
          <p:nvPr/>
        </p:nvSpPr>
        <p:spPr>
          <a:xfrm>
            <a:off x="11741628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45"/>
          <p:cNvSpPr/>
          <p:nvPr/>
        </p:nvSpPr>
        <p:spPr>
          <a:xfrm>
            <a:off x="11805910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46"/>
          <p:cNvSpPr/>
          <p:nvPr/>
        </p:nvSpPr>
        <p:spPr>
          <a:xfrm>
            <a:off x="11870284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47"/>
          <p:cNvSpPr/>
          <p:nvPr/>
        </p:nvSpPr>
        <p:spPr>
          <a:xfrm>
            <a:off x="11934566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48"/>
          <p:cNvSpPr/>
          <p:nvPr/>
        </p:nvSpPr>
        <p:spPr>
          <a:xfrm>
            <a:off x="11999031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49"/>
          <p:cNvSpPr/>
          <p:nvPr/>
        </p:nvSpPr>
        <p:spPr>
          <a:xfrm>
            <a:off x="12063313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0"/>
          <p:cNvSpPr/>
          <p:nvPr/>
        </p:nvSpPr>
        <p:spPr>
          <a:xfrm>
            <a:off x="1212768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1"/>
          <p:cNvSpPr/>
          <p:nvPr/>
        </p:nvSpPr>
        <p:spPr>
          <a:xfrm>
            <a:off x="12191970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2"/>
          <p:cNvSpPr/>
          <p:nvPr/>
        </p:nvSpPr>
        <p:spPr>
          <a:xfrm>
            <a:off x="12256435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3"/>
          <p:cNvSpPr/>
          <p:nvPr/>
        </p:nvSpPr>
        <p:spPr>
          <a:xfrm>
            <a:off x="12320717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4"/>
          <p:cNvSpPr/>
          <p:nvPr/>
        </p:nvSpPr>
        <p:spPr>
          <a:xfrm>
            <a:off x="12385091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55"/>
          <p:cNvSpPr/>
          <p:nvPr/>
        </p:nvSpPr>
        <p:spPr>
          <a:xfrm>
            <a:off x="12449373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56"/>
          <p:cNvSpPr/>
          <p:nvPr/>
        </p:nvSpPr>
        <p:spPr>
          <a:xfrm>
            <a:off x="12513838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57"/>
          <p:cNvSpPr/>
          <p:nvPr/>
        </p:nvSpPr>
        <p:spPr>
          <a:xfrm>
            <a:off x="12578121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58"/>
          <p:cNvSpPr/>
          <p:nvPr/>
        </p:nvSpPr>
        <p:spPr>
          <a:xfrm>
            <a:off x="12642494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59"/>
          <p:cNvSpPr/>
          <p:nvPr/>
        </p:nvSpPr>
        <p:spPr>
          <a:xfrm>
            <a:off x="12706868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0"/>
          <p:cNvSpPr/>
          <p:nvPr/>
        </p:nvSpPr>
        <p:spPr>
          <a:xfrm>
            <a:off x="12771242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1"/>
          <p:cNvSpPr/>
          <p:nvPr/>
        </p:nvSpPr>
        <p:spPr>
          <a:xfrm>
            <a:off x="12835524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2"/>
          <p:cNvSpPr/>
          <p:nvPr/>
        </p:nvSpPr>
        <p:spPr>
          <a:xfrm>
            <a:off x="12899989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3"/>
          <p:cNvSpPr/>
          <p:nvPr/>
        </p:nvSpPr>
        <p:spPr>
          <a:xfrm>
            <a:off x="12964272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64"/>
          <p:cNvSpPr/>
          <p:nvPr/>
        </p:nvSpPr>
        <p:spPr>
          <a:xfrm>
            <a:off x="13028646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65"/>
          <p:cNvSpPr/>
          <p:nvPr/>
        </p:nvSpPr>
        <p:spPr>
          <a:xfrm>
            <a:off x="13092928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66"/>
          <p:cNvSpPr/>
          <p:nvPr/>
        </p:nvSpPr>
        <p:spPr>
          <a:xfrm>
            <a:off x="1315739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67"/>
          <p:cNvSpPr/>
          <p:nvPr/>
        </p:nvSpPr>
        <p:spPr>
          <a:xfrm>
            <a:off x="13221675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68"/>
          <p:cNvSpPr/>
          <p:nvPr/>
        </p:nvSpPr>
        <p:spPr>
          <a:xfrm>
            <a:off x="13286049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69"/>
          <p:cNvSpPr/>
          <p:nvPr/>
        </p:nvSpPr>
        <p:spPr>
          <a:xfrm>
            <a:off x="13350331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70"/>
          <p:cNvSpPr/>
          <p:nvPr/>
        </p:nvSpPr>
        <p:spPr>
          <a:xfrm>
            <a:off x="1341479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71"/>
          <p:cNvSpPr/>
          <p:nvPr/>
        </p:nvSpPr>
        <p:spPr>
          <a:xfrm>
            <a:off x="13479079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72"/>
          <p:cNvSpPr/>
          <p:nvPr/>
        </p:nvSpPr>
        <p:spPr>
          <a:xfrm>
            <a:off x="1354345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3"/>
          <p:cNvSpPr/>
          <p:nvPr/>
        </p:nvSpPr>
        <p:spPr>
          <a:xfrm>
            <a:off x="13607735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74"/>
          <p:cNvSpPr/>
          <p:nvPr/>
        </p:nvSpPr>
        <p:spPr>
          <a:xfrm>
            <a:off x="13672200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Shape 75"/>
          <p:cNvSpPr/>
          <p:nvPr/>
        </p:nvSpPr>
        <p:spPr>
          <a:xfrm>
            <a:off x="1373648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76"/>
          <p:cNvSpPr/>
          <p:nvPr/>
        </p:nvSpPr>
        <p:spPr>
          <a:xfrm>
            <a:off x="13800765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77"/>
          <p:cNvSpPr/>
          <p:nvPr/>
        </p:nvSpPr>
        <p:spPr>
          <a:xfrm>
            <a:off x="1386504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91" y="1975013"/>
            <a:ext cx="6729893" cy="460857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640080"/>
            <a:ext cx="13167360" cy="118899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817481"/>
            <a:ext cx="1316736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0080"/>
            <a:ext cx="5424769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396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定位分析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731520" y="1076573"/>
            <a:ext cx="5424769" cy="5686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262"/>
              </a:lnSpc>
              <a:buNone/>
            </a:pPr>
            <a:r>
              <a:rPr lang="en-US" sz="444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活跃度 × 现成数据集</a:t>
            </a:r>
            <a:endParaRPr lang="en-US" sz="4440" dirty="0"/>
          </a:p>
        </p:txBody>
      </p:sp>
      <p:sp>
        <p:nvSpPr>
          <p:cNvPr id="9" name="Text 6"/>
          <p:cNvSpPr/>
          <p:nvPr/>
        </p:nvSpPr>
        <p:spPr>
          <a:xfrm>
            <a:off x="10698480" y="1251676"/>
            <a:ext cx="329184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候选工具在两大关键维度的定位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31520" y="2448260"/>
            <a:ext cx="4236690" cy="4007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204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右上角为理想区：高活跃度且具备现</a:t>
            </a:r>
            <a:endParaRPr lang="en-US" sz="2040" dirty="0"/>
          </a:p>
        </p:txBody>
      </p:sp>
      <p:sp>
        <p:nvSpPr>
          <p:cNvPr id="11" name="Text 8"/>
          <p:cNvSpPr/>
          <p:nvPr/>
        </p:nvSpPr>
        <p:spPr>
          <a:xfrm>
            <a:off x="731520" y="2836880"/>
            <a:ext cx="4035522" cy="4007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204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成数据集；PawBench 位于第一梯</a:t>
            </a:r>
            <a:endParaRPr lang="en-US" sz="2040" dirty="0"/>
          </a:p>
        </p:txBody>
      </p:sp>
      <p:sp>
        <p:nvSpPr>
          <p:cNvPr id="12" name="Text 9"/>
          <p:cNvSpPr/>
          <p:nvPr/>
        </p:nvSpPr>
        <p:spPr>
          <a:xfrm>
            <a:off x="731520" y="3225500"/>
            <a:ext cx="609630" cy="4007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204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队。</a:t>
            </a:r>
            <a:endParaRPr lang="en-US" sz="2040" dirty="0"/>
          </a:p>
        </p:txBody>
      </p:sp>
      <p:sp>
        <p:nvSpPr>
          <p:cNvPr id="13" name="Text 10"/>
          <p:cNvSpPr/>
          <p:nvPr/>
        </p:nvSpPr>
        <p:spPr>
          <a:xfrm>
            <a:off x="708660" y="4042380"/>
            <a:ext cx="24387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36290" y="4000500"/>
            <a:ext cx="696864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纵轴 ·</a:t>
            </a:r>
            <a:endParaRPr lang="en-US" sz="1380" dirty="0"/>
          </a:p>
        </p:txBody>
      </p:sp>
      <p:sp>
        <p:nvSpPr>
          <p:cNvPr id="15" name="Text 12"/>
          <p:cNvSpPr/>
          <p:nvPr/>
        </p:nvSpPr>
        <p:spPr>
          <a:xfrm>
            <a:off x="1641714" y="4000500"/>
            <a:ext cx="967710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现成数据集</a:t>
            </a:r>
            <a:endParaRPr lang="en-US" sz="1380" dirty="0"/>
          </a:p>
        </p:txBody>
      </p:sp>
      <p:sp>
        <p:nvSpPr>
          <p:cNvPr id="16" name="Text 13"/>
          <p:cNvSpPr/>
          <p:nvPr/>
        </p:nvSpPr>
        <p:spPr>
          <a:xfrm>
            <a:off x="2518075" y="4000500"/>
            <a:ext cx="1318290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任务数越多越优</a:t>
            </a:r>
            <a:endParaRPr lang="en-US" sz="1380" dirty="0"/>
          </a:p>
        </p:txBody>
      </p:sp>
      <p:sp>
        <p:nvSpPr>
          <p:cNvPr id="17" name="Text 14"/>
          <p:cNvSpPr/>
          <p:nvPr/>
        </p:nvSpPr>
        <p:spPr>
          <a:xfrm>
            <a:off x="708660" y="4438680"/>
            <a:ext cx="24387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36290" y="4396710"/>
            <a:ext cx="696864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横轴 ·</a:t>
            </a:r>
            <a:endParaRPr lang="en-US" sz="1380" dirty="0"/>
          </a:p>
        </p:txBody>
      </p:sp>
      <p:sp>
        <p:nvSpPr>
          <p:cNvPr id="19" name="Text 16"/>
          <p:cNvSpPr/>
          <p:nvPr/>
        </p:nvSpPr>
        <p:spPr>
          <a:xfrm>
            <a:off x="1641714" y="4396710"/>
            <a:ext cx="617220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活跃度</a:t>
            </a:r>
            <a:endParaRPr lang="en-US" sz="1380" dirty="0"/>
          </a:p>
        </p:txBody>
      </p:sp>
      <p:sp>
        <p:nvSpPr>
          <p:cNvPr id="20" name="Text 17"/>
          <p:cNvSpPr/>
          <p:nvPr/>
        </p:nvSpPr>
        <p:spPr>
          <a:xfrm>
            <a:off x="2167494" y="4396710"/>
            <a:ext cx="1318290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维护越频繁越优</a:t>
            </a:r>
            <a:endParaRPr lang="en-US" sz="1380" dirty="0"/>
          </a:p>
        </p:txBody>
      </p:sp>
      <p:sp>
        <p:nvSpPr>
          <p:cNvPr id="21" name="Shape 18"/>
          <p:cNvSpPr/>
          <p:nvPr/>
        </p:nvSpPr>
        <p:spPr>
          <a:xfrm>
            <a:off x="731520" y="5333970"/>
            <a:ext cx="91440" cy="9144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44850" y="5082510"/>
            <a:ext cx="4132905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现成数据集权重最高（30%），直接决定开箱</a:t>
            </a:r>
            <a:endParaRPr lang="en-US" sz="1620" dirty="0"/>
          </a:p>
        </p:txBody>
      </p:sp>
      <p:sp>
        <p:nvSpPr>
          <p:cNvPr id="23" name="Text 20"/>
          <p:cNvSpPr/>
          <p:nvPr/>
        </p:nvSpPr>
        <p:spPr>
          <a:xfrm>
            <a:off x="944850" y="5379690"/>
            <a:ext cx="112014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即用能力。</a:t>
            </a:r>
            <a:endParaRPr lang="en-US" sz="1620" dirty="0"/>
          </a:p>
        </p:txBody>
      </p:sp>
      <p:sp>
        <p:nvSpPr>
          <p:cNvPr id="24" name="Shape 21"/>
          <p:cNvSpPr/>
          <p:nvPr/>
        </p:nvSpPr>
        <p:spPr>
          <a:xfrm>
            <a:off x="6636990" y="2286000"/>
            <a:ext cx="15270" cy="4861590"/>
          </a:xfrm>
          <a:prstGeom prst="rect">
            <a:avLst/>
          </a:prstGeom>
          <a:solidFill>
            <a:srgbClr val="0E110B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858000" y="7147590"/>
            <a:ext cx="7040880" cy="15270"/>
          </a:xfrm>
          <a:prstGeom prst="rect">
            <a:avLst/>
          </a:prstGeom>
          <a:solidFill>
            <a:srgbClr val="0E110B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 rot="-5400000">
            <a:off x="5673120" y="4560570"/>
            <a:ext cx="1943100" cy="31245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 rot="-5400000">
            <a:off x="6556980" y="4637928"/>
            <a:ext cx="1107948" cy="9418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现成数据集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 rot="-5400000">
            <a:off x="6556980" y="3881171"/>
            <a:ext cx="850392" cy="7841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 → 高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9725741" y="7258050"/>
            <a:ext cx="68199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活跃度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0274381" y="7258050"/>
            <a:ext cx="850392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 → 高</a:t>
            </a:r>
            <a:endParaRPr lang="en-US" sz="1200" dirty="0"/>
          </a:p>
        </p:txBody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610" y="2286000"/>
            <a:ext cx="3444270" cy="235458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10706070" y="2545050"/>
            <a:ext cx="381114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spc="102" kern="0" dirty="0">
                <a:solidFill>
                  <a:srgbClr val="0E110B">
                    <a:alpha val="5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右上</a:t>
            </a:r>
            <a:endParaRPr lang="en-US" sz="1020" dirty="0"/>
          </a:p>
        </p:txBody>
      </p:sp>
      <p:sp>
        <p:nvSpPr>
          <p:cNvPr id="33" name="Text 29"/>
          <p:cNvSpPr/>
          <p:nvPr/>
        </p:nvSpPr>
        <p:spPr>
          <a:xfrm>
            <a:off x="10706070" y="2806202"/>
            <a:ext cx="3032790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64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第一梯队</a:t>
            </a:r>
            <a:endParaRPr lang="en-US" sz="2640" dirty="0"/>
          </a:p>
        </p:txBody>
      </p:sp>
      <p:sp>
        <p:nvSpPr>
          <p:cNvPr id="34" name="Text 30"/>
          <p:cNvSpPr/>
          <p:nvPr/>
        </p:nvSpPr>
        <p:spPr>
          <a:xfrm>
            <a:off x="10835640" y="4046220"/>
            <a:ext cx="875629" cy="3856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PawBench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11955048" y="4046220"/>
            <a:ext cx="1260866" cy="3856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WildClawBench</a:t>
            </a:r>
            <a:endParaRPr lang="en-US" sz="1200" dirty="0"/>
          </a:p>
        </p:txBody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286000"/>
            <a:ext cx="3444270" cy="235458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7109460" y="2545050"/>
            <a:ext cx="381114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spc="102" kern="0" dirty="0">
                <a:solidFill>
                  <a:srgbClr val="EFA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左上</a:t>
            </a:r>
            <a:endParaRPr lang="en-US" sz="1020" dirty="0"/>
          </a:p>
        </p:txBody>
      </p:sp>
      <p:sp>
        <p:nvSpPr>
          <p:cNvPr id="38" name="Text 33"/>
          <p:cNvSpPr/>
          <p:nvPr/>
        </p:nvSpPr>
        <p:spPr>
          <a:xfrm>
            <a:off x="7109460" y="2806202"/>
            <a:ext cx="3032790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64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学术基准</a:t>
            </a:r>
            <a:endParaRPr lang="en-US" sz="2640" dirty="0"/>
          </a:p>
        </p:txBody>
      </p:sp>
      <p:sp>
        <p:nvSpPr>
          <p:cNvPr id="39" name="Text 34"/>
          <p:cNvSpPr/>
          <p:nvPr/>
        </p:nvSpPr>
        <p:spPr>
          <a:xfrm>
            <a:off x="7239030" y="4046220"/>
            <a:ext cx="994684" cy="3856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AgentBench</a:t>
            </a:r>
            <a:endParaRPr lang="en-US" sz="1200" dirty="0"/>
          </a:p>
        </p:txBody>
      </p:sp>
      <p:sp>
        <p:nvSpPr>
          <p:cNvPr id="40" name="Text 35"/>
          <p:cNvSpPr/>
          <p:nvPr/>
        </p:nvSpPr>
        <p:spPr>
          <a:xfrm>
            <a:off x="8477494" y="4046220"/>
            <a:ext cx="1189909" cy="3856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ClawProBench</a:t>
            </a:r>
            <a:endParaRPr lang="en-US" sz="1200" dirty="0"/>
          </a:p>
        </p:txBody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793010"/>
            <a:ext cx="3444270" cy="2354580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7109460" y="5052060"/>
            <a:ext cx="381114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spc="102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左下</a:t>
            </a:r>
            <a:endParaRPr lang="en-US" sz="1020" dirty="0"/>
          </a:p>
        </p:txBody>
      </p:sp>
      <p:sp>
        <p:nvSpPr>
          <p:cNvPr id="43" name="Text 37"/>
          <p:cNvSpPr/>
          <p:nvPr/>
        </p:nvSpPr>
        <p:spPr>
          <a:xfrm>
            <a:off x="7109460" y="5313121"/>
            <a:ext cx="3032790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64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待观察</a:t>
            </a:r>
            <a:endParaRPr lang="en-US" sz="2640" dirty="0"/>
          </a:p>
        </p:txBody>
      </p:sp>
      <p:sp>
        <p:nvSpPr>
          <p:cNvPr id="44" name="Text 38"/>
          <p:cNvSpPr/>
          <p:nvPr/>
        </p:nvSpPr>
        <p:spPr>
          <a:xfrm>
            <a:off x="7239030" y="6553230"/>
            <a:ext cx="928939" cy="3856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ClawBench</a:t>
            </a:r>
            <a:endParaRPr lang="en-US" sz="1200" dirty="0"/>
          </a:p>
        </p:txBody>
      </p:sp>
      <p:sp>
        <p:nvSpPr>
          <p:cNvPr id="45" name="Text 39"/>
          <p:cNvSpPr/>
          <p:nvPr/>
        </p:nvSpPr>
        <p:spPr>
          <a:xfrm>
            <a:off x="8411748" y="6553230"/>
            <a:ext cx="928939" cy="3856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BenchClaw</a:t>
            </a:r>
            <a:endParaRPr lang="en-US" sz="1200" dirty="0"/>
          </a:p>
        </p:txBody>
      </p:sp>
      <p:pic>
        <p:nvPicPr>
          <p:cNvPr id="4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4610" y="4793010"/>
            <a:ext cx="3444270" cy="2354580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10706070" y="5052060"/>
            <a:ext cx="381114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spc="102" kern="0" dirty="0">
                <a:solidFill>
                  <a:srgbClr val="B7BB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右下</a:t>
            </a:r>
            <a:endParaRPr lang="en-US" sz="1020" dirty="0"/>
          </a:p>
        </p:txBody>
      </p:sp>
      <p:sp>
        <p:nvSpPr>
          <p:cNvPr id="48" name="Text 41"/>
          <p:cNvSpPr/>
          <p:nvPr/>
        </p:nvSpPr>
        <p:spPr>
          <a:xfrm>
            <a:off x="10706070" y="5313121"/>
            <a:ext cx="3032790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64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框架类</a:t>
            </a:r>
            <a:endParaRPr lang="en-US" sz="2640" dirty="0"/>
          </a:p>
        </p:txBody>
      </p:sp>
      <p:sp>
        <p:nvSpPr>
          <p:cNvPr id="49" name="Text 42"/>
          <p:cNvSpPr/>
          <p:nvPr/>
        </p:nvSpPr>
        <p:spPr>
          <a:xfrm>
            <a:off x="10835640" y="6118890"/>
            <a:ext cx="950702" cy="3856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OpenJudge</a:t>
            </a:r>
            <a:endParaRPr lang="en-US" sz="1200" dirty="0"/>
          </a:p>
        </p:txBody>
      </p:sp>
      <p:sp>
        <p:nvSpPr>
          <p:cNvPr id="50" name="Text 43"/>
          <p:cNvSpPr/>
          <p:nvPr/>
        </p:nvSpPr>
        <p:spPr>
          <a:xfrm>
            <a:off x="12030212" y="6118890"/>
            <a:ext cx="807720" cy="3856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DeepEval</a:t>
            </a:r>
            <a:endParaRPr lang="en-US" sz="1200" dirty="0"/>
          </a:p>
        </p:txBody>
      </p:sp>
      <p:sp>
        <p:nvSpPr>
          <p:cNvPr id="51" name="Text 44"/>
          <p:cNvSpPr/>
          <p:nvPr/>
        </p:nvSpPr>
        <p:spPr>
          <a:xfrm>
            <a:off x="10835640" y="6553230"/>
            <a:ext cx="901690" cy="3856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Promptfoo</a:t>
            </a:r>
            <a:endParaRPr lang="en-US" sz="1200" dirty="0"/>
          </a:p>
        </p:txBody>
      </p:sp>
      <p:sp>
        <p:nvSpPr>
          <p:cNvPr id="52" name="Shape 45"/>
          <p:cNvSpPr/>
          <p:nvPr/>
        </p:nvSpPr>
        <p:spPr>
          <a:xfrm>
            <a:off x="731520" y="7467630"/>
            <a:ext cx="46543" cy="228600"/>
          </a:xfrm>
          <a:prstGeom prst="roundRect">
            <a:avLst>
              <a:gd name="adj" fmla="val 49816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46"/>
          <p:cNvSpPr/>
          <p:nvPr/>
        </p:nvSpPr>
        <p:spPr>
          <a:xfrm>
            <a:off x="808512" y="7467630"/>
            <a:ext cx="46634" cy="228600"/>
          </a:xfrm>
          <a:prstGeom prst="roundRect">
            <a:avLst>
              <a:gd name="adj" fmla="val 49719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47"/>
          <p:cNvSpPr/>
          <p:nvPr/>
        </p:nvSpPr>
        <p:spPr>
          <a:xfrm>
            <a:off x="885688" y="7467630"/>
            <a:ext cx="46543" cy="228600"/>
          </a:xfrm>
          <a:prstGeom prst="roundRect">
            <a:avLst>
              <a:gd name="adj" fmla="val 49816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48"/>
          <p:cNvSpPr/>
          <p:nvPr/>
        </p:nvSpPr>
        <p:spPr>
          <a:xfrm>
            <a:off x="962772" y="7467630"/>
            <a:ext cx="46634" cy="228600"/>
          </a:xfrm>
          <a:prstGeom prst="roundRect">
            <a:avLst>
              <a:gd name="adj" fmla="val 49719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49"/>
          <p:cNvSpPr/>
          <p:nvPr/>
        </p:nvSpPr>
        <p:spPr>
          <a:xfrm>
            <a:off x="1039856" y="7467630"/>
            <a:ext cx="46543" cy="228600"/>
          </a:xfrm>
          <a:prstGeom prst="roundRect">
            <a:avLst>
              <a:gd name="adj" fmla="val 49816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0"/>
          <p:cNvSpPr/>
          <p:nvPr/>
        </p:nvSpPr>
        <p:spPr>
          <a:xfrm>
            <a:off x="1116940" y="7467630"/>
            <a:ext cx="46634" cy="228600"/>
          </a:xfrm>
          <a:prstGeom prst="roundRect">
            <a:avLst>
              <a:gd name="adj" fmla="val 4971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1"/>
          <p:cNvSpPr/>
          <p:nvPr/>
        </p:nvSpPr>
        <p:spPr>
          <a:xfrm>
            <a:off x="1194115" y="7467630"/>
            <a:ext cx="46543" cy="228600"/>
          </a:xfrm>
          <a:prstGeom prst="roundRect">
            <a:avLst>
              <a:gd name="adj" fmla="val 49816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2"/>
          <p:cNvSpPr/>
          <p:nvPr/>
        </p:nvSpPr>
        <p:spPr>
          <a:xfrm>
            <a:off x="1271107" y="7467630"/>
            <a:ext cx="46634" cy="228600"/>
          </a:xfrm>
          <a:prstGeom prst="roundRect">
            <a:avLst>
              <a:gd name="adj" fmla="val 4971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3"/>
          <p:cNvSpPr/>
          <p:nvPr/>
        </p:nvSpPr>
        <p:spPr>
          <a:xfrm>
            <a:off x="1348283" y="7467630"/>
            <a:ext cx="46543" cy="228600"/>
          </a:xfrm>
          <a:prstGeom prst="roundRect">
            <a:avLst>
              <a:gd name="adj" fmla="val 49816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4"/>
          <p:cNvSpPr/>
          <p:nvPr/>
        </p:nvSpPr>
        <p:spPr>
          <a:xfrm>
            <a:off x="1425275" y="7467630"/>
            <a:ext cx="46543" cy="228600"/>
          </a:xfrm>
          <a:prstGeom prst="roundRect">
            <a:avLst>
              <a:gd name="adj" fmla="val 49816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5"/>
          <p:cNvSpPr/>
          <p:nvPr/>
        </p:nvSpPr>
        <p:spPr>
          <a:xfrm>
            <a:off x="1502359" y="7467630"/>
            <a:ext cx="46543" cy="228600"/>
          </a:xfrm>
          <a:prstGeom prst="roundRect">
            <a:avLst>
              <a:gd name="adj" fmla="val 49816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56"/>
          <p:cNvSpPr/>
          <p:nvPr/>
        </p:nvSpPr>
        <p:spPr>
          <a:xfrm>
            <a:off x="1579352" y="7467630"/>
            <a:ext cx="46543" cy="228600"/>
          </a:xfrm>
          <a:prstGeom prst="roundRect">
            <a:avLst>
              <a:gd name="adj" fmla="val 49816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57"/>
          <p:cNvSpPr/>
          <p:nvPr/>
        </p:nvSpPr>
        <p:spPr>
          <a:xfrm>
            <a:off x="1656436" y="7467630"/>
            <a:ext cx="46543" cy="228600"/>
          </a:xfrm>
          <a:prstGeom prst="roundRect">
            <a:avLst>
              <a:gd name="adj" fmla="val 49816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58"/>
          <p:cNvSpPr/>
          <p:nvPr/>
        </p:nvSpPr>
        <p:spPr>
          <a:xfrm>
            <a:off x="1733428" y="7467630"/>
            <a:ext cx="46543" cy="228600"/>
          </a:xfrm>
          <a:prstGeom prst="roundRect">
            <a:avLst>
              <a:gd name="adj" fmla="val 49816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59"/>
          <p:cNvSpPr/>
          <p:nvPr/>
        </p:nvSpPr>
        <p:spPr>
          <a:xfrm>
            <a:off x="1810421" y="7467630"/>
            <a:ext cx="46543" cy="228600"/>
          </a:xfrm>
          <a:prstGeom prst="roundRect">
            <a:avLst>
              <a:gd name="adj" fmla="val 49816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0"/>
          <p:cNvSpPr/>
          <p:nvPr/>
        </p:nvSpPr>
        <p:spPr>
          <a:xfrm>
            <a:off x="1887504" y="7467630"/>
            <a:ext cx="46543" cy="228600"/>
          </a:xfrm>
          <a:prstGeom prst="roundRect">
            <a:avLst>
              <a:gd name="adj" fmla="val 49816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1"/>
          <p:cNvSpPr/>
          <p:nvPr/>
        </p:nvSpPr>
        <p:spPr>
          <a:xfrm>
            <a:off x="1964497" y="7467630"/>
            <a:ext cx="46543" cy="228600"/>
          </a:xfrm>
          <a:prstGeom prst="roundRect">
            <a:avLst>
              <a:gd name="adj" fmla="val 49816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2"/>
          <p:cNvSpPr/>
          <p:nvPr/>
        </p:nvSpPr>
        <p:spPr>
          <a:xfrm>
            <a:off x="2041581" y="7467630"/>
            <a:ext cx="46543" cy="228600"/>
          </a:xfrm>
          <a:prstGeom prst="roundRect">
            <a:avLst>
              <a:gd name="adj" fmla="val 49816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3"/>
          <p:cNvSpPr/>
          <p:nvPr/>
        </p:nvSpPr>
        <p:spPr>
          <a:xfrm>
            <a:off x="2118573" y="7467630"/>
            <a:ext cx="46543" cy="228600"/>
          </a:xfrm>
          <a:prstGeom prst="roundRect">
            <a:avLst>
              <a:gd name="adj" fmla="val 49816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4"/>
          <p:cNvSpPr/>
          <p:nvPr/>
        </p:nvSpPr>
        <p:spPr>
          <a:xfrm>
            <a:off x="2195657" y="7467630"/>
            <a:ext cx="46543" cy="228600"/>
          </a:xfrm>
          <a:prstGeom prst="roundRect">
            <a:avLst>
              <a:gd name="adj" fmla="val 49816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65"/>
          <p:cNvSpPr/>
          <p:nvPr/>
        </p:nvSpPr>
        <p:spPr>
          <a:xfrm>
            <a:off x="2272650" y="7467630"/>
            <a:ext cx="46543" cy="228600"/>
          </a:xfrm>
          <a:prstGeom prst="roundRect">
            <a:avLst>
              <a:gd name="adj" fmla="val 49816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66"/>
          <p:cNvSpPr/>
          <p:nvPr/>
        </p:nvSpPr>
        <p:spPr>
          <a:xfrm>
            <a:off x="2349734" y="7467630"/>
            <a:ext cx="46543" cy="228600"/>
          </a:xfrm>
          <a:prstGeom prst="roundRect">
            <a:avLst>
              <a:gd name="adj" fmla="val 49816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67"/>
          <p:cNvSpPr/>
          <p:nvPr/>
        </p:nvSpPr>
        <p:spPr>
          <a:xfrm>
            <a:off x="2426726" y="7467630"/>
            <a:ext cx="46543" cy="228600"/>
          </a:xfrm>
          <a:prstGeom prst="roundRect">
            <a:avLst>
              <a:gd name="adj" fmla="val 49816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68"/>
          <p:cNvSpPr/>
          <p:nvPr/>
        </p:nvSpPr>
        <p:spPr>
          <a:xfrm>
            <a:off x="2503810" y="7467630"/>
            <a:ext cx="46543" cy="228600"/>
          </a:xfrm>
          <a:prstGeom prst="roundRect">
            <a:avLst>
              <a:gd name="adj" fmla="val 49816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69"/>
          <p:cNvSpPr/>
          <p:nvPr/>
        </p:nvSpPr>
        <p:spPr>
          <a:xfrm>
            <a:off x="2580803" y="7467630"/>
            <a:ext cx="46543" cy="228600"/>
          </a:xfrm>
          <a:prstGeom prst="roundRect">
            <a:avLst>
              <a:gd name="adj" fmla="val 49816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70"/>
          <p:cNvSpPr/>
          <p:nvPr/>
        </p:nvSpPr>
        <p:spPr>
          <a:xfrm>
            <a:off x="2657795" y="7467630"/>
            <a:ext cx="46543" cy="228600"/>
          </a:xfrm>
          <a:prstGeom prst="roundRect">
            <a:avLst>
              <a:gd name="adj" fmla="val 49816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71"/>
          <p:cNvSpPr/>
          <p:nvPr/>
        </p:nvSpPr>
        <p:spPr>
          <a:xfrm>
            <a:off x="2734879" y="7467630"/>
            <a:ext cx="46543" cy="228600"/>
          </a:xfrm>
          <a:prstGeom prst="roundRect">
            <a:avLst>
              <a:gd name="adj" fmla="val 49816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72"/>
          <p:cNvSpPr/>
          <p:nvPr/>
        </p:nvSpPr>
        <p:spPr>
          <a:xfrm>
            <a:off x="2811871" y="7467630"/>
            <a:ext cx="46543" cy="228600"/>
          </a:xfrm>
          <a:prstGeom prst="roundRect">
            <a:avLst>
              <a:gd name="adj" fmla="val 49816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73"/>
          <p:cNvSpPr/>
          <p:nvPr/>
        </p:nvSpPr>
        <p:spPr>
          <a:xfrm>
            <a:off x="2888955" y="7467630"/>
            <a:ext cx="46543" cy="228600"/>
          </a:xfrm>
          <a:prstGeom prst="roundRect">
            <a:avLst>
              <a:gd name="adj" fmla="val 49816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4"/>
          <p:cNvSpPr/>
          <p:nvPr/>
        </p:nvSpPr>
        <p:spPr>
          <a:xfrm>
            <a:off x="2965948" y="7467630"/>
            <a:ext cx="46543" cy="228600"/>
          </a:xfrm>
          <a:prstGeom prst="roundRect">
            <a:avLst>
              <a:gd name="adj" fmla="val 49816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75"/>
          <p:cNvSpPr/>
          <p:nvPr/>
        </p:nvSpPr>
        <p:spPr>
          <a:xfrm>
            <a:off x="3043032" y="7467630"/>
            <a:ext cx="46543" cy="228600"/>
          </a:xfrm>
          <a:prstGeom prst="roundRect">
            <a:avLst>
              <a:gd name="adj" fmla="val 49816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Shape 76"/>
          <p:cNvSpPr/>
          <p:nvPr/>
        </p:nvSpPr>
        <p:spPr>
          <a:xfrm>
            <a:off x="3120024" y="7467630"/>
            <a:ext cx="46543" cy="228600"/>
          </a:xfrm>
          <a:prstGeom prst="roundRect">
            <a:avLst>
              <a:gd name="adj" fmla="val 49816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77"/>
          <p:cNvSpPr/>
          <p:nvPr/>
        </p:nvSpPr>
        <p:spPr>
          <a:xfrm>
            <a:off x="3197108" y="7467630"/>
            <a:ext cx="46543" cy="228600"/>
          </a:xfrm>
          <a:prstGeom prst="roundRect">
            <a:avLst>
              <a:gd name="adj" fmla="val 49816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78"/>
          <p:cNvSpPr/>
          <p:nvPr/>
        </p:nvSpPr>
        <p:spPr>
          <a:xfrm>
            <a:off x="3274101" y="7467630"/>
            <a:ext cx="46543" cy="228600"/>
          </a:xfrm>
          <a:prstGeom prst="roundRect">
            <a:avLst>
              <a:gd name="adj" fmla="val 49816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Shape 79"/>
          <p:cNvSpPr/>
          <p:nvPr/>
        </p:nvSpPr>
        <p:spPr>
          <a:xfrm>
            <a:off x="3351093" y="7467630"/>
            <a:ext cx="46543" cy="228600"/>
          </a:xfrm>
          <a:prstGeom prst="roundRect">
            <a:avLst>
              <a:gd name="adj" fmla="val 49816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Shape 80"/>
          <p:cNvSpPr/>
          <p:nvPr/>
        </p:nvSpPr>
        <p:spPr>
          <a:xfrm>
            <a:off x="3428177" y="7467630"/>
            <a:ext cx="46543" cy="228600"/>
          </a:xfrm>
          <a:prstGeom prst="roundRect">
            <a:avLst>
              <a:gd name="adj" fmla="val 49816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99" y="0"/>
            <a:ext cx="7022501" cy="395029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640080"/>
            <a:ext cx="13167360" cy="126205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890542"/>
            <a:ext cx="1316736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0080"/>
            <a:ext cx="393192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396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综合评分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731520" y="1077889"/>
            <a:ext cx="3931920" cy="64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838"/>
              </a:lnSpc>
              <a:buNone/>
            </a:pPr>
            <a:r>
              <a:rPr lang="en-US" sz="504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加权评分矩阵</a:t>
            </a:r>
            <a:endParaRPr lang="en-US" sz="5040" dirty="0"/>
          </a:p>
        </p:txBody>
      </p:sp>
      <p:sp>
        <p:nvSpPr>
          <p:cNvPr id="9" name="Text 6"/>
          <p:cNvSpPr/>
          <p:nvPr/>
        </p:nvSpPr>
        <p:spPr>
          <a:xfrm>
            <a:off x="12236501" y="1324828"/>
            <a:ext cx="1753819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PawBench 居首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31520" y="2388870"/>
            <a:ext cx="441930" cy="38130"/>
          </a:xfrm>
          <a:prstGeom prst="rect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95430" y="2316450"/>
            <a:ext cx="929488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264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加权总分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731520" y="2676449"/>
            <a:ext cx="10679095" cy="332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按权重（现成数据集30%/易用性20%/国产化15%/扩展性15%/活跃度10%/开源10%）加权，PawBench 以 9.55</a:t>
            </a:r>
            <a:endParaRPr lang="en-US" sz="1680" dirty="0"/>
          </a:p>
        </p:txBody>
      </p:sp>
      <p:sp>
        <p:nvSpPr>
          <p:cNvPr id="13" name="Text 10"/>
          <p:cNvSpPr/>
          <p:nvPr/>
        </p:nvSpPr>
        <p:spPr>
          <a:xfrm>
            <a:off x="731520" y="2996489"/>
            <a:ext cx="731520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居首。</a:t>
            </a:r>
            <a:endParaRPr lang="en-US" sz="1680" dirty="0"/>
          </a:p>
        </p:txBody>
      </p:sp>
      <p:sp>
        <p:nvSpPr>
          <p:cNvPr id="14" name="Text 11"/>
          <p:cNvSpPr/>
          <p:nvPr/>
        </p:nvSpPr>
        <p:spPr>
          <a:xfrm>
            <a:off x="731520" y="3550890"/>
            <a:ext cx="1325880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b="1" spc="162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综合得分</a:t>
            </a:r>
            <a:endParaRPr lang="en-US" sz="108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870930"/>
            <a:ext cx="13167360" cy="1143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67710" y="4152930"/>
            <a:ext cx="1377086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AFAF6">
                    <a:alpha val="9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OpenJudge 7.90</a:t>
            </a:r>
            <a:endParaRPr lang="en-US" sz="1260" dirty="0"/>
          </a:p>
        </p:txBody>
      </p:sp>
      <p:sp>
        <p:nvSpPr>
          <p:cNvPr id="17" name="Text 13"/>
          <p:cNvSpPr/>
          <p:nvPr/>
        </p:nvSpPr>
        <p:spPr>
          <a:xfrm>
            <a:off x="967710" y="4381530"/>
            <a:ext cx="499872" cy="416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A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1345722" y="4381530"/>
            <a:ext cx="322509" cy="416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A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7015566" y="4217670"/>
            <a:ext cx="599084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9.55</a:t>
            </a:r>
            <a:endParaRPr lang="en-US" sz="1560" dirty="0"/>
          </a:p>
        </p:txBody>
      </p:sp>
      <p:sp>
        <p:nvSpPr>
          <p:cNvPr id="20" name="Text 16"/>
          <p:cNvSpPr/>
          <p:nvPr/>
        </p:nvSpPr>
        <p:spPr>
          <a:xfrm>
            <a:off x="6733824" y="4507260"/>
            <a:ext cx="1162660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FA0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PawBench 加权第一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2373615" y="4152930"/>
            <a:ext cx="1289075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260" b="1" dirty="0">
                <a:solidFill>
                  <a:srgbClr val="FAFAF6">
                    <a:alpha val="9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WildClaw 7.70</a:t>
            </a:r>
            <a:endParaRPr lang="en-US" sz="1260" dirty="0"/>
          </a:p>
        </p:txBody>
      </p:sp>
      <p:sp>
        <p:nvSpPr>
          <p:cNvPr id="22" name="Text 18"/>
          <p:cNvSpPr/>
          <p:nvPr/>
        </p:nvSpPr>
        <p:spPr>
          <a:xfrm>
            <a:off x="12931658" y="4381530"/>
            <a:ext cx="499872" cy="416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A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400" dirty="0"/>
          </a:p>
        </p:txBody>
      </p:sp>
      <p:sp>
        <p:nvSpPr>
          <p:cNvPr id="23" name="Text 19"/>
          <p:cNvSpPr/>
          <p:nvPr/>
        </p:nvSpPr>
        <p:spPr>
          <a:xfrm>
            <a:off x="13340090" y="4381530"/>
            <a:ext cx="322509" cy="416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A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2400" dirty="0"/>
          </a:p>
        </p:txBody>
      </p:sp>
      <p:sp>
        <p:nvSpPr>
          <p:cNvPr id="24" name="Text 20"/>
          <p:cNvSpPr/>
          <p:nvPr/>
        </p:nvSpPr>
        <p:spPr>
          <a:xfrm>
            <a:off x="731520" y="5265390"/>
            <a:ext cx="1079792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b="1" spc="162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关键维度得分</a:t>
            </a:r>
            <a:endParaRPr lang="en-US" sz="1080" dirty="0"/>
          </a:p>
        </p:txBody>
      </p:sp>
      <p:sp>
        <p:nvSpPr>
          <p:cNvPr id="25" name="Shape 21"/>
          <p:cNvSpPr/>
          <p:nvPr/>
        </p:nvSpPr>
        <p:spPr>
          <a:xfrm>
            <a:off x="12937480" y="5242530"/>
            <a:ext cx="167610" cy="1527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12937480" y="5242530"/>
            <a:ext cx="167610" cy="23186"/>
          </a:xfrm>
          <a:prstGeom prst="rect">
            <a:avLst/>
          </a:prstGeom>
          <a:solidFill>
            <a:srgbClr val="0E110B"/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3166080" y="5265390"/>
            <a:ext cx="576758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b="1" spc="162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推荐线</a:t>
            </a:r>
            <a:endParaRPr lang="en-US" sz="1080" dirty="0"/>
          </a:p>
        </p:txBody>
      </p:sp>
      <p:sp>
        <p:nvSpPr>
          <p:cNvPr id="28" name="Text 24"/>
          <p:cNvSpPr/>
          <p:nvPr/>
        </p:nvSpPr>
        <p:spPr>
          <a:xfrm>
            <a:off x="13678418" y="5265390"/>
            <a:ext cx="197510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b="1" spc="162" kern="0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80" dirty="0"/>
          </a:p>
        </p:txBody>
      </p:sp>
      <p:sp>
        <p:nvSpPr>
          <p:cNvPr id="29" name="Text 25"/>
          <p:cNvSpPr/>
          <p:nvPr/>
        </p:nvSpPr>
        <p:spPr>
          <a:xfrm>
            <a:off x="13777996" y="5265390"/>
            <a:ext cx="212324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b="1" spc="162" kern="0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1080" dirty="0"/>
          </a:p>
        </p:txBody>
      </p:sp>
      <p:sp>
        <p:nvSpPr>
          <p:cNvPr id="30" name="Text 26"/>
          <p:cNvSpPr/>
          <p:nvPr/>
        </p:nvSpPr>
        <p:spPr>
          <a:xfrm>
            <a:off x="731520" y="5358613"/>
            <a:ext cx="123444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b="1" dirty="0">
                <a:solidFill>
                  <a:srgbClr val="5FA0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现成数据集</a:t>
            </a:r>
            <a:endParaRPr lang="en-US" sz="1800" dirty="0"/>
          </a:p>
        </p:txBody>
      </p:sp>
      <p:sp>
        <p:nvSpPr>
          <p:cNvPr id="31" name="Text 27"/>
          <p:cNvSpPr/>
          <p:nvPr/>
        </p:nvSpPr>
        <p:spPr>
          <a:xfrm>
            <a:off x="731520" y="5654010"/>
            <a:ext cx="1075334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150 道开箱即用</a:t>
            </a:r>
            <a:endParaRPr lang="en-US" sz="1080" dirty="0"/>
          </a:p>
        </p:txBody>
      </p:sp>
      <p:sp>
        <p:nvSpPr>
          <p:cNvPr id="32" name="Shape 28"/>
          <p:cNvSpPr/>
          <p:nvPr/>
        </p:nvSpPr>
        <p:spPr>
          <a:xfrm>
            <a:off x="3688050" y="5501670"/>
            <a:ext cx="9265890" cy="228600"/>
          </a:xfrm>
          <a:prstGeom prst="roundRect">
            <a:avLst>
              <a:gd name="adj" fmla="val 243423"/>
            </a:avLst>
          </a:prstGeom>
          <a:solidFill>
            <a:srgbClr val="0E110B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8050" y="5501670"/>
            <a:ext cx="926562" cy="228600"/>
          </a:xfrm>
          <a:prstGeom prst="rect">
            <a:avLst/>
          </a:prstGeom>
        </p:spPr>
      </p:pic>
      <p:sp>
        <p:nvSpPr>
          <p:cNvPr id="34" name="Shape 29"/>
          <p:cNvSpPr/>
          <p:nvPr/>
        </p:nvSpPr>
        <p:spPr>
          <a:xfrm>
            <a:off x="4429262" y="5440680"/>
            <a:ext cx="15270" cy="35049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4429262" y="5440680"/>
            <a:ext cx="23186" cy="350490"/>
          </a:xfrm>
          <a:prstGeom prst="rect">
            <a:avLst/>
          </a:prstGeom>
          <a:solidFill>
            <a:srgbClr val="0E110B"/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13320248" y="5463540"/>
            <a:ext cx="578632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920" b="1" dirty="0">
                <a:solidFill>
                  <a:srgbClr val="E84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920" dirty="0"/>
          </a:p>
        </p:txBody>
      </p:sp>
      <p:sp>
        <p:nvSpPr>
          <p:cNvPr id="37" name="Text 32"/>
          <p:cNvSpPr/>
          <p:nvPr/>
        </p:nvSpPr>
        <p:spPr>
          <a:xfrm>
            <a:off x="731520" y="6029234"/>
            <a:ext cx="77724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国产化</a:t>
            </a:r>
            <a:endParaRPr lang="en-US" sz="1800" dirty="0"/>
          </a:p>
        </p:txBody>
      </p:sp>
      <p:sp>
        <p:nvSpPr>
          <p:cNvPr id="38" name="Text 33"/>
          <p:cNvSpPr/>
          <p:nvPr/>
        </p:nvSpPr>
        <p:spPr>
          <a:xfrm>
            <a:off x="731520" y="6324630"/>
            <a:ext cx="160020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阿里通义，国产模型内置</a:t>
            </a:r>
            <a:endParaRPr lang="en-US" sz="1080" dirty="0"/>
          </a:p>
        </p:txBody>
      </p:sp>
      <p:sp>
        <p:nvSpPr>
          <p:cNvPr id="39" name="Shape 34"/>
          <p:cNvSpPr/>
          <p:nvPr/>
        </p:nvSpPr>
        <p:spPr>
          <a:xfrm>
            <a:off x="3688050" y="6172200"/>
            <a:ext cx="9265890" cy="228600"/>
          </a:xfrm>
          <a:prstGeom prst="roundRect">
            <a:avLst>
              <a:gd name="adj" fmla="val 243423"/>
            </a:avLst>
          </a:prstGeom>
          <a:solidFill>
            <a:srgbClr val="0E110B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8050" y="6172200"/>
            <a:ext cx="926562" cy="228600"/>
          </a:xfrm>
          <a:prstGeom prst="rect">
            <a:avLst/>
          </a:prstGeom>
        </p:spPr>
      </p:pic>
      <p:sp>
        <p:nvSpPr>
          <p:cNvPr id="41" name="Shape 35"/>
          <p:cNvSpPr/>
          <p:nvPr/>
        </p:nvSpPr>
        <p:spPr>
          <a:xfrm>
            <a:off x="4429262" y="6111210"/>
            <a:ext cx="15270" cy="35049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4429262" y="6111210"/>
            <a:ext cx="23186" cy="350490"/>
          </a:xfrm>
          <a:prstGeom prst="rect">
            <a:avLst/>
          </a:prstGeom>
          <a:solidFill>
            <a:srgbClr val="0E110B"/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13320248" y="6134070"/>
            <a:ext cx="578632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920" b="1" dirty="0">
                <a:solidFill>
                  <a:srgbClr val="E84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920" dirty="0"/>
          </a:p>
        </p:txBody>
      </p:sp>
      <p:sp>
        <p:nvSpPr>
          <p:cNvPr id="44" name="Text 38"/>
          <p:cNvSpPr/>
          <p:nvPr/>
        </p:nvSpPr>
        <p:spPr>
          <a:xfrm>
            <a:off x="731520" y="6699763"/>
            <a:ext cx="77724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易用性</a:t>
            </a:r>
            <a:endParaRPr lang="en-US" sz="1800" dirty="0"/>
          </a:p>
        </p:txBody>
      </p:sp>
      <p:sp>
        <p:nvSpPr>
          <p:cNvPr id="45" name="Text 39"/>
          <p:cNvSpPr/>
          <p:nvPr/>
        </p:nvSpPr>
        <p:spPr>
          <a:xfrm>
            <a:off x="731520" y="6995160"/>
            <a:ext cx="132588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三步上手，文档完善</a:t>
            </a:r>
            <a:endParaRPr lang="en-US" sz="1080" dirty="0"/>
          </a:p>
        </p:txBody>
      </p:sp>
      <p:sp>
        <p:nvSpPr>
          <p:cNvPr id="46" name="Shape 40"/>
          <p:cNvSpPr/>
          <p:nvPr/>
        </p:nvSpPr>
        <p:spPr>
          <a:xfrm>
            <a:off x="3688050" y="6842730"/>
            <a:ext cx="9265890" cy="228600"/>
          </a:xfrm>
          <a:prstGeom prst="roundRect">
            <a:avLst>
              <a:gd name="adj" fmla="val 243423"/>
            </a:avLst>
          </a:prstGeom>
          <a:solidFill>
            <a:srgbClr val="0E110B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8050" y="6842730"/>
            <a:ext cx="833933" cy="228600"/>
          </a:xfrm>
          <a:prstGeom prst="rect">
            <a:avLst/>
          </a:prstGeom>
        </p:spPr>
      </p:pic>
      <p:sp>
        <p:nvSpPr>
          <p:cNvPr id="48" name="Shape 41"/>
          <p:cNvSpPr/>
          <p:nvPr/>
        </p:nvSpPr>
        <p:spPr>
          <a:xfrm>
            <a:off x="4429262" y="6781830"/>
            <a:ext cx="15270" cy="35049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49" name="Shape 42"/>
          <p:cNvSpPr/>
          <p:nvPr/>
        </p:nvSpPr>
        <p:spPr>
          <a:xfrm>
            <a:off x="4429262" y="6781830"/>
            <a:ext cx="23186" cy="350490"/>
          </a:xfrm>
          <a:prstGeom prst="rect">
            <a:avLst/>
          </a:prstGeom>
          <a:solidFill>
            <a:srgbClr val="0E110B"/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50" name="Text 43"/>
          <p:cNvSpPr/>
          <p:nvPr/>
        </p:nvSpPr>
        <p:spPr>
          <a:xfrm>
            <a:off x="13471307" y="6804690"/>
            <a:ext cx="427573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920" b="1" dirty="0">
                <a:solidFill>
                  <a:srgbClr val="E84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920" dirty="0"/>
          </a:p>
        </p:txBody>
      </p:sp>
      <p:sp>
        <p:nvSpPr>
          <p:cNvPr id="51" name="Shape 44"/>
          <p:cNvSpPr/>
          <p:nvPr/>
        </p:nvSpPr>
        <p:spPr>
          <a:xfrm>
            <a:off x="731520" y="7547640"/>
            <a:ext cx="91440" cy="9144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45"/>
          <p:cNvSpPr/>
          <p:nvPr/>
        </p:nvSpPr>
        <p:spPr>
          <a:xfrm>
            <a:off x="944850" y="7444770"/>
            <a:ext cx="379796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PawBench 9.55 居首，远超次席 7.90。</a:t>
            </a:r>
            <a:endParaRPr lang="en-US" sz="1620" dirty="0"/>
          </a:p>
        </p:txBody>
      </p:sp>
      <p:sp>
        <p:nvSpPr>
          <p:cNvPr id="53" name="Shape 46"/>
          <p:cNvSpPr/>
          <p:nvPr/>
        </p:nvSpPr>
        <p:spPr>
          <a:xfrm>
            <a:off x="11612880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47"/>
          <p:cNvSpPr/>
          <p:nvPr/>
        </p:nvSpPr>
        <p:spPr>
          <a:xfrm>
            <a:off x="11677162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48"/>
          <p:cNvSpPr/>
          <p:nvPr/>
        </p:nvSpPr>
        <p:spPr>
          <a:xfrm>
            <a:off x="11741628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49"/>
          <p:cNvSpPr/>
          <p:nvPr/>
        </p:nvSpPr>
        <p:spPr>
          <a:xfrm>
            <a:off x="11805910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0"/>
          <p:cNvSpPr/>
          <p:nvPr/>
        </p:nvSpPr>
        <p:spPr>
          <a:xfrm>
            <a:off x="11870284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1"/>
          <p:cNvSpPr/>
          <p:nvPr/>
        </p:nvSpPr>
        <p:spPr>
          <a:xfrm>
            <a:off x="11934566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2"/>
          <p:cNvSpPr/>
          <p:nvPr/>
        </p:nvSpPr>
        <p:spPr>
          <a:xfrm>
            <a:off x="11999031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3"/>
          <p:cNvSpPr/>
          <p:nvPr/>
        </p:nvSpPr>
        <p:spPr>
          <a:xfrm>
            <a:off x="12063313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4"/>
          <p:cNvSpPr/>
          <p:nvPr/>
        </p:nvSpPr>
        <p:spPr>
          <a:xfrm>
            <a:off x="1212768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5"/>
          <p:cNvSpPr/>
          <p:nvPr/>
        </p:nvSpPr>
        <p:spPr>
          <a:xfrm>
            <a:off x="12191970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56"/>
          <p:cNvSpPr/>
          <p:nvPr/>
        </p:nvSpPr>
        <p:spPr>
          <a:xfrm>
            <a:off x="12256435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57"/>
          <p:cNvSpPr/>
          <p:nvPr/>
        </p:nvSpPr>
        <p:spPr>
          <a:xfrm>
            <a:off x="12320717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58"/>
          <p:cNvSpPr/>
          <p:nvPr/>
        </p:nvSpPr>
        <p:spPr>
          <a:xfrm>
            <a:off x="12385091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59"/>
          <p:cNvSpPr/>
          <p:nvPr/>
        </p:nvSpPr>
        <p:spPr>
          <a:xfrm>
            <a:off x="12449373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0"/>
          <p:cNvSpPr/>
          <p:nvPr/>
        </p:nvSpPr>
        <p:spPr>
          <a:xfrm>
            <a:off x="12513838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1"/>
          <p:cNvSpPr/>
          <p:nvPr/>
        </p:nvSpPr>
        <p:spPr>
          <a:xfrm>
            <a:off x="12578121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2"/>
          <p:cNvSpPr/>
          <p:nvPr/>
        </p:nvSpPr>
        <p:spPr>
          <a:xfrm>
            <a:off x="12642494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3"/>
          <p:cNvSpPr/>
          <p:nvPr/>
        </p:nvSpPr>
        <p:spPr>
          <a:xfrm>
            <a:off x="12706868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4"/>
          <p:cNvSpPr/>
          <p:nvPr/>
        </p:nvSpPr>
        <p:spPr>
          <a:xfrm>
            <a:off x="12771242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65"/>
          <p:cNvSpPr/>
          <p:nvPr/>
        </p:nvSpPr>
        <p:spPr>
          <a:xfrm>
            <a:off x="12835524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66"/>
          <p:cNvSpPr/>
          <p:nvPr/>
        </p:nvSpPr>
        <p:spPr>
          <a:xfrm>
            <a:off x="12899989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67"/>
          <p:cNvSpPr/>
          <p:nvPr/>
        </p:nvSpPr>
        <p:spPr>
          <a:xfrm>
            <a:off x="12964272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68"/>
          <p:cNvSpPr/>
          <p:nvPr/>
        </p:nvSpPr>
        <p:spPr>
          <a:xfrm>
            <a:off x="13028646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69"/>
          <p:cNvSpPr/>
          <p:nvPr/>
        </p:nvSpPr>
        <p:spPr>
          <a:xfrm>
            <a:off x="13092928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70"/>
          <p:cNvSpPr/>
          <p:nvPr/>
        </p:nvSpPr>
        <p:spPr>
          <a:xfrm>
            <a:off x="1315739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71"/>
          <p:cNvSpPr/>
          <p:nvPr/>
        </p:nvSpPr>
        <p:spPr>
          <a:xfrm>
            <a:off x="13221675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72"/>
          <p:cNvSpPr/>
          <p:nvPr/>
        </p:nvSpPr>
        <p:spPr>
          <a:xfrm>
            <a:off x="13286049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73"/>
          <p:cNvSpPr/>
          <p:nvPr/>
        </p:nvSpPr>
        <p:spPr>
          <a:xfrm>
            <a:off x="13350331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4"/>
          <p:cNvSpPr/>
          <p:nvPr/>
        </p:nvSpPr>
        <p:spPr>
          <a:xfrm>
            <a:off x="1341479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75"/>
          <p:cNvSpPr/>
          <p:nvPr/>
        </p:nvSpPr>
        <p:spPr>
          <a:xfrm>
            <a:off x="13479079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Shape 76"/>
          <p:cNvSpPr/>
          <p:nvPr/>
        </p:nvSpPr>
        <p:spPr>
          <a:xfrm>
            <a:off x="1354345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77"/>
          <p:cNvSpPr/>
          <p:nvPr/>
        </p:nvSpPr>
        <p:spPr>
          <a:xfrm>
            <a:off x="13607735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78"/>
          <p:cNvSpPr/>
          <p:nvPr/>
        </p:nvSpPr>
        <p:spPr>
          <a:xfrm>
            <a:off x="13672200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Shape 79"/>
          <p:cNvSpPr/>
          <p:nvPr/>
        </p:nvSpPr>
        <p:spPr>
          <a:xfrm>
            <a:off x="1373648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Shape 80"/>
          <p:cNvSpPr/>
          <p:nvPr/>
        </p:nvSpPr>
        <p:spPr>
          <a:xfrm>
            <a:off x="13800765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Shape 81"/>
          <p:cNvSpPr/>
          <p:nvPr/>
        </p:nvSpPr>
        <p:spPr>
          <a:xfrm>
            <a:off x="1386504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0"/>
            <a:ext cx="10241280" cy="658368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7650" y="5105370"/>
            <a:ext cx="1981230" cy="198123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14400" y="811530"/>
            <a:ext cx="83850" cy="8385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165860" y="761970"/>
            <a:ext cx="519608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396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320" dirty="0"/>
          </a:p>
        </p:txBody>
      </p:sp>
      <p:sp>
        <p:nvSpPr>
          <p:cNvPr id="8" name="Shape 4"/>
          <p:cNvSpPr/>
          <p:nvPr/>
        </p:nvSpPr>
        <p:spPr>
          <a:xfrm>
            <a:off x="1749247" y="847740"/>
            <a:ext cx="11101639" cy="11430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3018496" y="731520"/>
            <a:ext cx="797471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66" kern="0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推荐方案</a:t>
            </a:r>
            <a:endParaRPr lang="en-US" sz="1320" dirty="0"/>
          </a:p>
        </p:txBody>
      </p:sp>
      <p:sp>
        <p:nvSpPr>
          <p:cNvPr id="10" name="Text 6"/>
          <p:cNvSpPr/>
          <p:nvPr/>
        </p:nvSpPr>
        <p:spPr>
          <a:xfrm>
            <a:off x="6841236" y="1065299"/>
            <a:ext cx="947928" cy="19705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200"/>
              </a:lnSpc>
              <a:buNone/>
            </a:pPr>
            <a:r>
              <a:rPr lang="en-US" sz="12000" b="1" dirty="0">
                <a:solidFill>
                  <a:srgbClr val="86D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12000" dirty="0"/>
          </a:p>
        </p:txBody>
      </p:sp>
      <p:sp>
        <p:nvSpPr>
          <p:cNvPr id="11" name="Text 7"/>
          <p:cNvSpPr/>
          <p:nvPr/>
        </p:nvSpPr>
        <p:spPr>
          <a:xfrm>
            <a:off x="2372228" y="2231547"/>
            <a:ext cx="5962985" cy="1178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989"/>
              </a:lnSpc>
              <a:buNone/>
            </a:pPr>
            <a:r>
              <a:rPr lang="en-US" sz="6240" b="1" spc="-78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 PawBench，</a:t>
            </a:r>
            <a:endParaRPr lang="en-US" sz="624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1332" y="2197029"/>
            <a:ext cx="10151029" cy="203810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43773" y="2231547"/>
            <a:ext cx="4014307" cy="1178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989"/>
              </a:lnSpc>
              <a:buNone/>
            </a:pPr>
            <a:r>
              <a:rPr lang="en-US" sz="6240" b="1" spc="-78" kern="0" dirty="0">
                <a:solidFill>
                  <a:srgbClr val="86D6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最大现成任</a:t>
            </a:r>
            <a:endParaRPr lang="en-US" sz="6240" dirty="0"/>
          </a:p>
        </p:txBody>
      </p:sp>
      <p:sp>
        <p:nvSpPr>
          <p:cNvPr id="14" name="Text 9"/>
          <p:cNvSpPr/>
          <p:nvPr/>
        </p:nvSpPr>
        <p:spPr>
          <a:xfrm>
            <a:off x="2015612" y="3119063"/>
            <a:ext cx="1660550" cy="1178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989"/>
              </a:lnSpc>
              <a:buNone/>
            </a:pPr>
            <a:r>
              <a:rPr lang="en-US" sz="6240" b="1" spc="-78" kern="0" dirty="0">
                <a:solidFill>
                  <a:srgbClr val="86D6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务集</a:t>
            </a:r>
            <a:endParaRPr lang="en-US" sz="6240" dirty="0"/>
          </a:p>
        </p:txBody>
      </p:sp>
      <p:sp>
        <p:nvSpPr>
          <p:cNvPr id="15" name="Text 10"/>
          <p:cNvSpPr/>
          <p:nvPr/>
        </p:nvSpPr>
        <p:spPr>
          <a:xfrm>
            <a:off x="3584722" y="3119063"/>
            <a:ext cx="9029974" cy="1178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989"/>
              </a:lnSpc>
              <a:buNone/>
            </a:pPr>
            <a:r>
              <a:rPr lang="en-US" sz="6240" b="1" spc="-78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、原生适配 OpenClaw、</a:t>
            </a:r>
            <a:endParaRPr lang="en-US" sz="624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0055" y="3972062"/>
            <a:ext cx="4707331" cy="115059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954335" y="4006580"/>
            <a:ext cx="4798771" cy="1178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989"/>
              </a:lnSpc>
              <a:buNone/>
            </a:pPr>
            <a:r>
              <a:rPr lang="en-US" sz="6240" b="1" spc="-78" kern="0" dirty="0">
                <a:solidFill>
                  <a:srgbClr val="86D6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国产内网友好</a:t>
            </a:r>
            <a:endParaRPr lang="en-US" sz="6240" dirty="0"/>
          </a:p>
        </p:txBody>
      </p:sp>
      <p:sp>
        <p:nvSpPr>
          <p:cNvPr id="18" name="Text 12"/>
          <p:cNvSpPr/>
          <p:nvPr/>
        </p:nvSpPr>
        <p:spPr>
          <a:xfrm>
            <a:off x="7661666" y="4006580"/>
            <a:ext cx="4014307" cy="1178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989"/>
              </a:lnSpc>
              <a:buNone/>
            </a:pPr>
            <a:r>
              <a:rPr lang="en-US" sz="6240" b="1" spc="-78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三位一体。</a:t>
            </a:r>
            <a:endParaRPr lang="en-US" sz="6240" dirty="0"/>
          </a:p>
        </p:txBody>
      </p:sp>
      <p:sp>
        <p:nvSpPr>
          <p:cNvPr id="19" name="Shape 13"/>
          <p:cNvSpPr/>
          <p:nvPr/>
        </p:nvSpPr>
        <p:spPr>
          <a:xfrm>
            <a:off x="6858000" y="5392948"/>
            <a:ext cx="914400" cy="38130"/>
          </a:xfrm>
          <a:prstGeom prst="rect">
            <a:avLst/>
          </a:prstGeom>
          <a:solidFill>
            <a:srgbClr val="0E11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914400" y="5852160"/>
            <a:ext cx="4063959" cy="9448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914400" y="5852160"/>
            <a:ext cx="4063959" cy="23186"/>
          </a:xfrm>
          <a:prstGeom prst="rect">
            <a:avLst/>
          </a:prstGeom>
          <a:solidFill>
            <a:srgbClr val="0E110B"/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914400" y="6035040"/>
            <a:ext cx="344805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180" kern="0" dirty="0">
                <a:solidFill>
                  <a:srgbClr val="5FA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914400" y="6242792"/>
            <a:ext cx="1792224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开箱即用 150 题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914400" y="6576090"/>
            <a:ext cx="3105942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覆盖办公/研发/安全多场景，无需自建数据集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5283129" y="5852160"/>
            <a:ext cx="4063959" cy="9448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5283129" y="5852160"/>
            <a:ext cx="4063959" cy="23186"/>
          </a:xfrm>
          <a:prstGeom prst="rect">
            <a:avLst/>
          </a:prstGeom>
          <a:solidFill>
            <a:srgbClr val="0E110B"/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5283129" y="6035040"/>
            <a:ext cx="344805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180" kern="0" dirty="0">
                <a:solidFill>
                  <a:srgbClr val="5FA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5283129" y="6242792"/>
            <a:ext cx="2246955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原生支持 OpenClaw</a:t>
            </a:r>
            <a:endParaRPr lang="en-US" sz="1800" dirty="0"/>
          </a:p>
        </p:txBody>
      </p:sp>
      <p:sp>
        <p:nvSpPr>
          <p:cNvPr id="29" name="Text 23"/>
          <p:cNvSpPr/>
          <p:nvPr/>
        </p:nvSpPr>
        <p:spPr>
          <a:xfrm>
            <a:off x="5283129" y="6576090"/>
            <a:ext cx="3319363" cy="248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 Harness 横向对比，未来扩展其他 Agent 无碍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9651949" y="5852160"/>
            <a:ext cx="4063959" cy="9448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9651949" y="5852160"/>
            <a:ext cx="4063959" cy="23186"/>
          </a:xfrm>
          <a:prstGeom prst="rect">
            <a:avLst/>
          </a:prstGeom>
          <a:solidFill>
            <a:srgbClr val="0E110B"/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9651949" y="6035040"/>
            <a:ext cx="344805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180" kern="0" dirty="0">
                <a:solidFill>
                  <a:srgbClr val="5FA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9651949" y="6242792"/>
            <a:ext cx="1707002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 + 离线部署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651949" y="6576090"/>
            <a:ext cx="3075310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阿里通义背书，Docker 沙箱，内网完全可控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914400" y="7345650"/>
            <a:ext cx="4903104" cy="225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60" kern="0" dirty="0">
                <a:solidFill>
                  <a:srgbClr val="B7BB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数据来源：《AI Agent 评测工具选型分析》及 PawBench 官方仓库。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11430000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11494282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11558748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11623030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11687404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11751686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11816151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11880433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11944807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12009090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12073555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12137837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2"/>
          <p:cNvSpPr/>
          <p:nvPr/>
        </p:nvSpPr>
        <p:spPr>
          <a:xfrm>
            <a:off x="12202211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3"/>
          <p:cNvSpPr/>
          <p:nvPr/>
        </p:nvSpPr>
        <p:spPr>
          <a:xfrm>
            <a:off x="12266493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4"/>
          <p:cNvSpPr/>
          <p:nvPr/>
        </p:nvSpPr>
        <p:spPr>
          <a:xfrm>
            <a:off x="12330958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5"/>
          <p:cNvSpPr/>
          <p:nvPr/>
        </p:nvSpPr>
        <p:spPr>
          <a:xfrm>
            <a:off x="12395241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6"/>
          <p:cNvSpPr/>
          <p:nvPr/>
        </p:nvSpPr>
        <p:spPr>
          <a:xfrm>
            <a:off x="12459614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47"/>
          <p:cNvSpPr/>
          <p:nvPr/>
        </p:nvSpPr>
        <p:spPr>
          <a:xfrm>
            <a:off x="12523988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48"/>
          <p:cNvSpPr/>
          <p:nvPr/>
        </p:nvSpPr>
        <p:spPr>
          <a:xfrm>
            <a:off x="12588362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49"/>
          <p:cNvSpPr/>
          <p:nvPr/>
        </p:nvSpPr>
        <p:spPr>
          <a:xfrm>
            <a:off x="12652644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0"/>
          <p:cNvSpPr/>
          <p:nvPr/>
        </p:nvSpPr>
        <p:spPr>
          <a:xfrm>
            <a:off x="12717109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1"/>
          <p:cNvSpPr/>
          <p:nvPr/>
        </p:nvSpPr>
        <p:spPr>
          <a:xfrm>
            <a:off x="12781392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2"/>
          <p:cNvSpPr/>
          <p:nvPr/>
        </p:nvSpPr>
        <p:spPr>
          <a:xfrm>
            <a:off x="12845766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3"/>
          <p:cNvSpPr/>
          <p:nvPr/>
        </p:nvSpPr>
        <p:spPr>
          <a:xfrm>
            <a:off x="12910048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4"/>
          <p:cNvSpPr/>
          <p:nvPr/>
        </p:nvSpPr>
        <p:spPr>
          <a:xfrm>
            <a:off x="12974513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5"/>
          <p:cNvSpPr/>
          <p:nvPr/>
        </p:nvSpPr>
        <p:spPr>
          <a:xfrm>
            <a:off x="13038795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6"/>
          <p:cNvSpPr/>
          <p:nvPr/>
        </p:nvSpPr>
        <p:spPr>
          <a:xfrm>
            <a:off x="13103169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57"/>
          <p:cNvSpPr/>
          <p:nvPr/>
        </p:nvSpPr>
        <p:spPr>
          <a:xfrm>
            <a:off x="13167451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58"/>
          <p:cNvSpPr/>
          <p:nvPr/>
        </p:nvSpPr>
        <p:spPr>
          <a:xfrm>
            <a:off x="13231917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59"/>
          <p:cNvSpPr/>
          <p:nvPr/>
        </p:nvSpPr>
        <p:spPr>
          <a:xfrm>
            <a:off x="13296199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0"/>
          <p:cNvSpPr/>
          <p:nvPr/>
        </p:nvSpPr>
        <p:spPr>
          <a:xfrm>
            <a:off x="13360573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1"/>
          <p:cNvSpPr/>
          <p:nvPr/>
        </p:nvSpPr>
        <p:spPr>
          <a:xfrm>
            <a:off x="13424855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2"/>
          <p:cNvSpPr/>
          <p:nvPr/>
        </p:nvSpPr>
        <p:spPr>
          <a:xfrm>
            <a:off x="13489320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3"/>
          <p:cNvSpPr/>
          <p:nvPr/>
        </p:nvSpPr>
        <p:spPr>
          <a:xfrm>
            <a:off x="13553603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4"/>
          <p:cNvSpPr/>
          <p:nvPr/>
        </p:nvSpPr>
        <p:spPr>
          <a:xfrm>
            <a:off x="13617885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5"/>
          <p:cNvSpPr/>
          <p:nvPr/>
        </p:nvSpPr>
        <p:spPr>
          <a:xfrm>
            <a:off x="13682167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智能体评测工具选型分析</dc:title>
  <dc:subject>Editable PPTX export</dc:subject>
  <dc:creator>Dashi PPT</dc:creator>
  <cp:lastModifiedBy>Dashi PPT</cp:lastModifiedBy>
  <cp:revision>1</cp:revision>
  <dcterms:created xsi:type="dcterms:W3CDTF">2026-07-16T07:53:54Z</dcterms:created>
  <dcterms:modified xsi:type="dcterms:W3CDTF">2026-07-16T07:53:54Z</dcterms:modified>
</cp:coreProperties>
</file>