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8382030" y="0"/>
            <a:ext cx="6248370" cy="518163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333" y="0"/>
            <a:ext cx="4192067" cy="394819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0" y="670530"/>
            <a:ext cx="259050" cy="2590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96310" y="704820"/>
            <a:ext cx="11582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spc="35" kern="0" dirty="0">
                <a:solidFill>
                  <a:srgbClr val="0D1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PAWBENCH</a:t>
            </a:r>
            <a:endParaRPr lang="en-US" sz="1380" dirty="0"/>
          </a:p>
        </p:txBody>
      </p:sp>
      <p:sp>
        <p:nvSpPr>
          <p:cNvPr id="8" name="Text 3"/>
          <p:cNvSpPr/>
          <p:nvPr/>
        </p:nvSpPr>
        <p:spPr>
          <a:xfrm>
            <a:off x="12196907" y="723930"/>
            <a:ext cx="211032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spc="345" kern="0" dirty="0">
                <a:solidFill>
                  <a:srgbClr val="5A5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评测</a:t>
            </a:r>
            <a:endParaRPr lang="en-US" sz="1380" dirty="0"/>
          </a:p>
        </p:txBody>
      </p:sp>
      <p:sp>
        <p:nvSpPr>
          <p:cNvPr id="9" name="Text 4"/>
          <p:cNvSpPr/>
          <p:nvPr/>
        </p:nvSpPr>
        <p:spPr>
          <a:xfrm>
            <a:off x="838230" y="7299930"/>
            <a:ext cx="210155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spc="242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★ 推荐</a:t>
            </a:r>
            <a:endParaRPr lang="en-US" sz="1380" dirty="0"/>
          </a:p>
        </p:txBody>
      </p:sp>
      <p:sp>
        <p:nvSpPr>
          <p:cNvPr id="10" name="Shape 5"/>
          <p:cNvSpPr/>
          <p:nvPr/>
        </p:nvSpPr>
        <p:spPr>
          <a:xfrm>
            <a:off x="2851191" y="7299930"/>
            <a:ext cx="1795333" cy="2590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D100A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2851191" y="7299930"/>
            <a:ext cx="11593" cy="259050"/>
          </a:xfrm>
          <a:prstGeom prst="rect">
            <a:avLst/>
          </a:prstGeom>
          <a:solidFill>
            <a:srgbClr val="0D100A">
              <a:alpha val="22000"/>
            </a:srgbClr>
          </a:solidFill>
          <a:ln w="12700">
            <a:solidFill>
              <a:srgbClr val="0D100A">
                <a:alpha val="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072201" y="7299930"/>
            <a:ext cx="171686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spc="242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4050 测试单元</a:t>
            </a:r>
            <a:endParaRPr lang="en-US" sz="1380" dirty="0"/>
          </a:p>
        </p:txBody>
      </p:sp>
      <p:sp>
        <p:nvSpPr>
          <p:cNvPr id="13" name="Shape 8"/>
          <p:cNvSpPr/>
          <p:nvPr/>
        </p:nvSpPr>
        <p:spPr>
          <a:xfrm>
            <a:off x="4646524" y="7299930"/>
            <a:ext cx="1433413" cy="2590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D100A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646524" y="7299930"/>
            <a:ext cx="11593" cy="259050"/>
          </a:xfrm>
          <a:prstGeom prst="rect">
            <a:avLst/>
          </a:prstGeom>
          <a:solidFill>
            <a:srgbClr val="0D100A">
              <a:alpha val="22000"/>
            </a:srgbClr>
          </a:solidFill>
          <a:ln w="12700">
            <a:solidFill>
              <a:srgbClr val="0D100A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867534" y="7299930"/>
            <a:ext cx="116567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spc="242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国产化优先</a:t>
            </a:r>
            <a:endParaRPr lang="en-US" sz="1380" dirty="0"/>
          </a:p>
        </p:txBody>
      </p:sp>
      <p:sp>
        <p:nvSpPr>
          <p:cNvPr id="16" name="Shape 11"/>
          <p:cNvSpPr/>
          <p:nvPr/>
        </p:nvSpPr>
        <p:spPr>
          <a:xfrm>
            <a:off x="6079937" y="7299930"/>
            <a:ext cx="1433413" cy="2590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D100A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079937" y="7299930"/>
            <a:ext cx="11593" cy="259050"/>
          </a:xfrm>
          <a:prstGeom prst="rect">
            <a:avLst/>
          </a:prstGeom>
          <a:solidFill>
            <a:srgbClr val="0D100A">
              <a:alpha val="22000"/>
            </a:srgbClr>
          </a:solidFill>
          <a:ln w="12700">
            <a:solidFill>
              <a:srgbClr val="0D100A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00948" y="7299930"/>
            <a:ext cx="116567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spc="242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内网可运行</a:t>
            </a:r>
            <a:endParaRPr lang="en-US" sz="138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6827550"/>
            <a:ext cx="863559" cy="73152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4959" y="7105528"/>
            <a:ext cx="863651" cy="453542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8610" y="7281184"/>
            <a:ext cx="863559" cy="27788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38230" y="1964680"/>
            <a:ext cx="2082117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spc="788" kern="0" dirty="0">
                <a:solidFill>
                  <a:srgbClr val="5A5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工具选型分析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838230" y="2186817"/>
            <a:ext cx="5230094" cy="1772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101"/>
              </a:lnSpc>
              <a:buNone/>
            </a:pPr>
            <a:r>
              <a:rPr lang="en-US" sz="9480" b="1" spc="119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11款工具</a:t>
            </a:r>
            <a:endParaRPr lang="en-US" sz="9480" dirty="0"/>
          </a:p>
        </p:txBody>
      </p:sp>
      <p:sp>
        <p:nvSpPr>
          <p:cNvPr id="24" name="Text 16"/>
          <p:cNvSpPr/>
          <p:nvPr/>
        </p:nvSpPr>
        <p:spPr>
          <a:xfrm>
            <a:off x="838230" y="3342618"/>
            <a:ext cx="8132765" cy="1772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101"/>
              </a:lnSpc>
              <a:buNone/>
            </a:pPr>
            <a:r>
              <a:rPr lang="en-US" sz="9480" b="1" spc="119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6维度交叉对比</a:t>
            </a:r>
            <a:endParaRPr lang="en-US" sz="9480" dirty="0"/>
          </a:p>
        </p:txBody>
      </p:sp>
      <p:sp>
        <p:nvSpPr>
          <p:cNvPr id="25" name="Shape 17"/>
          <p:cNvSpPr/>
          <p:nvPr/>
        </p:nvSpPr>
        <p:spPr>
          <a:xfrm>
            <a:off x="838230" y="5091471"/>
            <a:ext cx="731520" cy="53310"/>
          </a:xfrm>
          <a:prstGeom prst="rect">
            <a:avLst/>
          </a:prstGeom>
          <a:solidFill>
            <a:srgbClr val="0D10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12262" y="5487680"/>
            <a:ext cx="1447800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0D1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</a:t>
            </a:r>
            <a:endParaRPr lang="en-US" sz="2400" dirty="0"/>
          </a:p>
        </p:txBody>
      </p:sp>
      <p:sp>
        <p:nvSpPr>
          <p:cNvPr id="27" name="Text 19"/>
          <p:cNvSpPr/>
          <p:nvPr/>
        </p:nvSpPr>
        <p:spPr>
          <a:xfrm>
            <a:off x="2131558" y="5406573"/>
            <a:ext cx="8091678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spc="60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为私有化 OpenClaw 及未来 AI Agent 选择最佳评测方案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26517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20" y="1077889"/>
            <a:ext cx="2651760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报告导览</a:t>
            </a:r>
            <a:endParaRPr lang="en-US" sz="5040" dirty="0"/>
          </a:p>
        </p:txBody>
      </p:sp>
      <p:sp>
        <p:nvSpPr>
          <p:cNvPr id="8" name="Text 6"/>
          <p:cNvSpPr/>
          <p:nvPr/>
        </p:nvSpPr>
        <p:spPr>
          <a:xfrm>
            <a:off x="12070080" y="1324828"/>
            <a:ext cx="19202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七个章节全景呈现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082363"/>
            <a:ext cx="9018087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从评测需求出发，对比 11 款候选工具，6 维度加权评分，最终推荐 PawBench 并给</a:t>
            </a:r>
            <a:endParaRPr lang="en-US" sz="1920" dirty="0"/>
          </a:p>
        </p:txBody>
      </p:sp>
      <p:sp>
        <p:nvSpPr>
          <p:cNvPr id="10" name="Text 8"/>
          <p:cNvSpPr/>
          <p:nvPr/>
        </p:nvSpPr>
        <p:spPr>
          <a:xfrm>
            <a:off x="731520" y="2448123"/>
            <a:ext cx="155448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出实施路线。</a:t>
            </a:r>
            <a:endParaRPr lang="en-US" sz="192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76570"/>
            <a:ext cx="3166110" cy="1783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7710" y="351285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67710" y="412476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背景与目标</a:t>
            </a:r>
            <a:endParaRPr lang="en-US" sz="2160" dirty="0"/>
          </a:p>
        </p:txBody>
      </p:sp>
      <p:sp>
        <p:nvSpPr>
          <p:cNvPr id="14" name="Text 11"/>
          <p:cNvSpPr/>
          <p:nvPr/>
        </p:nvSpPr>
        <p:spPr>
          <a:xfrm>
            <a:off x="967710" y="459486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GOALS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40" y="3230850"/>
            <a:ext cx="3166110" cy="1783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64378" y="4125773"/>
            <a:ext cx="1742846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86D62B">
                    <a:alpha val="1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17" name="Text 13"/>
          <p:cNvSpPr/>
          <p:nvPr/>
        </p:nvSpPr>
        <p:spPr>
          <a:xfrm>
            <a:off x="6630589" y="3467130"/>
            <a:ext cx="37581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60" b="1" spc="144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</a:t>
            </a:r>
            <a:endParaRPr lang="en-US" sz="960" dirty="0"/>
          </a:p>
        </p:txBody>
      </p:sp>
      <p:sp>
        <p:nvSpPr>
          <p:cNvPr id="18" name="Text 14"/>
          <p:cNvSpPr/>
          <p:nvPr/>
        </p:nvSpPr>
        <p:spPr>
          <a:xfrm>
            <a:off x="4301520" y="3467130"/>
            <a:ext cx="42245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301520" y="407904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六维评估体系</a:t>
            </a:r>
            <a:endParaRPr lang="en-US" sz="2160" dirty="0"/>
          </a:p>
        </p:txBody>
      </p:sp>
      <p:sp>
        <p:nvSpPr>
          <p:cNvPr id="20" name="Text 16"/>
          <p:cNvSpPr/>
          <p:nvPr/>
        </p:nvSpPr>
        <p:spPr>
          <a:xfrm>
            <a:off x="4301520" y="4549140"/>
            <a:ext cx="28984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FRAMEWORK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050" y="3276570"/>
            <a:ext cx="3166110" cy="1783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635240" y="3512850"/>
            <a:ext cx="42565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7635240" y="412476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候选工具对比</a:t>
            </a:r>
            <a:endParaRPr lang="en-US" sz="2160" dirty="0"/>
          </a:p>
        </p:txBody>
      </p:sp>
      <p:sp>
        <p:nvSpPr>
          <p:cNvPr id="24" name="Text 19"/>
          <p:cNvSpPr/>
          <p:nvPr/>
        </p:nvSpPr>
        <p:spPr>
          <a:xfrm>
            <a:off x="7635240" y="4594860"/>
            <a:ext cx="28984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COMPARISON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2770" y="3276570"/>
            <a:ext cx="3166110" cy="1783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68960" y="3512850"/>
            <a:ext cx="43214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10968960" y="412476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综合评分矩阵</a:t>
            </a:r>
            <a:endParaRPr lang="en-US" sz="2160" dirty="0"/>
          </a:p>
        </p:txBody>
      </p:sp>
      <p:sp>
        <p:nvSpPr>
          <p:cNvPr id="28" name="Text 22"/>
          <p:cNvSpPr/>
          <p:nvPr/>
        </p:nvSpPr>
        <p:spPr>
          <a:xfrm>
            <a:off x="10968960" y="459486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MATRIX</a:t>
            </a:r>
            <a:endParaRPr lang="en-US" sz="1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227350"/>
            <a:ext cx="3166110" cy="17830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7710" y="5463540"/>
            <a:ext cx="42391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967710" y="6075548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深度解读</a:t>
            </a:r>
            <a:endParaRPr lang="en-US" sz="2160" dirty="0"/>
          </a:p>
        </p:txBody>
      </p:sp>
      <p:sp>
        <p:nvSpPr>
          <p:cNvPr id="32" name="Text 25"/>
          <p:cNvSpPr/>
          <p:nvPr/>
        </p:nvSpPr>
        <p:spPr>
          <a:xfrm>
            <a:off x="967710" y="654555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PAWBENCH DEEP DIVE</a:t>
            </a:r>
            <a:endParaRPr lang="en-US" sz="12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240" y="5227350"/>
            <a:ext cx="3166110" cy="17830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301520" y="5463540"/>
            <a:ext cx="427939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4301520" y="6075548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2160" dirty="0"/>
          </a:p>
        </p:txBody>
      </p:sp>
      <p:sp>
        <p:nvSpPr>
          <p:cNvPr id="36" name="Text 28"/>
          <p:cNvSpPr/>
          <p:nvPr/>
        </p:nvSpPr>
        <p:spPr>
          <a:xfrm>
            <a:off x="4301520" y="654555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2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050" y="5227350"/>
            <a:ext cx="3166110" cy="17830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635240" y="5463540"/>
            <a:ext cx="40873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0"/>
          <p:cNvSpPr/>
          <p:nvPr/>
        </p:nvSpPr>
        <p:spPr>
          <a:xfrm>
            <a:off x="7635240" y="6075548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</a:t>
            </a:r>
            <a:endParaRPr lang="en-US" sz="2160" dirty="0"/>
          </a:p>
        </p:txBody>
      </p:sp>
      <p:sp>
        <p:nvSpPr>
          <p:cNvPr id="40" name="Text 31"/>
          <p:cNvSpPr/>
          <p:nvPr/>
        </p:nvSpPr>
        <p:spPr>
          <a:xfrm>
            <a:off x="7635240" y="654555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731520" y="750192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944850" y="7399050"/>
            <a:ext cx="251277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11 tools evaluated</a:t>
            </a:r>
            <a:endParaRPr lang="en-US" sz="1620" dirty="0"/>
          </a:p>
        </p:txBody>
      </p:sp>
      <p:sp>
        <p:nvSpPr>
          <p:cNvPr id="43" name="Shape 34"/>
          <p:cNvSpPr/>
          <p:nvPr/>
        </p:nvSpPr>
        <p:spPr>
          <a:xfrm>
            <a:off x="117653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1181935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87348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1192752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1198174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1203579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1208992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1214405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1219818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12252228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1230645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12360493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1241462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246866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252289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257693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263106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1268519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1273932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1279337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1284759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1290163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6"/>
          <p:cNvSpPr/>
          <p:nvPr/>
        </p:nvSpPr>
        <p:spPr>
          <a:xfrm>
            <a:off x="1295576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1300980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13064033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13118074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13172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1322633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1328047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1333451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1338873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1344277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134969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7"/>
          <p:cNvSpPr/>
          <p:nvPr/>
        </p:nvSpPr>
        <p:spPr>
          <a:xfrm>
            <a:off x="1355095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8"/>
          <p:cNvSpPr/>
          <p:nvPr/>
        </p:nvSpPr>
        <p:spPr>
          <a:xfrm>
            <a:off x="1360499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1365912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13713165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13767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2"/>
          <p:cNvSpPr/>
          <p:nvPr/>
        </p:nvSpPr>
        <p:spPr>
          <a:xfrm>
            <a:off x="1382124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3"/>
          <p:cNvSpPr/>
          <p:nvPr/>
        </p:nvSpPr>
        <p:spPr>
          <a:xfrm>
            <a:off x="1387528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658277"/>
            <a:ext cx="7315200" cy="57607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133570"/>
            <a:ext cx="3962370" cy="396237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2183587"/>
            <a:ext cx="487650" cy="1527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539210" y="2088398"/>
            <a:ext cx="206425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504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背景与目标</a:t>
            </a:r>
            <a:endParaRPr lang="en-US" sz="1440" dirty="0"/>
          </a:p>
        </p:txBody>
      </p:sp>
      <p:sp>
        <p:nvSpPr>
          <p:cNvPr id="8" name="Text 4"/>
          <p:cNvSpPr/>
          <p:nvPr/>
        </p:nvSpPr>
        <p:spPr>
          <a:xfrm>
            <a:off x="3344327" y="2073128"/>
            <a:ext cx="45582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50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914400" y="2595587"/>
            <a:ext cx="12893040" cy="10874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347"/>
              </a:lnSpc>
              <a:buNone/>
            </a:pPr>
            <a:r>
              <a:rPr lang="en-US" sz="8880" b="1" spc="-111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为什么需要评测选型</a:t>
            </a:r>
            <a:endParaRPr lang="en-US" sz="8880" dirty="0"/>
          </a:p>
        </p:txBody>
      </p:sp>
      <p:sp>
        <p:nvSpPr>
          <p:cNvPr id="10" name="Text 6"/>
          <p:cNvSpPr/>
          <p:nvPr/>
        </p:nvSpPr>
        <p:spPr>
          <a:xfrm>
            <a:off x="914400" y="3882085"/>
            <a:ext cx="269748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核心诉求与技术背景</a:t>
            </a:r>
            <a:endParaRPr lang="en-US" sz="2280" dirty="0"/>
          </a:p>
        </p:txBody>
      </p:sp>
      <p:sp>
        <p:nvSpPr>
          <p:cNvPr id="11" name="Text 7"/>
          <p:cNvSpPr/>
          <p:nvPr/>
        </p:nvSpPr>
        <p:spPr>
          <a:xfrm>
            <a:off x="914400" y="4489521"/>
            <a:ext cx="7358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为私有化 OpenClaw 及未来 Agent 选择评测方案。核心诉求：现成数据集、国产</a:t>
            </a:r>
            <a:endParaRPr lang="en-US" sz="1620" dirty="0"/>
          </a:p>
        </p:txBody>
      </p:sp>
      <p:sp>
        <p:nvSpPr>
          <p:cNvPr id="12" name="Text 8"/>
          <p:cNvSpPr/>
          <p:nvPr/>
        </p:nvSpPr>
        <p:spPr>
          <a:xfrm>
            <a:off x="914400" y="4798131"/>
            <a:ext cx="423659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化、内网离线、OpenClaw 适配、社区活跃。</a:t>
            </a:r>
            <a:endParaRPr lang="en-US" sz="1620" dirty="0"/>
          </a:p>
        </p:txBody>
      </p:sp>
      <p:sp>
        <p:nvSpPr>
          <p:cNvPr id="13" name="Shape 9"/>
          <p:cNvSpPr/>
          <p:nvPr/>
        </p:nvSpPr>
        <p:spPr>
          <a:xfrm>
            <a:off x="914400" y="5502951"/>
            <a:ext cx="160020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14400" y="5502951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03020" y="5502951"/>
            <a:ext cx="108201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现成数据集</a:t>
            </a:r>
            <a:endParaRPr lang="en-US" sz="1560" dirty="0"/>
          </a:p>
        </p:txBody>
      </p:sp>
      <p:sp>
        <p:nvSpPr>
          <p:cNvPr id="16" name="Shape 12"/>
          <p:cNvSpPr/>
          <p:nvPr/>
        </p:nvSpPr>
        <p:spPr>
          <a:xfrm>
            <a:off x="2636490" y="5502951"/>
            <a:ext cx="205356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36490" y="5502951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025110" y="5502951"/>
            <a:ext cx="153546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适配</a:t>
            </a:r>
            <a:endParaRPr lang="en-US" sz="1560" dirty="0"/>
          </a:p>
        </p:txBody>
      </p:sp>
      <p:sp>
        <p:nvSpPr>
          <p:cNvPr id="19" name="Shape 15"/>
          <p:cNvSpPr/>
          <p:nvPr/>
        </p:nvSpPr>
        <p:spPr>
          <a:xfrm>
            <a:off x="4812030" y="5502951"/>
            <a:ext cx="160020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12030" y="5502951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00650" y="5502951"/>
            <a:ext cx="108201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国产化优先</a:t>
            </a:r>
            <a:endParaRPr lang="en-US" sz="1560" dirty="0"/>
          </a:p>
        </p:txBody>
      </p:sp>
      <p:sp>
        <p:nvSpPr>
          <p:cNvPr id="22" name="Shape 18"/>
          <p:cNvSpPr/>
          <p:nvPr/>
        </p:nvSpPr>
        <p:spPr>
          <a:xfrm>
            <a:off x="6534120" y="5502951"/>
            <a:ext cx="160020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34120" y="5502951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22740" y="5502951"/>
            <a:ext cx="108201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内网可运行</a:t>
            </a:r>
            <a:endParaRPr lang="en-US" sz="1560" dirty="0"/>
          </a:p>
        </p:txBody>
      </p:sp>
      <p:sp>
        <p:nvSpPr>
          <p:cNvPr id="25" name="Shape 21"/>
          <p:cNvSpPr/>
          <p:nvPr/>
        </p:nvSpPr>
        <p:spPr>
          <a:xfrm>
            <a:off x="914400" y="740280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27730" y="7307610"/>
            <a:ext cx="2749418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满足全部 5 项诉求</a:t>
            </a:r>
            <a:endParaRPr lang="en-US" sz="1560" dirty="0"/>
          </a:p>
        </p:txBody>
      </p:sp>
      <p:sp>
        <p:nvSpPr>
          <p:cNvPr id="27" name="Shape 23"/>
          <p:cNvSpPr/>
          <p:nvPr/>
        </p:nvSpPr>
        <p:spPr>
          <a:xfrm>
            <a:off x="11430000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494282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558748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1623030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687404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751686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816151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880433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94480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2009090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2073555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2137837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2202211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2266493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2330958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2395241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2459614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2523988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2588362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2652644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2717109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2781392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2845766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2910048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297451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3038795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3103169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3167451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323191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3296199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336057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3424855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489320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355360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3617885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368216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91" y="1975013"/>
            <a:ext cx="6729893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18899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17481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460245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评估体系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6573"/>
            <a:ext cx="4602450" cy="568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262"/>
              </a:lnSpc>
              <a:buNone/>
            </a:pPr>
            <a:r>
              <a:rPr lang="en-US" sz="44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六维加权评估模型</a:t>
            </a:r>
            <a:endParaRPr lang="en-US" sz="4440" dirty="0"/>
          </a:p>
        </p:txBody>
      </p:sp>
      <p:sp>
        <p:nvSpPr>
          <p:cNvPr id="9" name="Text 6"/>
          <p:cNvSpPr/>
          <p:nvPr/>
        </p:nvSpPr>
        <p:spPr>
          <a:xfrm>
            <a:off x="11841480" y="1251676"/>
            <a:ext cx="2148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从六个维度加权评分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448260"/>
            <a:ext cx="397764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因核心诉求是「有现成可用、针对</a:t>
            </a:r>
            <a:endParaRPr lang="en-US" sz="2040" dirty="0"/>
          </a:p>
        </p:txBody>
      </p:sp>
      <p:sp>
        <p:nvSpPr>
          <p:cNvPr id="11" name="Text 8"/>
          <p:cNvSpPr/>
          <p:nvPr/>
        </p:nvSpPr>
        <p:spPr>
          <a:xfrm>
            <a:off x="731520" y="2836880"/>
            <a:ext cx="4201028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和 OpenClaw 的评测方案」，</a:t>
            </a:r>
            <a:endParaRPr lang="en-US" sz="2040" dirty="0"/>
          </a:p>
        </p:txBody>
      </p:sp>
      <p:sp>
        <p:nvSpPr>
          <p:cNvPr id="12" name="Text 9"/>
          <p:cNvSpPr/>
          <p:nvPr/>
        </p:nvSpPr>
        <p:spPr>
          <a:xfrm>
            <a:off x="731520" y="3225500"/>
            <a:ext cx="4127693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故数据集成权重最高（30%），易用</a:t>
            </a:r>
            <a:endParaRPr lang="en-US" sz="2040" dirty="0"/>
          </a:p>
        </p:txBody>
      </p:sp>
      <p:sp>
        <p:nvSpPr>
          <p:cNvPr id="13" name="Text 10"/>
          <p:cNvSpPr/>
          <p:nvPr/>
        </p:nvSpPr>
        <p:spPr>
          <a:xfrm>
            <a:off x="731520" y="3614120"/>
            <a:ext cx="216411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性和国产化次之。</a:t>
            </a:r>
            <a:endParaRPr lang="en-US" sz="2040" dirty="0"/>
          </a:p>
        </p:txBody>
      </p:sp>
      <p:sp>
        <p:nvSpPr>
          <p:cNvPr id="14" name="Text 11"/>
          <p:cNvSpPr/>
          <p:nvPr/>
        </p:nvSpPr>
        <p:spPr>
          <a:xfrm>
            <a:off x="708660" y="4431000"/>
            <a:ext cx="24387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36290" y="4389120"/>
            <a:ext cx="69686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 ·</a:t>
            </a:r>
            <a:endParaRPr lang="en-US" sz="1380" dirty="0"/>
          </a:p>
        </p:txBody>
      </p:sp>
      <p:sp>
        <p:nvSpPr>
          <p:cNvPr id="16" name="Text 13"/>
          <p:cNvSpPr/>
          <p:nvPr/>
        </p:nvSpPr>
        <p:spPr>
          <a:xfrm>
            <a:off x="1641714" y="4389120"/>
            <a:ext cx="1007669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初始价值 →</a:t>
            </a:r>
            <a:endParaRPr lang="en-US" sz="1380" dirty="0"/>
          </a:p>
        </p:txBody>
      </p:sp>
      <p:sp>
        <p:nvSpPr>
          <p:cNvPr id="17" name="Text 14"/>
          <p:cNvSpPr/>
          <p:nvPr/>
        </p:nvSpPr>
        <p:spPr>
          <a:xfrm>
            <a:off x="2557943" y="4389120"/>
            <a:ext cx="149349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（融资额与轮次）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708660" y="4827300"/>
            <a:ext cx="24387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6290" y="4785330"/>
            <a:ext cx="69686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 ·</a:t>
            </a:r>
            <a:endParaRPr lang="en-US" sz="1380" dirty="0"/>
          </a:p>
        </p:txBody>
      </p:sp>
      <p:sp>
        <p:nvSpPr>
          <p:cNvPr id="20" name="Text 17"/>
          <p:cNvSpPr/>
          <p:nvPr/>
        </p:nvSpPr>
        <p:spPr>
          <a:xfrm>
            <a:off x="1641714" y="4785330"/>
            <a:ext cx="1007669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战略价值 →</a:t>
            </a:r>
            <a:endParaRPr lang="en-US" sz="1380" dirty="0"/>
          </a:p>
        </p:txBody>
      </p:sp>
      <p:sp>
        <p:nvSpPr>
          <p:cNvPr id="21" name="Text 18"/>
          <p:cNvSpPr/>
          <p:nvPr/>
        </p:nvSpPr>
        <p:spPr>
          <a:xfrm>
            <a:off x="2557943" y="4785330"/>
            <a:ext cx="131829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（收入确定性）</a:t>
            </a:r>
            <a:endParaRPr lang="en-US" sz="1380" dirty="0"/>
          </a:p>
        </p:txBody>
      </p:sp>
      <p:sp>
        <p:nvSpPr>
          <p:cNvPr id="22" name="Shape 19"/>
          <p:cNvSpPr/>
          <p:nvPr/>
        </p:nvSpPr>
        <p:spPr>
          <a:xfrm>
            <a:off x="731520" y="557400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4850" y="5471130"/>
            <a:ext cx="351376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每项满分 10 分，加权汇总后对比排名</a:t>
            </a:r>
            <a:endParaRPr lang="en-US" sz="1620" dirty="0"/>
          </a:p>
        </p:txBody>
      </p:sp>
      <p:sp>
        <p:nvSpPr>
          <p:cNvPr id="24" name="Shape 21"/>
          <p:cNvSpPr/>
          <p:nvPr/>
        </p:nvSpPr>
        <p:spPr>
          <a:xfrm>
            <a:off x="6636990" y="2286000"/>
            <a:ext cx="15270" cy="486159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0" y="7147590"/>
            <a:ext cx="7040880" cy="1527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-5400000">
            <a:off x="5638830" y="4560570"/>
            <a:ext cx="2011680" cy="31245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 rot="-5400000">
            <a:off x="6557071" y="4603272"/>
            <a:ext cx="1160907" cy="1011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初始价值 →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 rot="-5400000">
            <a:off x="6557071" y="3846515"/>
            <a:ext cx="850392" cy="7841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 → 高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508114" y="7258050"/>
            <a:ext cx="116090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战略价值 →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491917" y="7258050"/>
            <a:ext cx="85039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 → 高</a:t>
            </a:r>
            <a:endParaRPr lang="en-US" sz="12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610" y="2286000"/>
            <a:ext cx="3444270" cy="23545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0706070" y="2545050"/>
            <a:ext cx="192976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02" kern="0" dirty="0">
                <a:solidFill>
                  <a:srgbClr val="0E110B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 30% + 易用性 20%</a:t>
            </a:r>
            <a:endParaRPr lang="en-US" sz="1020" dirty="0"/>
          </a:p>
        </p:txBody>
      </p:sp>
      <p:sp>
        <p:nvSpPr>
          <p:cNvPr id="33" name="Text 29"/>
          <p:cNvSpPr/>
          <p:nvPr/>
        </p:nvSpPr>
        <p:spPr>
          <a:xfrm>
            <a:off x="10706070" y="2806202"/>
            <a:ext cx="303279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(50%)</a:t>
            </a:r>
            <a:endParaRPr lang="en-US" sz="2640" dirty="0"/>
          </a:p>
        </p:txBody>
      </p:sp>
      <p:sp>
        <p:nvSpPr>
          <p:cNvPr id="34" name="Text 30"/>
          <p:cNvSpPr/>
          <p:nvPr/>
        </p:nvSpPr>
        <p:spPr>
          <a:xfrm>
            <a:off x="10835640" y="4046220"/>
            <a:ext cx="909919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 30%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1989338" y="4046220"/>
            <a:ext cx="909919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易用性 20%</a:t>
            </a:r>
            <a:endParaRPr lang="en-US" sz="12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286000"/>
            <a:ext cx="3444270" cy="23545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109460" y="2545050"/>
            <a:ext cx="192976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02" kern="0" dirty="0">
                <a:solidFill>
                  <a:srgbClr val="EFA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 15% + 扩展性 15%</a:t>
            </a:r>
            <a:endParaRPr lang="en-US" sz="1020" dirty="0"/>
          </a:p>
        </p:txBody>
      </p:sp>
      <p:sp>
        <p:nvSpPr>
          <p:cNvPr id="38" name="Text 33"/>
          <p:cNvSpPr/>
          <p:nvPr/>
        </p:nvSpPr>
        <p:spPr>
          <a:xfrm>
            <a:off x="7109460" y="2806202"/>
            <a:ext cx="303279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 (30%)</a:t>
            </a:r>
            <a:endParaRPr lang="en-US" sz="2640" dirty="0"/>
          </a:p>
        </p:txBody>
      </p:sp>
      <p:sp>
        <p:nvSpPr>
          <p:cNvPr id="39" name="Text 34"/>
          <p:cNvSpPr/>
          <p:nvPr/>
        </p:nvSpPr>
        <p:spPr>
          <a:xfrm>
            <a:off x="7239030" y="4046220"/>
            <a:ext cx="909919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 15%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8392729" y="4046220"/>
            <a:ext cx="909919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扩展性 15%</a:t>
            </a:r>
            <a:endParaRPr lang="en-US" sz="12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4610" y="4793010"/>
            <a:ext cx="3444270" cy="235458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0706070" y="5052060"/>
            <a:ext cx="178273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02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 10% + 开源 10%</a:t>
            </a:r>
            <a:endParaRPr lang="en-US" sz="1020" dirty="0"/>
          </a:p>
        </p:txBody>
      </p:sp>
      <p:sp>
        <p:nvSpPr>
          <p:cNvPr id="43" name="Text 37"/>
          <p:cNvSpPr/>
          <p:nvPr/>
        </p:nvSpPr>
        <p:spPr>
          <a:xfrm>
            <a:off x="10706070" y="5313121"/>
            <a:ext cx="303279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 (20%)</a:t>
            </a:r>
            <a:endParaRPr lang="en-US" sz="2640" dirty="0"/>
          </a:p>
        </p:txBody>
      </p:sp>
      <p:sp>
        <p:nvSpPr>
          <p:cNvPr id="44" name="Text 38"/>
          <p:cNvSpPr/>
          <p:nvPr/>
        </p:nvSpPr>
        <p:spPr>
          <a:xfrm>
            <a:off x="10835640" y="6553230"/>
            <a:ext cx="909919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 10%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11989338" y="6553230"/>
            <a:ext cx="757489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10%</a:t>
            </a:r>
            <a:endParaRPr lang="en-US" sz="12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793010"/>
            <a:ext cx="3444270" cy="235458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109460" y="5052060"/>
            <a:ext cx="135719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02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加权计算=综合得分</a:t>
            </a:r>
            <a:endParaRPr lang="en-US" sz="1020" dirty="0"/>
          </a:p>
        </p:txBody>
      </p:sp>
      <p:sp>
        <p:nvSpPr>
          <p:cNvPr id="48" name="Text 41"/>
          <p:cNvSpPr/>
          <p:nvPr/>
        </p:nvSpPr>
        <p:spPr>
          <a:xfrm>
            <a:off x="7109460" y="5313121"/>
            <a:ext cx="303279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</a:t>
            </a:r>
            <a:endParaRPr lang="en-US" sz="2640" dirty="0"/>
          </a:p>
        </p:txBody>
      </p:sp>
      <p:sp>
        <p:nvSpPr>
          <p:cNvPr id="49" name="Text 42"/>
          <p:cNvSpPr/>
          <p:nvPr/>
        </p:nvSpPr>
        <p:spPr>
          <a:xfrm>
            <a:off x="7239030" y="6553230"/>
            <a:ext cx="701070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工具调研</a:t>
            </a:r>
            <a:endParaRPr lang="en-US" sz="1200" dirty="0"/>
          </a:p>
        </p:txBody>
      </p:sp>
      <p:sp>
        <p:nvSpPr>
          <p:cNvPr id="50" name="Text 43"/>
          <p:cNvSpPr/>
          <p:nvPr/>
        </p:nvSpPr>
        <p:spPr>
          <a:xfrm>
            <a:off x="8183880" y="6553230"/>
            <a:ext cx="701070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9128730" y="6553230"/>
            <a:ext cx="701070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加权计算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731520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808512" y="7467630"/>
            <a:ext cx="46634" cy="228600"/>
          </a:xfrm>
          <a:prstGeom prst="roundRect">
            <a:avLst>
              <a:gd name="adj" fmla="val 4971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885688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962772" y="7467630"/>
            <a:ext cx="46634" cy="228600"/>
          </a:xfrm>
          <a:prstGeom prst="roundRect">
            <a:avLst>
              <a:gd name="adj" fmla="val 4971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1039856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1116940" y="7467630"/>
            <a:ext cx="46634" cy="228600"/>
          </a:xfrm>
          <a:prstGeom prst="roundRect">
            <a:avLst>
              <a:gd name="adj" fmla="val 4971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1194115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1271107" y="7467630"/>
            <a:ext cx="46634" cy="228600"/>
          </a:xfrm>
          <a:prstGeom prst="roundRect">
            <a:avLst>
              <a:gd name="adj" fmla="val 4971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348283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425275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1502359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1579352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1656436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1733428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1810421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1887504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1964497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2041581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2118573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2195657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2272650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2349734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2426726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2503810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2580803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2657795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2734879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2811871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2888955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2965948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3043032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3120024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3197108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3274101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3351093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3428177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99" y="0"/>
            <a:ext cx="7022501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26517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候选对比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889"/>
            <a:ext cx="2651760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头部方案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12984480" y="1324828"/>
            <a:ext cx="1005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257676"/>
            <a:ext cx="10094976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6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款候选工具，核心聚焦 6 款与 OpenClaw 和 Agent 场景直接相关的项目。</a:t>
            </a:r>
            <a:endParaRPr lang="en-US" sz="1860" dirty="0"/>
          </a:p>
        </p:txBody>
      </p:sp>
      <p:sp>
        <p:nvSpPr>
          <p:cNvPr id="11" name="Shape 8"/>
          <p:cNvSpPr/>
          <p:nvPr/>
        </p:nvSpPr>
        <p:spPr>
          <a:xfrm>
            <a:off x="731520" y="2731770"/>
            <a:ext cx="198150" cy="1527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6290" y="2754630"/>
            <a:ext cx="377217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spc="47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数据集规模领先（150 题 vs 60~102）</a:t>
            </a:r>
            <a:endParaRPr lang="en-US" sz="1260" dirty="0"/>
          </a:p>
        </p:txBody>
      </p:sp>
      <p:sp>
        <p:nvSpPr>
          <p:cNvPr id="13" name="Shape 10"/>
          <p:cNvSpPr/>
          <p:nvPr/>
        </p:nvSpPr>
        <p:spPr>
          <a:xfrm>
            <a:off x="731520" y="3581430"/>
            <a:ext cx="13167360" cy="350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3908734"/>
            <a:ext cx="13167360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9670" y="3604290"/>
            <a:ext cx="4257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4604370" y="3604290"/>
            <a:ext cx="4257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8702231" y="3604290"/>
            <a:ext cx="60270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任务数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9533534" y="3604290"/>
            <a:ext cx="60270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10828965" y="3604290"/>
            <a:ext cx="4257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</a:t>
            </a:r>
            <a:endParaRPr lang="en-US" sz="114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931920"/>
            <a:ext cx="13167360" cy="52696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88720" y="4050609"/>
            <a:ext cx="1715140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PawBench ★</a:t>
            </a:r>
            <a:endParaRPr lang="en-US" sz="2040" dirty="0"/>
          </a:p>
        </p:txBody>
      </p:sp>
      <p:sp>
        <p:nvSpPr>
          <p:cNvPr id="22" name="Text 18"/>
          <p:cNvSpPr/>
          <p:nvPr/>
        </p:nvSpPr>
        <p:spPr>
          <a:xfrm>
            <a:off x="4650090" y="4058290"/>
            <a:ext cx="118872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三维交叉评测</a:t>
            </a:r>
            <a:endParaRPr lang="en-US" sz="1440" dirty="0"/>
          </a:p>
        </p:txBody>
      </p:sp>
      <p:sp>
        <p:nvSpPr>
          <p:cNvPr id="23" name="Text 19"/>
          <p:cNvSpPr/>
          <p:nvPr/>
        </p:nvSpPr>
        <p:spPr>
          <a:xfrm>
            <a:off x="8509772" y="4008730"/>
            <a:ext cx="665683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280" dirty="0"/>
          </a:p>
        </p:txBody>
      </p:sp>
      <p:sp>
        <p:nvSpPr>
          <p:cNvPr id="24" name="Text 20"/>
          <p:cNvSpPr/>
          <p:nvPr/>
        </p:nvSpPr>
        <p:spPr>
          <a:xfrm>
            <a:off x="9109253" y="4153479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9708825" y="4024000"/>
            <a:ext cx="76197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阿里通义</a:t>
            </a:r>
            <a:endParaRPr lang="en-US" sz="1320" dirty="0"/>
          </a:p>
        </p:txBody>
      </p:sp>
      <p:sp>
        <p:nvSpPr>
          <p:cNvPr id="26" name="Text 22"/>
          <p:cNvSpPr/>
          <p:nvPr/>
        </p:nvSpPr>
        <p:spPr>
          <a:xfrm>
            <a:off x="10889955" y="4046860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</a:t>
            </a:r>
            <a:endParaRPr lang="en-US" sz="1020" dirty="0"/>
          </a:p>
        </p:txBody>
      </p:sp>
      <p:sp>
        <p:nvSpPr>
          <p:cNvPr id="27" name="Text 23"/>
          <p:cNvSpPr/>
          <p:nvPr/>
        </p:nvSpPr>
        <p:spPr>
          <a:xfrm>
            <a:off x="10889955" y="4237330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020" dirty="0"/>
          </a:p>
        </p:txBody>
      </p:sp>
      <p:sp>
        <p:nvSpPr>
          <p:cNvPr id="28" name="Text 24"/>
          <p:cNvSpPr/>
          <p:nvPr/>
        </p:nvSpPr>
        <p:spPr>
          <a:xfrm>
            <a:off x="10889955" y="4427799"/>
            <a:ext cx="23408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</a:t>
            </a:r>
            <a:endParaRPr lang="en-US" sz="1020" dirty="0"/>
          </a:p>
        </p:txBody>
      </p:sp>
      <p:sp>
        <p:nvSpPr>
          <p:cNvPr id="29" name="Text 25"/>
          <p:cNvSpPr/>
          <p:nvPr/>
        </p:nvSpPr>
        <p:spPr>
          <a:xfrm>
            <a:off x="11164275" y="4024000"/>
            <a:ext cx="71030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020" dirty="0"/>
          </a:p>
        </p:txBody>
      </p:sp>
      <p:sp>
        <p:nvSpPr>
          <p:cNvPr id="30" name="Text 26"/>
          <p:cNvSpPr/>
          <p:nvPr/>
        </p:nvSpPr>
        <p:spPr>
          <a:xfrm>
            <a:off x="11164275" y="4214470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</a:t>
            </a:r>
            <a:endParaRPr lang="en-US" sz="1020" dirty="0"/>
          </a:p>
        </p:txBody>
      </p:sp>
      <p:sp>
        <p:nvSpPr>
          <p:cNvPr id="31" name="Text 27"/>
          <p:cNvSpPr/>
          <p:nvPr/>
        </p:nvSpPr>
        <p:spPr>
          <a:xfrm>
            <a:off x="11438595" y="4024000"/>
            <a:ext cx="56034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</a:t>
            </a:r>
            <a:endParaRPr lang="en-US" sz="1020" dirty="0"/>
          </a:p>
        </p:txBody>
      </p:sp>
      <p:sp>
        <p:nvSpPr>
          <p:cNvPr id="32" name="Text 28"/>
          <p:cNvSpPr/>
          <p:nvPr/>
        </p:nvSpPr>
        <p:spPr>
          <a:xfrm>
            <a:off x="11438595" y="4191610"/>
            <a:ext cx="34678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02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58889"/>
            <a:ext cx="13167360" cy="5270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143000" y="4554718"/>
            <a:ext cx="2032102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WildClawBench</a:t>
            </a:r>
            <a:endParaRPr lang="en-US" sz="2040" dirty="0"/>
          </a:p>
        </p:txBody>
      </p:sp>
      <p:sp>
        <p:nvSpPr>
          <p:cNvPr id="35" name="Text 30"/>
          <p:cNvSpPr/>
          <p:nvPr/>
        </p:nvSpPr>
        <p:spPr>
          <a:xfrm>
            <a:off x="4604370" y="4585259"/>
            <a:ext cx="82296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野外评测</a:t>
            </a:r>
            <a:endParaRPr lang="en-US" sz="1440" dirty="0"/>
          </a:p>
        </p:txBody>
      </p:sp>
      <p:sp>
        <p:nvSpPr>
          <p:cNvPr id="36" name="Text 31"/>
          <p:cNvSpPr/>
          <p:nvPr/>
        </p:nvSpPr>
        <p:spPr>
          <a:xfrm>
            <a:off x="8649371" y="4535698"/>
            <a:ext cx="48036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280" dirty="0"/>
          </a:p>
        </p:txBody>
      </p:sp>
      <p:sp>
        <p:nvSpPr>
          <p:cNvPr id="37" name="Text 32"/>
          <p:cNvSpPr/>
          <p:nvPr/>
        </p:nvSpPr>
        <p:spPr>
          <a:xfrm>
            <a:off x="9063533" y="4680448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</a:t>
            </a:r>
            <a:endParaRPr lang="en-US" sz="1080" dirty="0"/>
          </a:p>
        </p:txBody>
      </p:sp>
      <p:sp>
        <p:nvSpPr>
          <p:cNvPr id="38" name="Text 33"/>
          <p:cNvSpPr/>
          <p:nvPr/>
        </p:nvSpPr>
        <p:spPr>
          <a:xfrm>
            <a:off x="9663105" y="4550969"/>
            <a:ext cx="99151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上海AI Lab</a:t>
            </a:r>
            <a:endParaRPr lang="en-US" sz="1320" dirty="0"/>
          </a:p>
        </p:txBody>
      </p:sp>
      <p:sp>
        <p:nvSpPr>
          <p:cNvPr id="39" name="Text 34"/>
          <p:cNvSpPr/>
          <p:nvPr/>
        </p:nvSpPr>
        <p:spPr>
          <a:xfrm>
            <a:off x="10844235" y="455096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</a:t>
            </a:r>
            <a:endParaRPr lang="en-US" sz="1020" dirty="0"/>
          </a:p>
        </p:txBody>
      </p:sp>
      <p:sp>
        <p:nvSpPr>
          <p:cNvPr id="40" name="Text 35"/>
          <p:cNvSpPr/>
          <p:nvPr/>
        </p:nvSpPr>
        <p:spPr>
          <a:xfrm>
            <a:off x="10844235" y="4718578"/>
            <a:ext cx="44135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20" dirty="0"/>
          </a:p>
        </p:txBody>
      </p:sp>
      <p:sp>
        <p:nvSpPr>
          <p:cNvPr id="41" name="Text 36"/>
          <p:cNvSpPr/>
          <p:nvPr/>
        </p:nvSpPr>
        <p:spPr>
          <a:xfrm>
            <a:off x="10844235" y="490904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</a:t>
            </a:r>
            <a:endParaRPr lang="en-US" sz="1020" dirty="0"/>
          </a:p>
        </p:txBody>
      </p:sp>
      <p:sp>
        <p:nvSpPr>
          <p:cNvPr id="42" name="Text 37"/>
          <p:cNvSpPr/>
          <p:nvPr/>
        </p:nvSpPr>
        <p:spPr>
          <a:xfrm>
            <a:off x="11118555" y="457382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需联</a:t>
            </a:r>
            <a:endParaRPr lang="en-US" sz="1020" dirty="0"/>
          </a:p>
        </p:txBody>
      </p:sp>
      <p:sp>
        <p:nvSpPr>
          <p:cNvPr id="43" name="Text 38"/>
          <p:cNvSpPr/>
          <p:nvPr/>
        </p:nvSpPr>
        <p:spPr>
          <a:xfrm>
            <a:off x="11118555" y="476429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网素</a:t>
            </a:r>
            <a:endParaRPr lang="en-US" sz="1020" dirty="0"/>
          </a:p>
        </p:txBody>
      </p:sp>
      <p:sp>
        <p:nvSpPr>
          <p:cNvPr id="44" name="Text 39"/>
          <p:cNvSpPr/>
          <p:nvPr/>
        </p:nvSpPr>
        <p:spPr>
          <a:xfrm>
            <a:off x="11118555" y="4954768"/>
            <a:ext cx="23408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</a:t>
            </a:r>
            <a:endParaRPr lang="en-US" sz="1020" dirty="0"/>
          </a:p>
        </p:txBody>
      </p:sp>
      <p:sp>
        <p:nvSpPr>
          <p:cNvPr id="45" name="Text 40"/>
          <p:cNvSpPr/>
          <p:nvPr/>
        </p:nvSpPr>
        <p:spPr>
          <a:xfrm>
            <a:off x="11392875" y="4550969"/>
            <a:ext cx="54886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020" dirty="0"/>
          </a:p>
        </p:txBody>
      </p:sp>
      <p:sp>
        <p:nvSpPr>
          <p:cNvPr id="46" name="Text 41"/>
          <p:cNvSpPr/>
          <p:nvPr/>
        </p:nvSpPr>
        <p:spPr>
          <a:xfrm>
            <a:off x="11392875" y="474143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</a:t>
            </a:r>
            <a:endParaRPr lang="en-US" sz="1020" dirty="0"/>
          </a:p>
        </p:txBody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985949"/>
            <a:ext cx="13167360" cy="526969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1143000" y="5081869"/>
            <a:ext cx="1889608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ClawProBench</a:t>
            </a:r>
            <a:endParaRPr lang="en-US" sz="2040" dirty="0"/>
          </a:p>
        </p:txBody>
      </p:sp>
      <p:sp>
        <p:nvSpPr>
          <p:cNvPr id="49" name="Text 43"/>
          <p:cNvSpPr/>
          <p:nvPr/>
        </p:nvSpPr>
        <p:spPr>
          <a:xfrm>
            <a:off x="4604370" y="5112319"/>
            <a:ext cx="100584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多模型榜单</a:t>
            </a:r>
            <a:endParaRPr lang="en-US" sz="1440" dirty="0"/>
          </a:p>
        </p:txBody>
      </p:sp>
      <p:sp>
        <p:nvSpPr>
          <p:cNvPr id="50" name="Text 44"/>
          <p:cNvSpPr/>
          <p:nvPr/>
        </p:nvSpPr>
        <p:spPr>
          <a:xfrm>
            <a:off x="7934066" y="5062758"/>
            <a:ext cx="1195578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102+68</a:t>
            </a:r>
            <a:endParaRPr lang="en-US" sz="2280" dirty="0"/>
          </a:p>
        </p:txBody>
      </p:sp>
      <p:sp>
        <p:nvSpPr>
          <p:cNvPr id="51" name="Text 45"/>
          <p:cNvSpPr/>
          <p:nvPr/>
        </p:nvSpPr>
        <p:spPr>
          <a:xfrm>
            <a:off x="9063533" y="5207599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</a:t>
            </a:r>
            <a:endParaRPr lang="en-US" sz="1080" dirty="0"/>
          </a:p>
        </p:txBody>
      </p:sp>
      <p:sp>
        <p:nvSpPr>
          <p:cNvPr id="52" name="Text 46"/>
          <p:cNvSpPr/>
          <p:nvPr/>
        </p:nvSpPr>
        <p:spPr>
          <a:xfrm>
            <a:off x="9663105" y="5078029"/>
            <a:ext cx="76197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个人维护</a:t>
            </a:r>
            <a:endParaRPr lang="en-US" sz="1320" dirty="0"/>
          </a:p>
        </p:txBody>
      </p:sp>
      <p:sp>
        <p:nvSpPr>
          <p:cNvPr id="53" name="Text 47"/>
          <p:cNvSpPr/>
          <p:nvPr/>
        </p:nvSpPr>
        <p:spPr>
          <a:xfrm>
            <a:off x="10844235" y="510088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020" dirty="0"/>
          </a:p>
        </p:txBody>
      </p:sp>
      <p:sp>
        <p:nvSpPr>
          <p:cNvPr id="54" name="Text 48"/>
          <p:cNvSpPr/>
          <p:nvPr/>
        </p:nvSpPr>
        <p:spPr>
          <a:xfrm>
            <a:off x="10844235" y="529135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</a:t>
            </a:r>
            <a:endParaRPr lang="en-US" sz="1020" dirty="0"/>
          </a:p>
        </p:txBody>
      </p:sp>
      <p:sp>
        <p:nvSpPr>
          <p:cNvPr id="55" name="Text 49"/>
          <p:cNvSpPr/>
          <p:nvPr/>
        </p:nvSpPr>
        <p:spPr>
          <a:xfrm>
            <a:off x="11118555" y="510088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</a:t>
            </a:r>
            <a:endParaRPr lang="en-US" sz="1020" dirty="0"/>
          </a:p>
        </p:txBody>
      </p:sp>
      <p:sp>
        <p:nvSpPr>
          <p:cNvPr id="56" name="Text 50"/>
          <p:cNvSpPr/>
          <p:nvPr/>
        </p:nvSpPr>
        <p:spPr>
          <a:xfrm>
            <a:off x="11118555" y="529135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</a:t>
            </a:r>
            <a:endParaRPr lang="en-US" sz="1020" dirty="0"/>
          </a:p>
        </p:txBody>
      </p:sp>
      <p:sp>
        <p:nvSpPr>
          <p:cNvPr id="57" name="Text 51"/>
          <p:cNvSpPr/>
          <p:nvPr/>
        </p:nvSpPr>
        <p:spPr>
          <a:xfrm>
            <a:off x="11118555" y="5481919"/>
            <a:ext cx="23408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</a:t>
            </a:r>
            <a:endParaRPr lang="en-US" sz="1020" dirty="0"/>
          </a:p>
        </p:txBody>
      </p:sp>
      <p:sp>
        <p:nvSpPr>
          <p:cNvPr id="58" name="Text 52"/>
          <p:cNvSpPr/>
          <p:nvPr/>
        </p:nvSpPr>
        <p:spPr>
          <a:xfrm>
            <a:off x="11392875" y="510088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1020" dirty="0"/>
          </a:p>
        </p:txBody>
      </p:sp>
      <p:sp>
        <p:nvSpPr>
          <p:cNvPr id="59" name="Text 53"/>
          <p:cNvSpPr/>
          <p:nvPr/>
        </p:nvSpPr>
        <p:spPr>
          <a:xfrm>
            <a:off x="11392875" y="529135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020" dirty="0"/>
          </a:p>
        </p:txBody>
      </p:sp>
      <p:sp>
        <p:nvSpPr>
          <p:cNvPr id="60" name="Text 54"/>
          <p:cNvSpPr/>
          <p:nvPr/>
        </p:nvSpPr>
        <p:spPr>
          <a:xfrm>
            <a:off x="11392875" y="5481919"/>
            <a:ext cx="23408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</a:t>
            </a:r>
            <a:endParaRPr lang="en-US" sz="1020" dirty="0"/>
          </a:p>
        </p:txBody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512918"/>
            <a:ext cx="13167360" cy="527060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1143000" y="5608838"/>
            <a:ext cx="1472093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ClawBench</a:t>
            </a:r>
            <a:endParaRPr lang="en-US" sz="2040" dirty="0"/>
          </a:p>
        </p:txBody>
      </p:sp>
      <p:sp>
        <p:nvSpPr>
          <p:cNvPr id="63" name="Text 56"/>
          <p:cNvSpPr/>
          <p:nvPr/>
        </p:nvSpPr>
        <p:spPr>
          <a:xfrm>
            <a:off x="4604370" y="5639288"/>
            <a:ext cx="1038758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评测</a:t>
            </a:r>
            <a:endParaRPr lang="en-US" sz="1440" dirty="0"/>
          </a:p>
        </p:txBody>
      </p:sp>
      <p:sp>
        <p:nvSpPr>
          <p:cNvPr id="64" name="Text 57"/>
          <p:cNvSpPr/>
          <p:nvPr/>
        </p:nvSpPr>
        <p:spPr>
          <a:xfrm>
            <a:off x="8649371" y="5589727"/>
            <a:ext cx="48036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80" dirty="0"/>
          </a:p>
        </p:txBody>
      </p:sp>
      <p:sp>
        <p:nvSpPr>
          <p:cNvPr id="65" name="Text 58"/>
          <p:cNvSpPr/>
          <p:nvPr/>
        </p:nvSpPr>
        <p:spPr>
          <a:xfrm>
            <a:off x="9063533" y="5734568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</a:t>
            </a:r>
            <a:endParaRPr lang="en-US" sz="1080" dirty="0"/>
          </a:p>
        </p:txBody>
      </p:sp>
      <p:sp>
        <p:nvSpPr>
          <p:cNvPr id="66" name="Text 59"/>
          <p:cNvSpPr/>
          <p:nvPr/>
        </p:nvSpPr>
        <p:spPr>
          <a:xfrm>
            <a:off x="9663105" y="5604998"/>
            <a:ext cx="76197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国际项目</a:t>
            </a:r>
            <a:endParaRPr lang="en-US" sz="1320" dirty="0"/>
          </a:p>
        </p:txBody>
      </p:sp>
      <p:sp>
        <p:nvSpPr>
          <p:cNvPr id="67" name="Text 60"/>
          <p:cNvSpPr/>
          <p:nvPr/>
        </p:nvSpPr>
        <p:spPr>
          <a:xfrm>
            <a:off x="10844235" y="5627858"/>
            <a:ext cx="44135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种</a:t>
            </a:r>
            <a:endParaRPr lang="en-US" sz="1020" dirty="0"/>
          </a:p>
        </p:txBody>
      </p:sp>
      <p:sp>
        <p:nvSpPr>
          <p:cNvPr id="68" name="Text 61"/>
          <p:cNvSpPr/>
          <p:nvPr/>
        </p:nvSpPr>
        <p:spPr>
          <a:xfrm>
            <a:off x="10844235" y="5818327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</a:t>
            </a:r>
            <a:endParaRPr lang="en-US" sz="1020" dirty="0"/>
          </a:p>
        </p:txBody>
      </p:sp>
      <p:sp>
        <p:nvSpPr>
          <p:cNvPr id="69" name="Text 62"/>
          <p:cNvSpPr/>
          <p:nvPr/>
        </p:nvSpPr>
        <p:spPr>
          <a:xfrm>
            <a:off x="10844235" y="600888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</a:t>
            </a:r>
            <a:endParaRPr lang="en-US" sz="1020" dirty="0"/>
          </a:p>
        </p:txBody>
      </p:sp>
      <p:sp>
        <p:nvSpPr>
          <p:cNvPr id="70" name="Text 63"/>
          <p:cNvSpPr/>
          <p:nvPr/>
        </p:nvSpPr>
        <p:spPr>
          <a:xfrm>
            <a:off x="11118555" y="560499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SNR</a:t>
            </a:r>
            <a:endParaRPr lang="en-US" sz="1020" dirty="0"/>
          </a:p>
        </p:txBody>
      </p:sp>
      <p:sp>
        <p:nvSpPr>
          <p:cNvPr id="71" name="Text 64"/>
          <p:cNvSpPr/>
          <p:nvPr/>
        </p:nvSpPr>
        <p:spPr>
          <a:xfrm>
            <a:off x="11118555" y="5795467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020" dirty="0"/>
          </a:p>
        </p:txBody>
      </p:sp>
      <p:sp>
        <p:nvSpPr>
          <p:cNvPr id="72" name="Text 65"/>
          <p:cNvSpPr/>
          <p:nvPr/>
        </p:nvSpPr>
        <p:spPr>
          <a:xfrm>
            <a:off x="11392875" y="562785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</a:t>
            </a:r>
            <a:endParaRPr lang="en-US" sz="1020" dirty="0"/>
          </a:p>
        </p:txBody>
      </p:sp>
      <p:sp>
        <p:nvSpPr>
          <p:cNvPr id="73" name="Text 66"/>
          <p:cNvSpPr/>
          <p:nvPr/>
        </p:nvSpPr>
        <p:spPr>
          <a:xfrm>
            <a:off x="11392875" y="5818327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较小</a:t>
            </a:r>
            <a:endParaRPr lang="en-US" sz="1020" dirty="0"/>
          </a:p>
        </p:txBody>
      </p:sp>
      <p:pic>
        <p:nvPicPr>
          <p:cNvPr id="7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040069"/>
            <a:ext cx="13167360" cy="527060"/>
          </a:xfrm>
          <a:prstGeom prst="rect">
            <a:avLst/>
          </a:prstGeom>
        </p:spPr>
      </p:pic>
      <p:sp>
        <p:nvSpPr>
          <p:cNvPr id="75" name="Text 67"/>
          <p:cNvSpPr/>
          <p:nvPr/>
        </p:nvSpPr>
        <p:spPr>
          <a:xfrm>
            <a:off x="1143000" y="6135898"/>
            <a:ext cx="1296314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DeepEval</a:t>
            </a:r>
            <a:endParaRPr lang="en-US" sz="2040" dirty="0"/>
          </a:p>
        </p:txBody>
      </p:sp>
      <p:sp>
        <p:nvSpPr>
          <p:cNvPr id="76" name="Text 68"/>
          <p:cNvSpPr/>
          <p:nvPr/>
        </p:nvSpPr>
        <p:spPr>
          <a:xfrm>
            <a:off x="4604370" y="6166348"/>
            <a:ext cx="82296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评测框架</a:t>
            </a:r>
            <a:endParaRPr lang="en-US" sz="1440" dirty="0"/>
          </a:p>
        </p:txBody>
      </p:sp>
      <p:sp>
        <p:nvSpPr>
          <p:cNvPr id="77" name="Text 69"/>
          <p:cNvSpPr/>
          <p:nvPr/>
        </p:nvSpPr>
        <p:spPr>
          <a:xfrm>
            <a:off x="8306775" y="6145682"/>
            <a:ext cx="96012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需自建</a:t>
            </a:r>
            <a:endParaRPr lang="en-US" sz="2280" dirty="0"/>
          </a:p>
        </p:txBody>
      </p:sp>
      <p:sp>
        <p:nvSpPr>
          <p:cNvPr id="78" name="Text 70"/>
          <p:cNvSpPr/>
          <p:nvPr/>
        </p:nvSpPr>
        <p:spPr>
          <a:xfrm>
            <a:off x="9663105" y="6132058"/>
            <a:ext cx="27066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1320" dirty="0"/>
          </a:p>
        </p:txBody>
      </p:sp>
      <p:sp>
        <p:nvSpPr>
          <p:cNvPr id="79" name="Text 71"/>
          <p:cNvSpPr/>
          <p:nvPr/>
        </p:nvSpPr>
        <p:spPr>
          <a:xfrm>
            <a:off x="10844235" y="6132058"/>
            <a:ext cx="34678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020" dirty="0"/>
          </a:p>
        </p:txBody>
      </p:sp>
      <p:sp>
        <p:nvSpPr>
          <p:cNvPr id="80" name="Text 72"/>
          <p:cNvSpPr/>
          <p:nvPr/>
        </p:nvSpPr>
        <p:spPr>
          <a:xfrm>
            <a:off x="10844235" y="632261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</a:t>
            </a:r>
            <a:endParaRPr lang="en-US" sz="1020" dirty="0"/>
          </a:p>
        </p:txBody>
      </p:sp>
      <p:sp>
        <p:nvSpPr>
          <p:cNvPr id="81" name="Text 73"/>
          <p:cNvSpPr/>
          <p:nvPr/>
        </p:nvSpPr>
        <p:spPr>
          <a:xfrm>
            <a:off x="10844235" y="651308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020" dirty="0"/>
          </a:p>
        </p:txBody>
      </p:sp>
      <p:sp>
        <p:nvSpPr>
          <p:cNvPr id="82" name="Text 74"/>
          <p:cNvSpPr/>
          <p:nvPr/>
        </p:nvSpPr>
        <p:spPr>
          <a:xfrm>
            <a:off x="11118555" y="6132058"/>
            <a:ext cx="54886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20" dirty="0"/>
          </a:p>
        </p:txBody>
      </p:sp>
      <p:sp>
        <p:nvSpPr>
          <p:cNvPr id="83" name="Text 75"/>
          <p:cNvSpPr/>
          <p:nvPr/>
        </p:nvSpPr>
        <p:spPr>
          <a:xfrm>
            <a:off x="11118555" y="632261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</a:t>
            </a:r>
            <a:endParaRPr lang="en-US" sz="1020" dirty="0"/>
          </a:p>
        </p:txBody>
      </p:sp>
      <p:sp>
        <p:nvSpPr>
          <p:cNvPr id="84" name="Text 76"/>
          <p:cNvSpPr/>
          <p:nvPr/>
        </p:nvSpPr>
        <p:spPr>
          <a:xfrm>
            <a:off x="11392875" y="6132058"/>
            <a:ext cx="51259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020" dirty="0"/>
          </a:p>
        </p:txBody>
      </p:sp>
      <p:sp>
        <p:nvSpPr>
          <p:cNvPr id="85" name="Text 77"/>
          <p:cNvSpPr/>
          <p:nvPr/>
        </p:nvSpPr>
        <p:spPr>
          <a:xfrm>
            <a:off x="11392875" y="632261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友好</a:t>
            </a:r>
            <a:endParaRPr lang="en-US" sz="1020" dirty="0"/>
          </a:p>
        </p:txBody>
      </p:sp>
      <p:sp>
        <p:nvSpPr>
          <p:cNvPr id="86" name="Shape 78"/>
          <p:cNvSpPr/>
          <p:nvPr/>
        </p:nvSpPr>
        <p:spPr>
          <a:xfrm>
            <a:off x="929670" y="6781099"/>
            <a:ext cx="91440" cy="91440"/>
          </a:xfrm>
          <a:prstGeom prst="roundRect">
            <a:avLst>
              <a:gd name="adj" fmla="val 38035"/>
            </a:avLst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79"/>
          <p:cNvSpPr/>
          <p:nvPr/>
        </p:nvSpPr>
        <p:spPr>
          <a:xfrm>
            <a:off x="1143000" y="6662958"/>
            <a:ext cx="1424727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2040" dirty="0"/>
          </a:p>
        </p:txBody>
      </p:sp>
      <p:sp>
        <p:nvSpPr>
          <p:cNvPr id="88" name="Text 80"/>
          <p:cNvSpPr/>
          <p:nvPr/>
        </p:nvSpPr>
        <p:spPr>
          <a:xfrm>
            <a:off x="4604370" y="6693499"/>
            <a:ext cx="870509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评测</a:t>
            </a:r>
            <a:endParaRPr lang="en-US" sz="1440" dirty="0"/>
          </a:p>
        </p:txBody>
      </p:sp>
      <p:sp>
        <p:nvSpPr>
          <p:cNvPr id="89" name="Text 81"/>
          <p:cNvSpPr/>
          <p:nvPr/>
        </p:nvSpPr>
        <p:spPr>
          <a:xfrm>
            <a:off x="8306775" y="6672834"/>
            <a:ext cx="96012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需自建</a:t>
            </a:r>
            <a:endParaRPr lang="en-US" sz="2280" dirty="0"/>
          </a:p>
        </p:txBody>
      </p:sp>
      <p:sp>
        <p:nvSpPr>
          <p:cNvPr id="90" name="Shape 82"/>
          <p:cNvSpPr/>
          <p:nvPr/>
        </p:nvSpPr>
        <p:spPr>
          <a:xfrm>
            <a:off x="9533534" y="6659209"/>
            <a:ext cx="426750" cy="335310"/>
          </a:xfrm>
          <a:prstGeom prst="roundRect">
            <a:avLst>
              <a:gd name="adj" fmla="val 165955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91" name="Text 83"/>
          <p:cNvSpPr/>
          <p:nvPr/>
        </p:nvSpPr>
        <p:spPr>
          <a:xfrm>
            <a:off x="9663105" y="6659209"/>
            <a:ext cx="27066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1320" dirty="0"/>
          </a:p>
        </p:txBody>
      </p:sp>
      <p:sp>
        <p:nvSpPr>
          <p:cNvPr id="92" name="Shape 84"/>
          <p:cNvSpPr/>
          <p:nvPr/>
        </p:nvSpPr>
        <p:spPr>
          <a:xfrm>
            <a:off x="10828965" y="6643939"/>
            <a:ext cx="365760" cy="365760"/>
          </a:xfrm>
          <a:prstGeom prst="ellipse">
            <a:avLst/>
          </a:prstGeom>
          <a:solidFill>
            <a:srgbClr val="86D62B"/>
          </a:solidFill>
          <a:ln w="19050">
            <a:solidFill>
              <a:srgbClr val="FAFAF6"/>
            </a:solidFill>
            <a:prstDash val="solid"/>
          </a:ln>
          <a:effectLst>
            <a:outerShdw sx="100000" sy="100000" kx="0" ky="0" algn="bl" rotWithShape="0" blurRad="76200" dist="12700" dir="16200000">
              <a:srgbClr val="0E110B">
                <a:alpha val="16000"/>
              </a:srgbClr>
            </a:outerShdw>
          </a:effectLst>
        </p:spPr>
      </p:sp>
      <p:sp>
        <p:nvSpPr>
          <p:cNvPr id="93" name="Text 85"/>
          <p:cNvSpPr/>
          <p:nvPr/>
        </p:nvSpPr>
        <p:spPr>
          <a:xfrm>
            <a:off x="10844235" y="6659209"/>
            <a:ext cx="44135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020" dirty="0"/>
          </a:p>
        </p:txBody>
      </p:sp>
      <p:sp>
        <p:nvSpPr>
          <p:cNvPr id="94" name="Text 86"/>
          <p:cNvSpPr/>
          <p:nvPr/>
        </p:nvSpPr>
        <p:spPr>
          <a:xfrm>
            <a:off x="10844235" y="684967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1020" dirty="0"/>
          </a:p>
        </p:txBody>
      </p:sp>
      <p:sp>
        <p:nvSpPr>
          <p:cNvPr id="95" name="Shape 87"/>
          <p:cNvSpPr/>
          <p:nvPr/>
        </p:nvSpPr>
        <p:spPr>
          <a:xfrm>
            <a:off x="11103285" y="6643939"/>
            <a:ext cx="365760" cy="365760"/>
          </a:xfrm>
          <a:prstGeom prst="ellipse">
            <a:avLst/>
          </a:prstGeom>
          <a:solidFill>
            <a:srgbClr val="E9FBC6"/>
          </a:solidFill>
          <a:ln w="19050">
            <a:solidFill>
              <a:srgbClr val="FAFAF6"/>
            </a:solidFill>
            <a:prstDash val="solid"/>
          </a:ln>
          <a:effectLst>
            <a:outerShdw sx="100000" sy="100000" kx="0" ky="0" algn="bl" rotWithShape="0" blurRad="76200" dist="12700" dir="16200000">
              <a:srgbClr val="0E110B">
                <a:alpha val="16000"/>
              </a:srgbClr>
            </a:outerShdw>
          </a:effectLst>
        </p:spPr>
      </p:sp>
      <p:sp>
        <p:nvSpPr>
          <p:cNvPr id="96" name="Text 88"/>
          <p:cNvSpPr/>
          <p:nvPr/>
        </p:nvSpPr>
        <p:spPr>
          <a:xfrm>
            <a:off x="11118555" y="665920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020" dirty="0"/>
          </a:p>
        </p:txBody>
      </p:sp>
      <p:sp>
        <p:nvSpPr>
          <p:cNvPr id="97" name="Text 89"/>
          <p:cNvSpPr/>
          <p:nvPr/>
        </p:nvSpPr>
        <p:spPr>
          <a:xfrm>
            <a:off x="11118555" y="684967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en-US" sz="1020" dirty="0"/>
          </a:p>
        </p:txBody>
      </p:sp>
      <p:sp>
        <p:nvSpPr>
          <p:cNvPr id="98" name="Shape 90"/>
          <p:cNvSpPr/>
          <p:nvPr/>
        </p:nvSpPr>
        <p:spPr>
          <a:xfrm>
            <a:off x="11377605" y="6643939"/>
            <a:ext cx="365760" cy="365760"/>
          </a:xfrm>
          <a:prstGeom prst="ellipse">
            <a:avLst/>
          </a:prstGeom>
          <a:solidFill>
            <a:srgbClr val="E9FBC6"/>
          </a:solidFill>
          <a:ln w="19050">
            <a:solidFill>
              <a:srgbClr val="FAFAF6"/>
            </a:solidFill>
            <a:prstDash val="solid"/>
          </a:ln>
          <a:effectLst>
            <a:outerShdw sx="100000" sy="100000" kx="0" ky="0" algn="bl" rotWithShape="0" blurRad="76200" dist="12700" dir="16200000">
              <a:srgbClr val="0E110B">
                <a:alpha val="16000"/>
              </a:srgbClr>
            </a:outerShdw>
          </a:effectLst>
        </p:spPr>
      </p:sp>
      <p:sp>
        <p:nvSpPr>
          <p:cNvPr id="99" name="Text 91"/>
          <p:cNvSpPr/>
          <p:nvPr/>
        </p:nvSpPr>
        <p:spPr>
          <a:xfrm>
            <a:off x="11392875" y="668206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1020" dirty="0"/>
          </a:p>
        </p:txBody>
      </p:sp>
      <p:sp>
        <p:nvSpPr>
          <p:cNvPr id="100" name="Text 92"/>
          <p:cNvSpPr/>
          <p:nvPr/>
        </p:nvSpPr>
        <p:spPr>
          <a:xfrm>
            <a:off x="11392875" y="684967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1020" dirty="0"/>
          </a:p>
        </p:txBody>
      </p:sp>
      <p:sp>
        <p:nvSpPr>
          <p:cNvPr id="101" name="Shape 93"/>
          <p:cNvSpPr/>
          <p:nvPr/>
        </p:nvSpPr>
        <p:spPr>
          <a:xfrm>
            <a:off x="11612880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4"/>
          <p:cNvSpPr/>
          <p:nvPr/>
        </p:nvSpPr>
        <p:spPr>
          <a:xfrm>
            <a:off x="11677162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5"/>
          <p:cNvSpPr/>
          <p:nvPr/>
        </p:nvSpPr>
        <p:spPr>
          <a:xfrm>
            <a:off x="11741628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6"/>
          <p:cNvSpPr/>
          <p:nvPr/>
        </p:nvSpPr>
        <p:spPr>
          <a:xfrm>
            <a:off x="11805910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7"/>
          <p:cNvSpPr/>
          <p:nvPr/>
        </p:nvSpPr>
        <p:spPr>
          <a:xfrm>
            <a:off x="11870284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98"/>
          <p:cNvSpPr/>
          <p:nvPr/>
        </p:nvSpPr>
        <p:spPr>
          <a:xfrm>
            <a:off x="11934566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99"/>
          <p:cNvSpPr/>
          <p:nvPr/>
        </p:nvSpPr>
        <p:spPr>
          <a:xfrm>
            <a:off x="11999031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0"/>
          <p:cNvSpPr/>
          <p:nvPr/>
        </p:nvSpPr>
        <p:spPr>
          <a:xfrm>
            <a:off x="12063313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1"/>
          <p:cNvSpPr/>
          <p:nvPr/>
        </p:nvSpPr>
        <p:spPr>
          <a:xfrm>
            <a:off x="12127687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2"/>
          <p:cNvSpPr/>
          <p:nvPr/>
        </p:nvSpPr>
        <p:spPr>
          <a:xfrm>
            <a:off x="12191970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3"/>
          <p:cNvSpPr/>
          <p:nvPr/>
        </p:nvSpPr>
        <p:spPr>
          <a:xfrm>
            <a:off x="12256435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4"/>
          <p:cNvSpPr/>
          <p:nvPr/>
        </p:nvSpPr>
        <p:spPr>
          <a:xfrm>
            <a:off x="12320717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05"/>
          <p:cNvSpPr/>
          <p:nvPr/>
        </p:nvSpPr>
        <p:spPr>
          <a:xfrm>
            <a:off x="12385091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06"/>
          <p:cNvSpPr/>
          <p:nvPr/>
        </p:nvSpPr>
        <p:spPr>
          <a:xfrm>
            <a:off x="12449373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07"/>
          <p:cNvSpPr/>
          <p:nvPr/>
        </p:nvSpPr>
        <p:spPr>
          <a:xfrm>
            <a:off x="12513838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08"/>
          <p:cNvSpPr/>
          <p:nvPr/>
        </p:nvSpPr>
        <p:spPr>
          <a:xfrm>
            <a:off x="12578121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09"/>
          <p:cNvSpPr/>
          <p:nvPr/>
        </p:nvSpPr>
        <p:spPr>
          <a:xfrm>
            <a:off x="12642494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0"/>
          <p:cNvSpPr/>
          <p:nvPr/>
        </p:nvSpPr>
        <p:spPr>
          <a:xfrm>
            <a:off x="12706868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1"/>
          <p:cNvSpPr/>
          <p:nvPr/>
        </p:nvSpPr>
        <p:spPr>
          <a:xfrm>
            <a:off x="12771242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2"/>
          <p:cNvSpPr/>
          <p:nvPr/>
        </p:nvSpPr>
        <p:spPr>
          <a:xfrm>
            <a:off x="12835524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3"/>
          <p:cNvSpPr/>
          <p:nvPr/>
        </p:nvSpPr>
        <p:spPr>
          <a:xfrm>
            <a:off x="12899989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4"/>
          <p:cNvSpPr/>
          <p:nvPr/>
        </p:nvSpPr>
        <p:spPr>
          <a:xfrm>
            <a:off x="12964272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15"/>
          <p:cNvSpPr/>
          <p:nvPr/>
        </p:nvSpPr>
        <p:spPr>
          <a:xfrm>
            <a:off x="13028646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6"/>
          <p:cNvSpPr/>
          <p:nvPr/>
        </p:nvSpPr>
        <p:spPr>
          <a:xfrm>
            <a:off x="13092928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17"/>
          <p:cNvSpPr/>
          <p:nvPr/>
        </p:nvSpPr>
        <p:spPr>
          <a:xfrm>
            <a:off x="13157393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18"/>
          <p:cNvSpPr/>
          <p:nvPr/>
        </p:nvSpPr>
        <p:spPr>
          <a:xfrm>
            <a:off x="13221675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19"/>
          <p:cNvSpPr/>
          <p:nvPr/>
        </p:nvSpPr>
        <p:spPr>
          <a:xfrm>
            <a:off x="13286049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0"/>
          <p:cNvSpPr/>
          <p:nvPr/>
        </p:nvSpPr>
        <p:spPr>
          <a:xfrm>
            <a:off x="13350331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1"/>
          <p:cNvSpPr/>
          <p:nvPr/>
        </p:nvSpPr>
        <p:spPr>
          <a:xfrm>
            <a:off x="13414797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2"/>
          <p:cNvSpPr/>
          <p:nvPr/>
        </p:nvSpPr>
        <p:spPr>
          <a:xfrm>
            <a:off x="13479079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3"/>
          <p:cNvSpPr/>
          <p:nvPr/>
        </p:nvSpPr>
        <p:spPr>
          <a:xfrm>
            <a:off x="13543453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4"/>
          <p:cNvSpPr/>
          <p:nvPr/>
        </p:nvSpPr>
        <p:spPr>
          <a:xfrm>
            <a:off x="13607735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5"/>
          <p:cNvSpPr/>
          <p:nvPr/>
        </p:nvSpPr>
        <p:spPr>
          <a:xfrm>
            <a:off x="13672200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26"/>
          <p:cNvSpPr/>
          <p:nvPr/>
        </p:nvSpPr>
        <p:spPr>
          <a:xfrm>
            <a:off x="13736483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27"/>
          <p:cNvSpPr/>
          <p:nvPr/>
        </p:nvSpPr>
        <p:spPr>
          <a:xfrm>
            <a:off x="13800765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28"/>
          <p:cNvSpPr/>
          <p:nvPr/>
        </p:nvSpPr>
        <p:spPr>
          <a:xfrm>
            <a:off x="13865047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16" y="0"/>
            <a:ext cx="6729984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582381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评分矩阵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923406"/>
            <a:ext cx="393192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综合评分排名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4739610" y="1348740"/>
            <a:ext cx="419252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2040" spc="51" kern="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2040" dirty="0"/>
          </a:p>
        </p:txBody>
      </p:sp>
      <p:sp>
        <p:nvSpPr>
          <p:cNvPr id="10" name="Text 7"/>
          <p:cNvSpPr/>
          <p:nvPr/>
        </p:nvSpPr>
        <p:spPr>
          <a:xfrm>
            <a:off x="5067422" y="1350980"/>
            <a:ext cx="1540497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2040" spc="51" kern="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关键指标</a:t>
            </a:r>
            <a:endParaRPr lang="en-US" sz="2040" dirty="0"/>
          </a:p>
        </p:txBody>
      </p:sp>
      <p:sp>
        <p:nvSpPr>
          <p:cNvPr id="11" name="Text 8"/>
          <p:cNvSpPr/>
          <p:nvPr/>
        </p:nvSpPr>
        <p:spPr>
          <a:xfrm>
            <a:off x="11305367" y="1324828"/>
            <a:ext cx="268495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六维加权评分（满分 10）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2219523"/>
            <a:ext cx="11119195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以 9.55 分大幅领先，数据集维度满分 10 分为核心差异点。第二名 OpenJudge 7.90 分差达</a:t>
            </a:r>
            <a:endParaRPr lang="en-US" sz="1920" dirty="0"/>
          </a:p>
        </p:txBody>
      </p:sp>
      <p:sp>
        <p:nvSpPr>
          <p:cNvPr id="13" name="Text 10"/>
          <p:cNvSpPr/>
          <p:nvPr/>
        </p:nvSpPr>
        <p:spPr>
          <a:xfrm>
            <a:off x="731520" y="2585283"/>
            <a:ext cx="1258214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1.65 分。</a:t>
            </a:r>
            <a:endParaRPr lang="en-US" sz="1920" dirty="0"/>
          </a:p>
        </p:txBody>
      </p:sp>
      <p:sp>
        <p:nvSpPr>
          <p:cNvPr id="14" name="Text 11"/>
          <p:cNvSpPr/>
          <p:nvPr/>
        </p:nvSpPr>
        <p:spPr>
          <a:xfrm>
            <a:off x="699425" y="3717173"/>
            <a:ext cx="2368296" cy="119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4"/>
              </a:lnSpc>
              <a:buNone/>
            </a:pPr>
            <a:r>
              <a:rPr lang="en-US" sz="72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9.55</a:t>
            </a: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731520" y="4659600"/>
            <a:ext cx="138339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总分</a:t>
            </a:r>
            <a:endParaRPr lang="en-US" sz="1380" dirty="0"/>
          </a:p>
        </p:txBody>
      </p:sp>
      <p:sp>
        <p:nvSpPr>
          <p:cNvPr id="16" name="Shape 13"/>
          <p:cNvSpPr/>
          <p:nvPr/>
        </p:nvSpPr>
        <p:spPr>
          <a:xfrm>
            <a:off x="731520" y="5193060"/>
            <a:ext cx="4668926" cy="133648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5193060"/>
            <a:ext cx="4668926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9425" y="5327980"/>
            <a:ext cx="2368296" cy="119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4"/>
              </a:lnSpc>
              <a:buNone/>
            </a:pPr>
            <a:r>
              <a:rPr lang="en-US" sz="72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</a:t>
            </a:r>
            <a:endParaRPr lang="en-US" sz="7200" dirty="0"/>
          </a:p>
        </p:txBody>
      </p:sp>
      <p:sp>
        <p:nvSpPr>
          <p:cNvPr id="19" name="Text 16"/>
          <p:cNvSpPr/>
          <p:nvPr/>
        </p:nvSpPr>
        <p:spPr>
          <a:xfrm>
            <a:off x="2821747" y="5880872"/>
            <a:ext cx="32918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31520" y="6270407"/>
            <a:ext cx="96771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领先第二名</a:t>
            </a:r>
            <a:endParaRPr lang="en-US" sz="1380" dirty="0"/>
          </a:p>
        </p:txBody>
      </p:sp>
      <p:sp>
        <p:nvSpPr>
          <p:cNvPr id="21" name="Text 18"/>
          <p:cNvSpPr/>
          <p:nvPr/>
        </p:nvSpPr>
        <p:spPr>
          <a:xfrm>
            <a:off x="5949086" y="3291840"/>
            <a:ext cx="804123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20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评分分布</a:t>
            </a:r>
            <a:endParaRPr lang="en-US" sz="114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086" y="3672870"/>
            <a:ext cx="2298527" cy="8839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25931" y="3790920"/>
            <a:ext cx="862584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9.55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6783751" y="379092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6131966" y="4187220"/>
            <a:ext cx="8363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8278063" y="3672870"/>
            <a:ext cx="1964680" cy="883950"/>
          </a:xfrm>
          <a:prstGeom prst="rect">
            <a:avLst/>
          </a:prstGeom>
          <a:solidFill>
            <a:srgbClr val="B6E68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54908" y="3790920"/>
            <a:ext cx="66751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8923812" y="379092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8460943" y="4187220"/>
            <a:ext cx="907725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OpenJudge</a:t>
            </a:r>
            <a:endParaRPr lang="en-US" sz="1140" dirty="0"/>
          </a:p>
        </p:txBody>
      </p:sp>
      <p:sp>
        <p:nvSpPr>
          <p:cNvPr id="30" name="Shape 26"/>
          <p:cNvSpPr/>
          <p:nvPr/>
        </p:nvSpPr>
        <p:spPr>
          <a:xfrm>
            <a:off x="10273193" y="3672870"/>
            <a:ext cx="1924080" cy="883950"/>
          </a:xfrm>
          <a:prstGeom prst="rect">
            <a:avLst/>
          </a:prstGeom>
          <a:solidFill>
            <a:srgbClr val="D1EFA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450038" y="3790920"/>
            <a:ext cx="66751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</a:t>
            </a:r>
            <a:endParaRPr lang="en-US" sz="2400" dirty="0"/>
          </a:p>
        </p:txBody>
      </p:sp>
      <p:sp>
        <p:nvSpPr>
          <p:cNvPr id="32" name="Text 28"/>
          <p:cNvSpPr/>
          <p:nvPr/>
        </p:nvSpPr>
        <p:spPr>
          <a:xfrm>
            <a:off x="10918942" y="379092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400" dirty="0"/>
          </a:p>
        </p:txBody>
      </p:sp>
      <p:sp>
        <p:nvSpPr>
          <p:cNvPr id="33" name="Text 29"/>
          <p:cNvSpPr/>
          <p:nvPr/>
        </p:nvSpPr>
        <p:spPr>
          <a:xfrm>
            <a:off x="10456073" y="4187220"/>
            <a:ext cx="1202436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WildClawBench</a:t>
            </a:r>
            <a:endParaRPr lang="en-US" sz="114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2227723" y="3672870"/>
            <a:ext cx="1671157" cy="88395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2404568" y="3790920"/>
            <a:ext cx="862584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6.45</a:t>
            </a:r>
            <a:endParaRPr lang="en-US" sz="2400" dirty="0"/>
          </a:p>
        </p:txBody>
      </p:sp>
      <p:sp>
        <p:nvSpPr>
          <p:cNvPr id="36" name="Text 31"/>
          <p:cNvSpPr/>
          <p:nvPr/>
        </p:nvSpPr>
        <p:spPr>
          <a:xfrm>
            <a:off x="13062387" y="379092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400" dirty="0"/>
          </a:p>
        </p:txBody>
      </p:sp>
      <p:sp>
        <p:nvSpPr>
          <p:cNvPr id="37" name="Text 32"/>
          <p:cNvSpPr/>
          <p:nvPr/>
        </p:nvSpPr>
        <p:spPr>
          <a:xfrm>
            <a:off x="12410603" y="4187220"/>
            <a:ext cx="77282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DeepEval</a:t>
            </a:r>
            <a:endParaRPr lang="en-US" sz="114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864" y="3540648"/>
            <a:ext cx="4423593" cy="468895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413876" y="4983480"/>
            <a:ext cx="1149949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</a:t>
            </a:r>
            <a:endParaRPr lang="en-US" sz="1620" dirty="0"/>
          </a:p>
        </p:txBody>
      </p:sp>
      <p:sp>
        <p:nvSpPr>
          <p:cNvPr id="40" name="Text 34"/>
          <p:cNvSpPr/>
          <p:nvPr/>
        </p:nvSpPr>
        <p:spPr>
          <a:xfrm>
            <a:off x="6413876" y="5274259"/>
            <a:ext cx="317259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780" dirty="0"/>
          </a:p>
        </p:txBody>
      </p:sp>
      <p:sp>
        <p:nvSpPr>
          <p:cNvPr id="41" name="Text 35"/>
          <p:cNvSpPr/>
          <p:nvPr/>
        </p:nvSpPr>
        <p:spPr>
          <a:xfrm>
            <a:off x="6155924" y="5641895"/>
            <a:ext cx="1201369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9.55</a:t>
            </a:r>
            <a:endParaRPr lang="en-US" sz="3480" dirty="0"/>
          </a:p>
        </p:txBody>
      </p:sp>
      <p:sp>
        <p:nvSpPr>
          <p:cNvPr id="42" name="Text 36"/>
          <p:cNvSpPr/>
          <p:nvPr/>
        </p:nvSpPr>
        <p:spPr>
          <a:xfrm>
            <a:off x="7109734" y="5641895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480" dirty="0"/>
          </a:p>
        </p:txBody>
      </p:sp>
      <p:sp>
        <p:nvSpPr>
          <p:cNvPr id="43" name="Text 37"/>
          <p:cNvSpPr/>
          <p:nvPr/>
        </p:nvSpPr>
        <p:spPr>
          <a:xfrm>
            <a:off x="6170097" y="6400800"/>
            <a:ext cx="14630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数据集满分·国产化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6170097" y="6614130"/>
            <a:ext cx="40233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满分</a:t>
            </a:r>
            <a:endParaRPr lang="en-US" sz="12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574" y="4861590"/>
            <a:ext cx="1873240" cy="222501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8439363" y="5029200"/>
            <a:ext cx="125144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OpenJudge</a:t>
            </a:r>
            <a:endParaRPr lang="en-US" sz="1620" dirty="0"/>
          </a:p>
        </p:txBody>
      </p:sp>
      <p:sp>
        <p:nvSpPr>
          <p:cNvPr id="47" name="Text 40"/>
          <p:cNvSpPr/>
          <p:nvPr/>
        </p:nvSpPr>
        <p:spPr>
          <a:xfrm>
            <a:off x="8439363" y="5319979"/>
            <a:ext cx="317259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</a:t>
            </a:r>
            <a:endParaRPr lang="en-US" sz="780" dirty="0"/>
          </a:p>
        </p:txBody>
      </p:sp>
      <p:sp>
        <p:nvSpPr>
          <p:cNvPr id="48" name="Text 41"/>
          <p:cNvSpPr/>
          <p:nvPr/>
        </p:nvSpPr>
        <p:spPr>
          <a:xfrm>
            <a:off x="8181411" y="5687615"/>
            <a:ext cx="918515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</a:t>
            </a:r>
            <a:endParaRPr lang="en-US" sz="3480" dirty="0"/>
          </a:p>
        </p:txBody>
      </p:sp>
      <p:sp>
        <p:nvSpPr>
          <p:cNvPr id="49" name="Text 42"/>
          <p:cNvSpPr/>
          <p:nvPr/>
        </p:nvSpPr>
        <p:spPr>
          <a:xfrm>
            <a:off x="8861268" y="5687615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480" dirty="0"/>
          </a:p>
        </p:txBody>
      </p:sp>
      <p:sp>
        <p:nvSpPr>
          <p:cNvPr id="50" name="Text 43"/>
          <p:cNvSpPr/>
          <p:nvPr/>
        </p:nvSpPr>
        <p:spPr>
          <a:xfrm>
            <a:off x="8195584" y="6446520"/>
            <a:ext cx="14630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框架最强·无现成数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8195584" y="6659850"/>
            <a:ext cx="40233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据集</a:t>
            </a:r>
            <a:endParaRPr lang="en-US" sz="120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0153" y="4861590"/>
            <a:ext cx="1873057" cy="222501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10465034" y="5029200"/>
            <a:ext cx="161519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WildClawBench</a:t>
            </a:r>
            <a:endParaRPr lang="en-US" sz="1620" dirty="0"/>
          </a:p>
        </p:txBody>
      </p:sp>
      <p:sp>
        <p:nvSpPr>
          <p:cNvPr id="54" name="Text 46"/>
          <p:cNvSpPr/>
          <p:nvPr/>
        </p:nvSpPr>
        <p:spPr>
          <a:xfrm>
            <a:off x="10465034" y="5319979"/>
            <a:ext cx="317259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</a:t>
            </a:r>
            <a:endParaRPr lang="en-US" sz="780" dirty="0"/>
          </a:p>
        </p:txBody>
      </p:sp>
      <p:sp>
        <p:nvSpPr>
          <p:cNvPr id="55" name="Text 47"/>
          <p:cNvSpPr/>
          <p:nvPr/>
        </p:nvSpPr>
        <p:spPr>
          <a:xfrm>
            <a:off x="10206990" y="5794326"/>
            <a:ext cx="918515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</a:t>
            </a:r>
            <a:endParaRPr lang="en-US" sz="3480" dirty="0"/>
          </a:p>
        </p:txBody>
      </p:sp>
      <p:sp>
        <p:nvSpPr>
          <p:cNvPr id="56" name="Text 48"/>
          <p:cNvSpPr/>
          <p:nvPr/>
        </p:nvSpPr>
        <p:spPr>
          <a:xfrm>
            <a:off x="10886846" y="5794326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480" dirty="0"/>
          </a:p>
        </p:txBody>
      </p:sp>
      <p:sp>
        <p:nvSpPr>
          <p:cNvPr id="57" name="Text 49"/>
          <p:cNvSpPr/>
          <p:nvPr/>
        </p:nvSpPr>
        <p:spPr>
          <a:xfrm>
            <a:off x="10221163" y="6667530"/>
            <a:ext cx="1522567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学术价值高·需联网</a:t>
            </a:r>
            <a:endParaRPr lang="en-US" sz="1200" dirty="0"/>
          </a:p>
        </p:txBody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25640" y="4861590"/>
            <a:ext cx="1873240" cy="2225010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12490521" y="5029200"/>
            <a:ext cx="105201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DeepEval</a:t>
            </a:r>
            <a:endParaRPr lang="en-US" sz="1620" dirty="0"/>
          </a:p>
        </p:txBody>
      </p:sp>
      <p:sp>
        <p:nvSpPr>
          <p:cNvPr id="60" name="Text 51"/>
          <p:cNvSpPr/>
          <p:nvPr/>
        </p:nvSpPr>
        <p:spPr>
          <a:xfrm>
            <a:off x="12490521" y="5319979"/>
            <a:ext cx="317259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</a:t>
            </a:r>
            <a:endParaRPr lang="en-US" sz="780" dirty="0"/>
          </a:p>
        </p:txBody>
      </p:sp>
      <p:sp>
        <p:nvSpPr>
          <p:cNvPr id="61" name="Text 52"/>
          <p:cNvSpPr/>
          <p:nvPr/>
        </p:nvSpPr>
        <p:spPr>
          <a:xfrm>
            <a:off x="12232569" y="5687615"/>
            <a:ext cx="1201369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6.45</a:t>
            </a:r>
            <a:endParaRPr lang="en-US" sz="3480" dirty="0"/>
          </a:p>
        </p:txBody>
      </p:sp>
      <p:sp>
        <p:nvSpPr>
          <p:cNvPr id="62" name="Text 53"/>
          <p:cNvSpPr/>
          <p:nvPr/>
        </p:nvSpPr>
        <p:spPr>
          <a:xfrm>
            <a:off x="13186288" y="5687615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480" dirty="0"/>
          </a:p>
        </p:txBody>
      </p:sp>
      <p:sp>
        <p:nvSpPr>
          <p:cNvPr id="63" name="Text 54"/>
          <p:cNvSpPr/>
          <p:nvPr/>
        </p:nvSpPr>
        <p:spPr>
          <a:xfrm>
            <a:off x="12246651" y="6446520"/>
            <a:ext cx="14630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框架型·需自建数据</a:t>
            </a:r>
            <a:endParaRPr lang="en-US" sz="1200" dirty="0"/>
          </a:p>
        </p:txBody>
      </p:sp>
      <p:sp>
        <p:nvSpPr>
          <p:cNvPr id="64" name="Text 55"/>
          <p:cNvSpPr/>
          <p:nvPr/>
        </p:nvSpPr>
        <p:spPr>
          <a:xfrm>
            <a:off x="12246651" y="6659850"/>
            <a:ext cx="25603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</a:t>
            </a:r>
            <a:endParaRPr lang="en-US" sz="1200" dirty="0"/>
          </a:p>
        </p:txBody>
      </p:sp>
      <p:sp>
        <p:nvSpPr>
          <p:cNvPr id="65" name="Shape 56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944850" y="7444770"/>
            <a:ext cx="345981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唯一在数据集维度获满分</a:t>
            </a:r>
            <a:endParaRPr lang="en-US" sz="1620" dirty="0"/>
          </a:p>
        </p:txBody>
      </p:sp>
      <p:sp>
        <p:nvSpPr>
          <p:cNvPr id="67" name="Shape 58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7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8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2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3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4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5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6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7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8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79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0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1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2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3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4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5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6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7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88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89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0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1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2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3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0"/>
            <a:ext cx="7607717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328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6137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331625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深度解读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93165"/>
            <a:ext cx="331625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4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12527280" y="1295659"/>
            <a:ext cx="14630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三维交叉评测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305020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1540" y="2255550"/>
            <a:ext cx="2722797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89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× HARNESS × TASK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731520" y="2559332"/>
            <a:ext cx="7661483" cy="756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41"/>
              </a:lnSpc>
              <a:buNone/>
            </a:pPr>
            <a:r>
              <a:rPr lang="en-US" sz="6240" b="1" spc="-94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阿里通义实验室</a:t>
            </a:r>
            <a:endParaRPr lang="en-US" sz="6240" dirty="0"/>
          </a:p>
        </p:txBody>
      </p:sp>
      <p:sp>
        <p:nvSpPr>
          <p:cNvPr id="13" name="Text 10"/>
          <p:cNvSpPr/>
          <p:nvPr/>
        </p:nvSpPr>
        <p:spPr>
          <a:xfrm>
            <a:off x="731520" y="3497123"/>
            <a:ext cx="6288420" cy="36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个模型 × 3 个 Harness × 150 道任务 = 4,050 个测试单元。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" y="3840023"/>
            <a:ext cx="6737574" cy="36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间极差 6.4 分堪比一次重大模型版本升级。好 Harness 能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1520" y="4182923"/>
            <a:ext cx="2304288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让模型「以下克上」。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31520" y="4721870"/>
            <a:ext cx="1280160" cy="396210"/>
          </a:xfrm>
          <a:prstGeom prst="roundRect">
            <a:avLst>
              <a:gd name="adj" fmla="val 140447"/>
            </a:avLst>
          </a:prstGeom>
          <a:solidFill>
            <a:srgbClr val="E9FBC6"/>
          </a:solidFill>
          <a:ln w="9525">
            <a:solidFill>
              <a:srgbClr val="CFEF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1540" y="4721870"/>
            <a:ext cx="105156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5FA0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五维标签体系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2103120" y="4721870"/>
            <a:ext cx="960120" cy="396210"/>
          </a:xfrm>
          <a:prstGeom prst="roundRect">
            <a:avLst>
              <a:gd name="adj" fmla="val 140447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63140" y="4721870"/>
            <a:ext cx="73152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切片分析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3154680" y="4721870"/>
            <a:ext cx="1229319" cy="396210"/>
          </a:xfrm>
          <a:prstGeom prst="roundRect">
            <a:avLst>
              <a:gd name="adj" fmla="val 140447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14700" y="4721870"/>
            <a:ext cx="1010641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沙箱</a:t>
            </a:r>
            <a:endParaRPr lang="en-US" sz="1260" dirty="0"/>
          </a:p>
        </p:txBody>
      </p:sp>
      <p:sp>
        <p:nvSpPr>
          <p:cNvPr id="22" name="Shape 19"/>
          <p:cNvSpPr/>
          <p:nvPr/>
        </p:nvSpPr>
        <p:spPr>
          <a:xfrm>
            <a:off x="731520" y="6301770"/>
            <a:ext cx="1661190" cy="876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86D62B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" y="6301770"/>
            <a:ext cx="1661190" cy="23186"/>
          </a:xfrm>
          <a:prstGeom prst="rect">
            <a:avLst/>
          </a:prstGeom>
          <a:solidFill>
            <a:srgbClr val="86D62B"/>
          </a:solidFill>
          <a:ln w="12700">
            <a:solidFill>
              <a:srgbClr val="86D62B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6454110"/>
            <a:ext cx="67053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测试任务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731520" y="6714738"/>
            <a:ext cx="929030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36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3360" dirty="0"/>
          </a:p>
        </p:txBody>
      </p:sp>
      <p:sp>
        <p:nvSpPr>
          <p:cNvPr id="26" name="Text 23"/>
          <p:cNvSpPr/>
          <p:nvPr/>
        </p:nvSpPr>
        <p:spPr>
          <a:xfrm>
            <a:off x="1563441" y="6964710"/>
            <a:ext cx="24871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14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2667030" y="6301770"/>
            <a:ext cx="1661190" cy="876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67030" y="6301770"/>
            <a:ext cx="1661190" cy="23186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67030" y="6454110"/>
            <a:ext cx="67053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构建子集</a:t>
            </a:r>
            <a:endParaRPr lang="en-US" sz="1140" dirty="0"/>
          </a:p>
        </p:txBody>
      </p:sp>
      <p:sp>
        <p:nvSpPr>
          <p:cNvPr id="30" name="Text 27"/>
          <p:cNvSpPr/>
          <p:nvPr/>
        </p:nvSpPr>
        <p:spPr>
          <a:xfrm>
            <a:off x="2667030" y="6714738"/>
            <a:ext cx="382829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3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360" dirty="0"/>
          </a:p>
        </p:txBody>
      </p:sp>
      <p:sp>
        <p:nvSpPr>
          <p:cNvPr id="31" name="Text 28"/>
          <p:cNvSpPr/>
          <p:nvPr/>
        </p:nvSpPr>
        <p:spPr>
          <a:xfrm>
            <a:off x="2969788" y="6964710"/>
            <a:ext cx="24871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14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4602450" y="6301770"/>
            <a:ext cx="1661190" cy="876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02450" y="6301770"/>
            <a:ext cx="1661190" cy="23186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02450" y="6454110"/>
            <a:ext cx="67053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测试单元</a:t>
            </a:r>
            <a:endParaRPr lang="en-US" sz="1140" dirty="0"/>
          </a:p>
        </p:txBody>
      </p:sp>
      <p:sp>
        <p:nvSpPr>
          <p:cNvPr id="35" name="Text 32"/>
          <p:cNvSpPr/>
          <p:nvPr/>
        </p:nvSpPr>
        <p:spPr>
          <a:xfrm>
            <a:off x="4602450" y="6714738"/>
            <a:ext cx="1202131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3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4050</a:t>
            </a:r>
            <a:endParaRPr lang="en-US" sz="3360" dirty="0"/>
          </a:p>
        </p:txBody>
      </p:sp>
      <p:sp>
        <p:nvSpPr>
          <p:cNvPr id="36" name="Text 33"/>
          <p:cNvSpPr/>
          <p:nvPr/>
        </p:nvSpPr>
        <p:spPr>
          <a:xfrm>
            <a:off x="5698907" y="6964710"/>
            <a:ext cx="42824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14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</a:t>
            </a:r>
            <a:endParaRPr lang="en-US" sz="1140" dirty="0"/>
          </a:p>
        </p:txBody>
      </p:sp>
      <p:sp>
        <p:nvSpPr>
          <p:cNvPr id="37" name="Shape 34"/>
          <p:cNvSpPr/>
          <p:nvPr/>
        </p:nvSpPr>
        <p:spPr>
          <a:xfrm>
            <a:off x="6537960" y="6301770"/>
            <a:ext cx="1661190" cy="876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37960" y="6301770"/>
            <a:ext cx="1661190" cy="23186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37960" y="6454110"/>
            <a:ext cx="680161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1140" dirty="0"/>
          </a:p>
        </p:txBody>
      </p:sp>
      <p:sp>
        <p:nvSpPr>
          <p:cNvPr id="40" name="Text 37"/>
          <p:cNvSpPr/>
          <p:nvPr/>
        </p:nvSpPr>
        <p:spPr>
          <a:xfrm>
            <a:off x="6537960" y="6713250"/>
            <a:ext cx="275539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40" dirty="0"/>
          </a:p>
        </p:txBody>
      </p:sp>
      <p:sp>
        <p:nvSpPr>
          <p:cNvPr id="41" name="Shape 38"/>
          <p:cNvSpPr/>
          <p:nvPr/>
        </p:nvSpPr>
        <p:spPr>
          <a:xfrm>
            <a:off x="8503920" y="2255550"/>
            <a:ext cx="5394960" cy="4922490"/>
          </a:xfrm>
          <a:prstGeom prst="roundRect">
            <a:avLst>
              <a:gd name="adj" fmla="val 6123"/>
            </a:avLst>
          </a:prstGeom>
          <a:solidFill>
            <a:srgbClr val="E9FBC6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170" y="2263140"/>
            <a:ext cx="3680460" cy="4907310"/>
          </a:xfrm>
          <a:prstGeom prst="rect">
            <a:avLst/>
          </a:prstGeom>
        </p:spPr>
      </p:pic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0" y="2263140"/>
            <a:ext cx="3680460" cy="4907310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731520" y="757809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944850" y="7475220"/>
            <a:ext cx="301797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环境比底座模型更关键</a:t>
            </a:r>
            <a:endParaRPr lang="en-US" sz="1620" dirty="0"/>
          </a:p>
        </p:txBody>
      </p:sp>
      <p:sp>
        <p:nvSpPr>
          <p:cNvPr id="46" name="Shape 41"/>
          <p:cNvSpPr/>
          <p:nvPr/>
        </p:nvSpPr>
        <p:spPr>
          <a:xfrm>
            <a:off x="11612880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11677162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1741628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1805910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1870284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1934566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1999031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2063313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2127687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12191970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12256435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2320717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2385091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2449373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2513838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2578121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2642494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12706868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2771242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12835524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2899989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12964272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3028646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3092928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13157393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13221675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13286049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13350331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13414797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13479079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13543453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13607735" y="750951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13672200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13736483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13800765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13865047" y="750951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461" y="2139696"/>
            <a:ext cx="8192933" cy="526685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30" y="1524030"/>
            <a:ext cx="5105370" cy="579117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640080"/>
            <a:ext cx="13167360" cy="10865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31520" y="1715068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640080"/>
            <a:ext cx="19202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关键发现</a:t>
            </a:r>
            <a:endParaRPr lang="en-US" sz="1320" dirty="0"/>
          </a:p>
        </p:txBody>
      </p:sp>
      <p:sp>
        <p:nvSpPr>
          <p:cNvPr id="9" name="Text 5"/>
          <p:cNvSpPr/>
          <p:nvPr/>
        </p:nvSpPr>
        <p:spPr>
          <a:xfrm>
            <a:off x="731520" y="1074729"/>
            <a:ext cx="1920240" cy="466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6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选型决策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12527280" y="1149264"/>
            <a:ext cx="14630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三大决胜维度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31520" y="2587020"/>
            <a:ext cx="48765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41150" y="2514600"/>
            <a:ext cx="8229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三大决胜维度</a:t>
            </a:r>
            <a:endParaRPr lang="en-US" sz="960" dirty="0"/>
          </a:p>
        </p:txBody>
      </p:sp>
      <p:sp>
        <p:nvSpPr>
          <p:cNvPr id="13" name="Text 9"/>
          <p:cNvSpPr/>
          <p:nvPr/>
        </p:nvSpPr>
        <p:spPr>
          <a:xfrm>
            <a:off x="627278" y="2539018"/>
            <a:ext cx="5669280" cy="3723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696"/>
              </a:lnSpc>
              <a:buNone/>
            </a:pPr>
            <a:r>
              <a:rPr lang="en-US" sz="228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2800" dirty="0"/>
          </a:p>
        </p:txBody>
      </p:sp>
      <p:sp>
        <p:nvSpPr>
          <p:cNvPr id="14" name="Text 10"/>
          <p:cNvSpPr/>
          <p:nvPr/>
        </p:nvSpPr>
        <p:spPr>
          <a:xfrm>
            <a:off x="5549768" y="2280317"/>
            <a:ext cx="9117208" cy="3723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696"/>
              </a:lnSpc>
              <a:buNone/>
            </a:pPr>
            <a:r>
              <a:rPr lang="en-US" sz="22800" b="1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道任务</a:t>
            </a:r>
            <a:endParaRPr lang="en-US" sz="22800" dirty="0"/>
          </a:p>
        </p:txBody>
      </p:sp>
      <p:sp>
        <p:nvSpPr>
          <p:cNvPr id="15" name="Text 11"/>
          <p:cNvSpPr/>
          <p:nvPr/>
        </p:nvSpPr>
        <p:spPr>
          <a:xfrm>
            <a:off x="14583948" y="4183974"/>
            <a:ext cx="83028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609"/>
              </a:lnSpc>
              <a:buNone/>
            </a:pPr>
            <a:r>
              <a:rPr lang="en-US" sz="684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子数据集</a:t>
            </a:r>
            <a:endParaRPr lang="en-US" sz="6840" dirty="0"/>
          </a:p>
        </p:txBody>
      </p:sp>
      <p:sp>
        <p:nvSpPr>
          <p:cNvPr id="16" name="Text 12"/>
          <p:cNvSpPr/>
          <p:nvPr/>
        </p:nvSpPr>
        <p:spPr>
          <a:xfrm>
            <a:off x="731520" y="5348645"/>
            <a:ext cx="7711410" cy="4465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数据集规模远超竞品</a:t>
            </a:r>
            <a:endParaRPr lang="en-US" sz="2280" dirty="0"/>
          </a:p>
        </p:txBody>
      </p:sp>
      <p:sp>
        <p:nvSpPr>
          <p:cNvPr id="17" name="Shape 13"/>
          <p:cNvSpPr/>
          <p:nvPr/>
        </p:nvSpPr>
        <p:spPr>
          <a:xfrm>
            <a:off x="731520" y="5775990"/>
            <a:ext cx="1293419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5775990"/>
            <a:ext cx="34779" cy="68580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37260" y="577599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规模优势</a:t>
            </a:r>
            <a:endParaRPr lang="en-US" sz="1260" dirty="0"/>
          </a:p>
        </p:txBody>
      </p:sp>
      <p:sp>
        <p:nvSpPr>
          <p:cNvPr id="20" name="Text 16"/>
          <p:cNvSpPr/>
          <p:nvPr/>
        </p:nvSpPr>
        <p:spPr>
          <a:xfrm>
            <a:off x="937260" y="6034811"/>
            <a:ext cx="870509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3120" dirty="0"/>
          </a:p>
        </p:txBody>
      </p:sp>
      <p:sp>
        <p:nvSpPr>
          <p:cNvPr id="21" name="Text 17"/>
          <p:cNvSpPr/>
          <p:nvPr/>
        </p:nvSpPr>
        <p:spPr>
          <a:xfrm>
            <a:off x="1720078" y="6248370"/>
            <a:ext cx="40233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2451598" y="5775990"/>
            <a:ext cx="134874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451598" y="5775990"/>
            <a:ext cx="34779" cy="68580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657338" y="577599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国产方案</a:t>
            </a:r>
            <a:endParaRPr lang="en-US" sz="1260" dirty="0"/>
          </a:p>
        </p:txBody>
      </p:sp>
      <p:sp>
        <p:nvSpPr>
          <p:cNvPr id="25" name="Text 21"/>
          <p:cNvSpPr/>
          <p:nvPr/>
        </p:nvSpPr>
        <p:spPr>
          <a:xfrm>
            <a:off x="2657338" y="6021233"/>
            <a:ext cx="88395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</a:t>
            </a:r>
            <a:endParaRPr lang="en-US" sz="3120" dirty="0"/>
          </a:p>
        </p:txBody>
      </p:sp>
      <p:sp>
        <p:nvSpPr>
          <p:cNvPr id="26" name="Text 22"/>
          <p:cNvSpPr/>
          <p:nvPr/>
        </p:nvSpPr>
        <p:spPr>
          <a:xfrm>
            <a:off x="3495568" y="6248370"/>
            <a:ext cx="40233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227088" y="5775990"/>
            <a:ext cx="134874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227088" y="5775990"/>
            <a:ext cx="34779" cy="68580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432828" y="577599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离线运行</a:t>
            </a:r>
            <a:endParaRPr lang="en-US" sz="1260" dirty="0"/>
          </a:p>
        </p:txBody>
      </p:sp>
      <p:sp>
        <p:nvSpPr>
          <p:cNvPr id="30" name="Text 26"/>
          <p:cNvSpPr/>
          <p:nvPr/>
        </p:nvSpPr>
        <p:spPr>
          <a:xfrm>
            <a:off x="4432828" y="6021233"/>
            <a:ext cx="88395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</a:t>
            </a:r>
            <a:endParaRPr lang="en-US" sz="3120" dirty="0"/>
          </a:p>
        </p:txBody>
      </p:sp>
      <p:sp>
        <p:nvSpPr>
          <p:cNvPr id="31" name="Text 27"/>
          <p:cNvSpPr/>
          <p:nvPr/>
        </p:nvSpPr>
        <p:spPr>
          <a:xfrm>
            <a:off x="5271059" y="6248370"/>
            <a:ext cx="40233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731520" y="6804690"/>
            <a:ext cx="198150" cy="1527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36290" y="6804690"/>
            <a:ext cx="8120329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 道任务开箱即用，远超竞品 60 道。国产方案、内网隔离、阿里背书，保障企业级落地。</a:t>
            </a:r>
            <a:endParaRPr lang="en-US" sz="1560" dirty="0"/>
          </a:p>
        </p:txBody>
      </p:sp>
      <p:sp>
        <p:nvSpPr>
          <p:cNvPr id="34" name="Shape 30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44850" y="7444770"/>
            <a:ext cx="368558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v1.0 已开源 · Apache 2.0</a:t>
            </a:r>
            <a:endParaRPr lang="en-US" sz="1620" dirty="0"/>
          </a:p>
        </p:txBody>
      </p:sp>
      <p:sp>
        <p:nvSpPr>
          <p:cNvPr id="36" name="Shape 32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16" y="0"/>
            <a:ext cx="6729984" cy="3785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201168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实施路线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889"/>
            <a:ext cx="2011680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12984480" y="1324828"/>
            <a:ext cx="1005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落地计划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0032" y="2131421"/>
            <a:ext cx="1897746" cy="751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52"/>
              </a:lnSpc>
              <a:buNone/>
            </a:pPr>
            <a:r>
              <a:rPr lang="en-US" sz="4440" b="1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</a:t>
            </a:r>
            <a:endParaRPr lang="en-US" sz="4440" dirty="0"/>
          </a:p>
        </p:txBody>
      </p:sp>
      <p:sp>
        <p:nvSpPr>
          <p:cNvPr id="11" name="Text 8"/>
          <p:cNvSpPr/>
          <p:nvPr/>
        </p:nvSpPr>
        <p:spPr>
          <a:xfrm>
            <a:off x="2545050" y="2529870"/>
            <a:ext cx="97334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5059650" y="2257562"/>
            <a:ext cx="8687532" cy="36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以外网构建 Docker 镜像 + 离线传输到内网的标准化流程，预计 3 周内完成从环境搭建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59650" y="2600462"/>
            <a:ext cx="14630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到基线评测。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" y="3474720"/>
            <a:ext cx="220397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20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全年季度融资额 / 亿美元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12495459" y="3444270"/>
            <a:ext cx="51937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 Q3</a:t>
            </a:r>
            <a:endParaRPr lang="en-US" sz="1260" dirty="0"/>
          </a:p>
        </p:txBody>
      </p:sp>
      <p:sp>
        <p:nvSpPr>
          <p:cNvPr id="16" name="Shape 13"/>
          <p:cNvSpPr/>
          <p:nvPr/>
        </p:nvSpPr>
        <p:spPr>
          <a:xfrm>
            <a:off x="13000939" y="3455700"/>
            <a:ext cx="897941" cy="205740"/>
          </a:xfrm>
          <a:prstGeom prst="roundRect">
            <a:avLst>
              <a:gd name="adj" fmla="val 270470"/>
            </a:avLst>
          </a:prstGeom>
          <a:solidFill>
            <a:srgbClr val="E8443B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7109" y="3507821"/>
            <a:ext cx="101316" cy="10131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16555" y="3463290"/>
            <a:ext cx="84828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140" b="1" spc="20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-35.2%</a:t>
            </a:r>
            <a:endParaRPr lang="en-US" sz="114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33770"/>
            <a:ext cx="13167360" cy="2286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719853" y="5122194"/>
            <a:ext cx="1062990" cy="201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年初水平 · 162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3076316" y="5030114"/>
            <a:ext cx="226771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40" dirty="0"/>
          </a:p>
        </p:txBody>
      </p:sp>
      <p:sp>
        <p:nvSpPr>
          <p:cNvPr id="22" name="Text 17"/>
          <p:cNvSpPr/>
          <p:nvPr/>
        </p:nvSpPr>
        <p:spPr>
          <a:xfrm>
            <a:off x="7260885" y="4500220"/>
            <a:ext cx="226771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40" dirty="0"/>
          </a:p>
        </p:txBody>
      </p:sp>
      <p:sp>
        <p:nvSpPr>
          <p:cNvPr id="23" name="Text 18"/>
          <p:cNvSpPr/>
          <p:nvPr/>
        </p:nvSpPr>
        <p:spPr>
          <a:xfrm>
            <a:off x="11431646" y="3889766"/>
            <a:ext cx="256032" cy="317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2436830" y="6294090"/>
            <a:ext cx="97840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2514600" y="6636990"/>
            <a:ext cx="82296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环境搭建</a:t>
            </a:r>
            <a:endParaRPr lang="en-US" sz="1440" dirty="0"/>
          </a:p>
        </p:txBody>
      </p:sp>
      <p:sp>
        <p:nvSpPr>
          <p:cNvPr id="26" name="Text 21"/>
          <p:cNvSpPr/>
          <p:nvPr/>
        </p:nvSpPr>
        <p:spPr>
          <a:xfrm>
            <a:off x="1149767" y="6918990"/>
            <a:ext cx="3589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Docker 镜像，打包~2GB 数据集离线传输到内网。</a:t>
            </a:r>
            <a:endParaRPr lang="en-US" sz="1140" dirty="0"/>
          </a:p>
        </p:txBody>
      </p:sp>
      <p:sp>
        <p:nvSpPr>
          <p:cNvPr id="27" name="Text 22"/>
          <p:cNvSpPr/>
          <p:nvPr/>
        </p:nvSpPr>
        <p:spPr>
          <a:xfrm>
            <a:off x="6818041" y="6294090"/>
            <a:ext cx="99422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6903720" y="6636990"/>
            <a:ext cx="82296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基线评测</a:t>
            </a:r>
            <a:endParaRPr lang="en-US" sz="1440" dirty="0"/>
          </a:p>
        </p:txBody>
      </p:sp>
      <p:sp>
        <p:nvSpPr>
          <p:cNvPr id="29" name="Text 24"/>
          <p:cNvSpPr/>
          <p:nvPr/>
        </p:nvSpPr>
        <p:spPr>
          <a:xfrm>
            <a:off x="5640385" y="6918990"/>
            <a:ext cx="338620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配置内网 LLM API，运行 150 道任务获取基线分数。</a:t>
            </a:r>
            <a:endParaRPr lang="en-US" sz="1140" dirty="0"/>
          </a:p>
        </p:txBody>
      </p:sp>
      <p:sp>
        <p:nvSpPr>
          <p:cNvPr id="30" name="Text 25"/>
          <p:cNvSpPr/>
          <p:nvPr/>
        </p:nvSpPr>
        <p:spPr>
          <a:xfrm>
            <a:off x="11205606" y="6294090"/>
            <a:ext cx="99742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11292840" y="6636990"/>
            <a:ext cx="82296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</a:t>
            </a:r>
            <a:endParaRPr lang="en-US" sz="1440" dirty="0"/>
          </a:p>
        </p:txBody>
      </p:sp>
      <p:sp>
        <p:nvSpPr>
          <p:cNvPr id="32" name="Text 27"/>
          <p:cNvSpPr/>
          <p:nvPr/>
        </p:nvSpPr>
        <p:spPr>
          <a:xfrm>
            <a:off x="10138410" y="6918990"/>
            <a:ext cx="313182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切片分析五维诊断短板，建立常态化评测机制。</a:t>
            </a:r>
            <a:endParaRPr lang="en-US" sz="114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073170"/>
            <a:ext cx="3188970" cy="101343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52530" y="6248370"/>
            <a:ext cx="40233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952530" y="6484650"/>
            <a:ext cx="1848642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7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PawBench</a:t>
            </a:r>
            <a:endParaRPr lang="en-US" sz="276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650" y="6073170"/>
            <a:ext cx="3188970" cy="101343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278660" y="6248370"/>
            <a:ext cx="710184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4278660" y="6484650"/>
            <a:ext cx="1765889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7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276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780" y="6073170"/>
            <a:ext cx="3188970" cy="101343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604790" y="6248370"/>
            <a:ext cx="40233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7604790" y="6487302"/>
            <a:ext cx="1570665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7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 LLM</a:t>
            </a:r>
            <a:endParaRPr lang="en-US" sz="276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9910" y="6073170"/>
            <a:ext cx="3188970" cy="101343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930920" y="6248370"/>
            <a:ext cx="40233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11272266" y="6553230"/>
            <a:ext cx="1545031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b="1" dirty="0">
                <a:solidFill>
                  <a:srgbClr val="34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2.0</a:t>
            </a:r>
            <a:endParaRPr lang="en-US" sz="2040" dirty="0"/>
          </a:p>
        </p:txBody>
      </p:sp>
      <p:sp>
        <p:nvSpPr>
          <p:cNvPr id="45" name="Shape 36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944850" y="7444770"/>
            <a:ext cx="344372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+ OpenClaw = 最佳组合</a:t>
            </a:r>
            <a:endParaRPr lang="en-US" sz="1620" dirty="0"/>
          </a:p>
        </p:txBody>
      </p:sp>
      <p:sp>
        <p:nvSpPr>
          <p:cNvPr id="47" name="Shape 38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6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7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8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2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3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99" y="0"/>
            <a:ext cx="7022501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328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6137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252987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参考与致谢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364"/>
            <a:ext cx="2529870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4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评测参考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13213080" y="1295659"/>
            <a:ext cx="7772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与致谢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7072" y="2111898"/>
            <a:ext cx="1692646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5FA0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392710" y="2324130"/>
            <a:ext cx="81495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参考项目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2691811"/>
            <a:ext cx="8727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所有评分基于 2026 年 6~7 月公开数据。PawBench 站在开源 Agent 评测社区的肩膀上，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31520" y="3023281"/>
            <a:ext cx="252219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致敬各子数据集贡献者。</a:t>
            </a:r>
            <a:endParaRPr lang="en-US" sz="1740" dirty="0"/>
          </a:p>
        </p:txBody>
      </p:sp>
      <p:sp>
        <p:nvSpPr>
          <p:cNvPr id="14" name="Text 11"/>
          <p:cNvSpPr/>
          <p:nvPr/>
        </p:nvSpPr>
        <p:spPr>
          <a:xfrm>
            <a:off x="731520" y="3467130"/>
            <a:ext cx="3961089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spc="47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数据集来源：6 个高质量 Agent 评测子集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9960925" y="2087009"/>
            <a:ext cx="4064691" cy="995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4920"/>
              </a:lnSpc>
              <a:buNone/>
            </a:pPr>
            <a:r>
              <a:rPr lang="en-US" sz="60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PawBench</a:t>
            </a:r>
            <a:endParaRPr lang="en-US" sz="6000" dirty="0"/>
          </a:p>
        </p:txBody>
      </p:sp>
      <p:sp>
        <p:nvSpPr>
          <p:cNvPr id="16" name="Text 13"/>
          <p:cNvSpPr/>
          <p:nvPr/>
        </p:nvSpPr>
        <p:spPr>
          <a:xfrm>
            <a:off x="13167360" y="291081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推荐方案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731520" y="3810030"/>
            <a:ext cx="13167360" cy="3047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4091614"/>
            <a:ext cx="13167360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9670" y="3832890"/>
            <a:ext cx="37581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144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4176979" y="3832890"/>
            <a:ext cx="37581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144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8084942" y="3832890"/>
            <a:ext cx="772973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144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来源/说明</a:t>
            </a:r>
            <a:endParaRPr lang="en-US" sz="96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0"/>
            <a:ext cx="13167360" cy="2724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88720" y="4117635"/>
            <a:ext cx="112608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Claw-Eval</a:t>
            </a:r>
            <a:endParaRPr lang="en-US" sz="1560" dirty="0"/>
          </a:p>
        </p:txBody>
      </p:sp>
      <p:sp>
        <p:nvSpPr>
          <p:cNvPr id="24" name="Text 20"/>
          <p:cNvSpPr/>
          <p:nvPr/>
        </p:nvSpPr>
        <p:spPr>
          <a:xfrm>
            <a:off x="7225406" y="4129065"/>
            <a:ext cx="34381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440" dirty="0"/>
          </a:p>
        </p:txBody>
      </p:sp>
      <p:sp>
        <p:nvSpPr>
          <p:cNvPr id="25" name="Text 21"/>
          <p:cNvSpPr/>
          <p:nvPr/>
        </p:nvSpPr>
        <p:spPr>
          <a:xfrm>
            <a:off x="7464293" y="4197645"/>
            <a:ext cx="392049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130662" y="4136746"/>
            <a:ext cx="137160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Agent 评测集</a:t>
            </a:r>
            <a:endParaRPr lang="en-US" sz="12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87200"/>
            <a:ext cx="13167360" cy="272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43000" y="4390034"/>
            <a:ext cx="167243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QwenClawBench</a:t>
            </a:r>
            <a:endParaRPr lang="en-US" sz="1560" dirty="0"/>
          </a:p>
        </p:txBody>
      </p:sp>
      <p:sp>
        <p:nvSpPr>
          <p:cNvPr id="29" name="Text 24"/>
          <p:cNvSpPr/>
          <p:nvPr/>
        </p:nvSpPr>
        <p:spPr>
          <a:xfrm>
            <a:off x="7179686" y="4401464"/>
            <a:ext cx="34381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440" dirty="0"/>
          </a:p>
        </p:txBody>
      </p:sp>
      <p:sp>
        <p:nvSpPr>
          <p:cNvPr id="30" name="Text 25"/>
          <p:cNvSpPr/>
          <p:nvPr/>
        </p:nvSpPr>
        <p:spPr>
          <a:xfrm>
            <a:off x="7418573" y="4470044"/>
            <a:ext cx="392049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084942" y="4409145"/>
            <a:ext cx="115644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团队贡献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59600"/>
            <a:ext cx="13167360" cy="2724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43000" y="4662526"/>
            <a:ext cx="123505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PinchBench</a:t>
            </a:r>
            <a:endParaRPr lang="en-US" sz="1560" dirty="0"/>
          </a:p>
        </p:txBody>
      </p:sp>
      <p:sp>
        <p:nvSpPr>
          <p:cNvPr id="34" name="Text 28"/>
          <p:cNvSpPr/>
          <p:nvPr/>
        </p:nvSpPr>
        <p:spPr>
          <a:xfrm>
            <a:off x="7179686" y="4673956"/>
            <a:ext cx="34381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440" dirty="0"/>
          </a:p>
        </p:txBody>
      </p:sp>
      <p:sp>
        <p:nvSpPr>
          <p:cNvPr id="35" name="Text 29"/>
          <p:cNvSpPr/>
          <p:nvPr/>
        </p:nvSpPr>
        <p:spPr>
          <a:xfrm>
            <a:off x="7418573" y="4742536"/>
            <a:ext cx="392049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8084942" y="4681545"/>
            <a:ext cx="1197864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Kilo Code 出品</a:t>
            </a:r>
            <a:endParaRPr lang="en-US" sz="12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931999"/>
            <a:ext cx="13167360" cy="2724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143000" y="4934925"/>
            <a:ext cx="134401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SkillsBench</a:t>
            </a:r>
            <a:endParaRPr lang="en-US" sz="1560" dirty="0"/>
          </a:p>
        </p:txBody>
      </p:sp>
      <p:sp>
        <p:nvSpPr>
          <p:cNvPr id="39" name="Text 32"/>
          <p:cNvSpPr/>
          <p:nvPr/>
        </p:nvSpPr>
        <p:spPr>
          <a:xfrm>
            <a:off x="7179686" y="4946355"/>
            <a:ext cx="34381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40" dirty="0"/>
          </a:p>
        </p:txBody>
      </p:sp>
      <p:sp>
        <p:nvSpPr>
          <p:cNvPr id="40" name="Text 33"/>
          <p:cNvSpPr/>
          <p:nvPr/>
        </p:nvSpPr>
        <p:spPr>
          <a:xfrm>
            <a:off x="7418573" y="5014935"/>
            <a:ext cx="392049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8084942" y="4953945"/>
            <a:ext cx="117652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专项评测</a:t>
            </a:r>
            <a:endParaRPr lang="en-US" sz="12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204490"/>
            <a:ext cx="13167360" cy="2971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143000" y="5234940"/>
            <a:ext cx="2023567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WildClawBench 精选</a:t>
            </a:r>
            <a:endParaRPr lang="en-US" sz="1560" dirty="0"/>
          </a:p>
        </p:txBody>
      </p:sp>
      <p:sp>
        <p:nvSpPr>
          <p:cNvPr id="44" name="Text 36"/>
          <p:cNvSpPr/>
          <p:nvPr/>
        </p:nvSpPr>
        <p:spPr>
          <a:xfrm>
            <a:off x="7179686" y="5231100"/>
            <a:ext cx="34381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40" dirty="0"/>
          </a:p>
        </p:txBody>
      </p:sp>
      <p:sp>
        <p:nvSpPr>
          <p:cNvPr id="45" name="Text 37"/>
          <p:cNvSpPr/>
          <p:nvPr/>
        </p:nvSpPr>
        <p:spPr>
          <a:xfrm>
            <a:off x="7418573" y="5299680"/>
            <a:ext cx="392049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8084942" y="5238780"/>
            <a:ext cx="130149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 AI Lab 精华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929670" y="5600700"/>
            <a:ext cx="91440" cy="91440"/>
          </a:xfrm>
          <a:prstGeom prst="roundRect">
            <a:avLst>
              <a:gd name="adj" fmla="val 38035"/>
            </a:avLst>
          </a:prstGeom>
          <a:solidFill>
            <a:srgbClr val="86D62B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1143000" y="5532120"/>
            <a:ext cx="88395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自建任务</a:t>
            </a:r>
            <a:endParaRPr lang="en-US" sz="1560" dirty="0"/>
          </a:p>
        </p:txBody>
      </p:sp>
      <p:sp>
        <p:nvSpPr>
          <p:cNvPr id="49" name="Shape 41"/>
          <p:cNvSpPr/>
          <p:nvPr/>
        </p:nvSpPr>
        <p:spPr>
          <a:xfrm>
            <a:off x="4176979" y="5600700"/>
            <a:ext cx="2810683" cy="9144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4176979" y="5600700"/>
            <a:ext cx="1135045" cy="91440"/>
          </a:xfrm>
          <a:prstGeom prst="rect">
            <a:avLst/>
          </a:prstGeom>
          <a:solidFill>
            <a:srgbClr val="8EC4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7179686" y="5528280"/>
            <a:ext cx="34381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440" dirty="0"/>
          </a:p>
        </p:txBody>
      </p:sp>
      <p:sp>
        <p:nvSpPr>
          <p:cNvPr id="52" name="Text 44"/>
          <p:cNvSpPr/>
          <p:nvPr/>
        </p:nvSpPr>
        <p:spPr>
          <a:xfrm>
            <a:off x="7418573" y="5596860"/>
            <a:ext cx="392049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8084942" y="5535960"/>
            <a:ext cx="131673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AgentScope 自制</a:t>
            </a:r>
            <a:endParaRPr lang="en-US" sz="1200" dirty="0"/>
          </a:p>
        </p:txBody>
      </p:sp>
      <p:sp>
        <p:nvSpPr>
          <p:cNvPr id="54" name="Text 46"/>
          <p:cNvSpPr/>
          <p:nvPr/>
        </p:nvSpPr>
        <p:spPr>
          <a:xfrm>
            <a:off x="731520" y="6240780"/>
            <a:ext cx="1325880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79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评估流程</a:t>
            </a:r>
            <a:endParaRPr lang="en-US" sz="1020" dirty="0"/>
          </a:p>
        </p:txBody>
      </p:sp>
      <p:sp>
        <p:nvSpPr>
          <p:cNvPr id="55" name="Shape 47"/>
          <p:cNvSpPr/>
          <p:nvPr/>
        </p:nvSpPr>
        <p:spPr>
          <a:xfrm>
            <a:off x="731520" y="6537960"/>
            <a:ext cx="2587020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906810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998342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20" dirty="0"/>
          </a:p>
        </p:txBody>
      </p:sp>
      <p:sp>
        <p:nvSpPr>
          <p:cNvPr id="58" name="Text 50"/>
          <p:cNvSpPr/>
          <p:nvPr/>
        </p:nvSpPr>
        <p:spPr>
          <a:xfrm>
            <a:off x="1272570" y="6682710"/>
            <a:ext cx="79251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38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0880" y="6736110"/>
            <a:ext cx="152430" cy="152430"/>
          </a:xfrm>
          <a:prstGeom prst="rect">
            <a:avLst/>
          </a:prstGeom>
        </p:spPr>
      </p:pic>
      <p:sp>
        <p:nvSpPr>
          <p:cNvPr id="60" name="Shape 51"/>
          <p:cNvSpPr/>
          <p:nvPr/>
        </p:nvSpPr>
        <p:spPr>
          <a:xfrm>
            <a:off x="3669030" y="6537960"/>
            <a:ext cx="2587020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3844320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3"/>
          <p:cNvSpPr/>
          <p:nvPr/>
        </p:nvSpPr>
        <p:spPr>
          <a:xfrm>
            <a:off x="3923965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20" dirty="0"/>
          </a:p>
        </p:txBody>
      </p:sp>
      <p:sp>
        <p:nvSpPr>
          <p:cNvPr id="63" name="Text 54"/>
          <p:cNvSpPr/>
          <p:nvPr/>
        </p:nvSpPr>
        <p:spPr>
          <a:xfrm>
            <a:off x="4210080" y="6682710"/>
            <a:ext cx="79251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工具调研</a:t>
            </a:r>
            <a:endParaRPr lang="en-US" sz="1380" dirty="0"/>
          </a:p>
        </p:txBody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390" y="6736110"/>
            <a:ext cx="152430" cy="152430"/>
          </a:xfrm>
          <a:prstGeom prst="rect">
            <a:avLst/>
          </a:prstGeom>
        </p:spPr>
      </p:pic>
      <p:sp>
        <p:nvSpPr>
          <p:cNvPr id="65" name="Shape 55"/>
          <p:cNvSpPr/>
          <p:nvPr/>
        </p:nvSpPr>
        <p:spPr>
          <a:xfrm>
            <a:off x="6606540" y="6537960"/>
            <a:ext cx="2587020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66" name="Shape 56"/>
          <p:cNvSpPr/>
          <p:nvPr/>
        </p:nvSpPr>
        <p:spPr>
          <a:xfrm>
            <a:off x="6781830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57"/>
          <p:cNvSpPr/>
          <p:nvPr/>
        </p:nvSpPr>
        <p:spPr>
          <a:xfrm>
            <a:off x="6860286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20" dirty="0"/>
          </a:p>
        </p:txBody>
      </p:sp>
      <p:sp>
        <p:nvSpPr>
          <p:cNvPr id="68" name="Text 58"/>
          <p:cNvSpPr/>
          <p:nvPr/>
        </p:nvSpPr>
        <p:spPr>
          <a:xfrm>
            <a:off x="7147590" y="6682710"/>
            <a:ext cx="79251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加权评分</a:t>
            </a:r>
            <a:endParaRPr lang="en-US" sz="1380" dirty="0"/>
          </a:p>
        </p:txBody>
      </p:sp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5900" y="6736110"/>
            <a:ext cx="152430" cy="152430"/>
          </a:xfrm>
          <a:prstGeom prst="rect">
            <a:avLst/>
          </a:prstGeom>
        </p:spPr>
      </p:pic>
      <p:sp>
        <p:nvSpPr>
          <p:cNvPr id="70" name="Shape 59"/>
          <p:cNvSpPr/>
          <p:nvPr/>
        </p:nvSpPr>
        <p:spPr>
          <a:xfrm>
            <a:off x="9544050" y="6537960"/>
            <a:ext cx="2587020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9719340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1"/>
          <p:cNvSpPr/>
          <p:nvPr/>
        </p:nvSpPr>
        <p:spPr>
          <a:xfrm>
            <a:off x="9795510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20" dirty="0"/>
          </a:p>
        </p:txBody>
      </p:sp>
      <p:sp>
        <p:nvSpPr>
          <p:cNvPr id="73" name="Text 62"/>
          <p:cNvSpPr/>
          <p:nvPr/>
        </p:nvSpPr>
        <p:spPr>
          <a:xfrm>
            <a:off x="10085100" y="6682710"/>
            <a:ext cx="79251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结论推荐</a:t>
            </a:r>
            <a:endParaRPr lang="en-US" sz="1380" dirty="0"/>
          </a:p>
        </p:txBody>
      </p:sp>
      <p:pic>
        <p:nvPicPr>
          <p:cNvPr id="7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83410" y="6736110"/>
            <a:ext cx="152430" cy="152430"/>
          </a:xfrm>
          <a:prstGeom prst="rect">
            <a:avLst/>
          </a:prstGeom>
        </p:spPr>
      </p:pic>
      <p:sp>
        <p:nvSpPr>
          <p:cNvPr id="75" name="Shape 63"/>
          <p:cNvSpPr/>
          <p:nvPr/>
        </p:nvSpPr>
        <p:spPr>
          <a:xfrm>
            <a:off x="12481560" y="6537960"/>
            <a:ext cx="1417320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76" name="Shape 64"/>
          <p:cNvSpPr/>
          <p:nvPr/>
        </p:nvSpPr>
        <p:spPr>
          <a:xfrm>
            <a:off x="12656850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65"/>
          <p:cNvSpPr/>
          <p:nvPr/>
        </p:nvSpPr>
        <p:spPr>
          <a:xfrm>
            <a:off x="12736038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20" dirty="0"/>
          </a:p>
        </p:txBody>
      </p:sp>
      <p:sp>
        <p:nvSpPr>
          <p:cNvPr id="78" name="Text 66"/>
          <p:cNvSpPr/>
          <p:nvPr/>
        </p:nvSpPr>
        <p:spPr>
          <a:xfrm>
            <a:off x="13022610" y="6682710"/>
            <a:ext cx="79251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实施落地</a:t>
            </a:r>
            <a:endParaRPr lang="en-US" sz="1380" dirty="0"/>
          </a:p>
        </p:txBody>
      </p:sp>
      <p:sp>
        <p:nvSpPr>
          <p:cNvPr id="79" name="Shape 67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68"/>
          <p:cNvSpPr/>
          <p:nvPr/>
        </p:nvSpPr>
        <p:spPr>
          <a:xfrm>
            <a:off x="944850" y="7444770"/>
            <a:ext cx="25603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建议每季度更新评测基准库</a:t>
            </a:r>
            <a:endParaRPr lang="en-US" sz="1620" dirty="0"/>
          </a:p>
        </p:txBody>
      </p:sp>
      <p:sp>
        <p:nvSpPr>
          <p:cNvPr id="81" name="Shape 69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0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1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2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3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4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5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76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1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2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3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4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85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86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87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88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89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0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1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2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3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94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95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96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97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98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99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0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01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02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03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04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评测工具选型分析</dc:title>
  <dc:subject>Editable PPTX export</dc:subject>
  <dc:creator>Dashi PPT</dc:creator>
  <cp:lastModifiedBy>Dashi PPT</cp:lastModifiedBy>
  <cp:revision>1</cp:revision>
  <dcterms:created xsi:type="dcterms:W3CDTF">2026-07-16T07:31:17Z</dcterms:created>
  <dcterms:modified xsi:type="dcterms:W3CDTF">2026-07-16T07:31:17Z</dcterms:modified>
</cp:coreProperties>
</file>