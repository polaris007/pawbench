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-57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wbench_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wbench_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2450" y="1863090"/>
            <a:ext cx="5561734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Agent 评测新范式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2686050"/>
            <a:ext cx="1143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2450" y="3150870"/>
            <a:ext cx="8524261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0832" y="3964305"/>
            <a:ext cx="401650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交叉评测基准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1141640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01 / 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02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46911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为什么需要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3118" y="1107758"/>
            <a:ext cx="63737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两大核心痛点驱动 Agent 评测需求，PawBench 提供标准化解法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8106" y="1758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升级效果无法量化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9630" y="2171700"/>
            <a:ext cx="55699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模型 / Agent 升级后效果好坏，依赖人工挑选少量案例来判定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9630" y="2486025"/>
            <a:ext cx="44577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缺乏客观数据支撑，无法形成可靠的技术决策依据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14436" y="1762125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445703" y="1806892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44941" y="2171700"/>
            <a:ext cx="306438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150 道标准化任务 + 自动评分引擎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44941" y="2486025"/>
            <a:ext cx="38519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跑完即出分，版本间可横向对比，数据说话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3143250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571500" y="3143250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48106" y="332994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现有方案局限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9630" y="3743325"/>
            <a:ext cx="41266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通用 LLM 榜单不评估工具调用与 Agent 行为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9630" y="4057650"/>
            <a:ext cx="50444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学术 Benchmark 依赖公网服务，无法满足内网部署要求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14436" y="3333750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45703" y="3378518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44941" y="3743325"/>
            <a:ext cx="38371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开源 + Docker 沙箱隔离，完全私有化部署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44941" y="4057650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数据不出网，安全可控，零外部依赖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762500"/>
            <a:ext cx="11049000" cy="428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352655" y="4860608"/>
            <a:ext cx="548669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需要一个标准化、可复现、内网可用的 Agent 评测方案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2356" y="5330190"/>
            <a:ext cx="25728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带来的价值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54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量化升级效果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5523" y="6196489"/>
            <a:ext cx="34415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每次 Agent / LLM 升级后跑一遍，数据说话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1910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3738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精准定位短板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75023" y="6196489"/>
            <a:ext cx="29422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切片分析可定位具体能力和场景的退化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810500" y="5762625"/>
            <a:ext cx="3810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993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94523" y="6196489"/>
            <a:ext cx="29003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隔离，任务数据可改造为离线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67056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03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89796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主流 Agent 评测方案对比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95375"/>
            <a:ext cx="110490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808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工具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71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定位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334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评测对象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81297" y="1180624"/>
            <a:ext cx="84105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关键维度评分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0529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优势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437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劣势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582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最佳场景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362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80847" y="1542574"/>
            <a:ext cx="6561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PawBench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7338" y="15506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评测平台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33688" y="1550670"/>
            <a:ext cx="136253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Model + Harness + Task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33862" y="1385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33862" y="1509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233862" y="1633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33862" y="17573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86438" y="1492091"/>
            <a:ext cx="209715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Task/Judge/Runner 解耦，支持多 Agent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86438" y="1654016"/>
            <a:ext cx="18369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框架接入；Model×Harness 交叉评测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786438" y="1815941"/>
            <a:ext cx="4510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唯一方案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82038" y="155876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社区规模发展中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758488" y="15587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企业Agent评测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1933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80847" y="2114074"/>
            <a:ext cx="91873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57338" y="21221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交互评测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833688" y="21221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233862" y="19573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233862" y="20812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233862" y="22050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233862" y="23288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86438" y="2063591"/>
            <a:ext cx="16394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真实 Linux 桌面交互，覆盖 200+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786438" y="222551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软件品类；环境复杂度高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82038" y="2130266"/>
            <a:ext cx="14445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环境依赖重，内网部署门槛高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758488" y="2130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桌面Agent研究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2505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80847" y="2685574"/>
            <a:ext cx="7163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57338" y="2693670"/>
            <a:ext cx="5364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评测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833688" y="2693670"/>
            <a:ext cx="6282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Skill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233862" y="25288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233862" y="2652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233862" y="27765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233862" y="29003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786438" y="2635091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专注 Skill 能力评测，任务设计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786438" y="2797016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精巧；适合验证单一 Skill 效果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682038" y="2701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不测完整 Agent 流程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758488" y="2701766"/>
            <a:ext cx="4895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评估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3076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80847" y="3257074"/>
            <a:ext cx="7103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57338" y="3265170"/>
            <a:ext cx="95912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多模态Agent评测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833688" y="3265170"/>
            <a:ext cx="10410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Agent+Multimodal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233862" y="3100388"/>
            <a:ext cx="93360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★★★★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233862" y="32242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233862" y="33480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233862" y="347186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资料生态 ★★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786438" y="3206591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覆盖多模态 Agent 场景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786438" y="33685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任务含公网依赖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682038" y="3273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任务规模较小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758488" y="3273266"/>
            <a:ext cx="6514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71500" y="3648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80847" y="3828574"/>
            <a:ext cx="7437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AgentBench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557338" y="3836670"/>
            <a:ext cx="101105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Benchmark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833688" y="38366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233862" y="3671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233862" y="37957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233862" y="39195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233862" y="4043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786438" y="3778091"/>
            <a:ext cx="153840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学术影响力大，8 大类环境覆盖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786438" y="3940016"/>
            <a:ext cx="137417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广；部分环境依赖公网 API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682038" y="3844766"/>
            <a:ext cx="11409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部分环境依赖公网 API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758488" y="3844766"/>
            <a:ext cx="4510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学术研究</a:t>
            </a:r>
          </a:p>
        </p:txBody>
      </p:sp>
      <p:sp>
        <p:nvSpPr>
          <p:cNvPr id="75" name="Rectangle 75"/>
          <p:cNvSpPr/>
          <p:nvPr/>
        </p:nvSpPr>
        <p:spPr>
          <a:xfrm>
            <a:off x="571500" y="4219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680847" y="4400074"/>
            <a:ext cx="2817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GAIA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557338" y="4408170"/>
            <a:ext cx="6304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通用AI评测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833688" y="4408170"/>
            <a:ext cx="7259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+ Agent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233862" y="4243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233862" y="436721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233862" y="44910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233862" y="46148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786438" y="4349591"/>
            <a:ext cx="143129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Meta 出品，概念验证式任务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786438" y="4511516"/>
            <a:ext cx="12688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设计；公开 Leaderboard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8682038" y="441626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依赖公网，不能内网部署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758488" y="4416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通用Agent评测</a:t>
            </a:r>
          </a:p>
        </p:txBody>
      </p:sp>
      <p:sp>
        <p:nvSpPr>
          <p:cNvPr id="87" name="Rectangle 87"/>
          <p:cNvSpPr/>
          <p:nvPr/>
        </p:nvSpPr>
        <p:spPr>
          <a:xfrm>
            <a:off x="571500" y="4791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680847" y="4971574"/>
            <a:ext cx="7037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SWE-bench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557338" y="4979670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代码修复评测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833688" y="4979670"/>
            <a:ext cx="7561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Coding Agent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233862" y="4814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233862" y="4938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233862" y="50625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233862" y="5186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5786438" y="4921091"/>
            <a:ext cx="116938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Coding Agent 事实标准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5786438" y="50830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社区活跃度最高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8682038" y="4987766"/>
            <a:ext cx="100302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只覆盖代码修复场景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0758488" y="4987766"/>
            <a:ext cx="5398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代码Agent</a:t>
            </a:r>
          </a:p>
        </p:txBody>
      </p:sp>
      <p:sp>
        <p:nvSpPr>
          <p:cNvPr id="99" name="Rectangle 99"/>
          <p:cNvSpPr/>
          <p:nvPr/>
        </p:nvSpPr>
        <p:spPr>
          <a:xfrm>
            <a:off x="571500" y="5362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TextBox 100"/>
          <p:cNvSpPr txBox="1"/>
          <p:nvPr/>
        </p:nvSpPr>
        <p:spPr>
          <a:xfrm>
            <a:off x="680847" y="5543074"/>
            <a:ext cx="5651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DeepEval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557338" y="555117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评测框架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2833688" y="5551170"/>
            <a:ext cx="108274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/ RAG / Agent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4233862" y="5386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4233862" y="55102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233862" y="56340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4233862" y="57578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5786438" y="5492591"/>
            <a:ext cx="119338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框架成熟，CI 集成完善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786438" y="56545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企业使用广泛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682038" y="5559266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不提供 Agent 任务体系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758488" y="5559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企业质量回归</a:t>
            </a:r>
          </a:p>
        </p:txBody>
      </p:sp>
      <p:sp>
        <p:nvSpPr>
          <p:cNvPr id="111" name="Rectangle 111"/>
          <p:cNvSpPr/>
          <p:nvPr/>
        </p:nvSpPr>
        <p:spPr>
          <a:xfrm>
            <a:off x="571500" y="5934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12" name="TextBox 112"/>
          <p:cNvSpPr txBox="1"/>
          <p:nvPr/>
        </p:nvSpPr>
        <p:spPr>
          <a:xfrm>
            <a:off x="680847" y="6114574"/>
            <a:ext cx="6936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Promptfoo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557338" y="6122670"/>
            <a:ext cx="718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评测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2833688" y="6122670"/>
            <a:ext cx="9092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 + Model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4233862" y="5957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4233862" y="6081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233862" y="6205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4233862" y="6329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5786438" y="6064091"/>
            <a:ext cx="17343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轻量成熟，Prompt/模型 A/B 测试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5786438" y="62260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快速迭代友好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8682038" y="6130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不适合作 Agent 评测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0758488" y="6130766"/>
            <a:ext cx="6558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调优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566738" y="655129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评分说明：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519238" y="6551295"/>
            <a:ext cx="77282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★★★★★ 优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2471738" y="6551295"/>
            <a:ext cx="6516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★★★★ 良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3328988" y="6551295"/>
            <a:ext cx="40934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★★ 弱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186238" y="6551295"/>
            <a:ext cx="26628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| 内网部署 = 内网可运行 + 公网依赖度的综合评价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566738" y="6711791"/>
            <a:ext cx="54144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数据来源：各项目公开文档及 GitHub 仓库，截至 2025 年 7 月。PawBench 底层复用 OpenJudge 评测引擎。</a:t>
            </a:r>
          </a:p>
        </p:txBody>
      </p:sp>
      <p:sp>
        <p:nvSpPr>
          <p:cNvPr id="129" name="Rectangle 129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04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53495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能力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与评测设计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143000"/>
            <a:ext cx="533400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143000"/>
            <a:ext cx="5334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924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核心设计理念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0956" y="1615440"/>
            <a:ext cx="393497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385" y="1955006"/>
            <a:ext cx="540680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决定能力上限 · Harness 决定稳定落地 · 两者独立评测才能发现真实瓶颈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096000" y="1143000"/>
            <a:ext cx="5524500" cy="11049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096000" y="1143000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3169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三步评测流程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03897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12307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95945" y="1886902"/>
            <a:ext cx="7527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选择模型与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06913" y="2058352"/>
            <a:ext cx="9308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Harness 组合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743950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28049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52474" y="1886902"/>
            <a:ext cx="8496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75129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隔离运行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044892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53302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84892" y="1886902"/>
            <a:ext cx="7947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 + LLM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0104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双重评分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2381250"/>
            <a:ext cx="533400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2381250"/>
            <a:ext cx="5334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92480" y="25241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七维原子能力诊断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00100" y="28765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09066" y="2963228"/>
            <a:ext cx="6365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Tool_Use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33166" y="29632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工具调用与编排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00100" y="32194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09066" y="3306128"/>
            <a:ext cx="6428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Skill_Use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33166" y="3306128"/>
            <a:ext cx="10542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发现与执行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00100" y="35623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09066" y="3649028"/>
            <a:ext cx="13259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Code_Manipulation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233166" y="36490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代码操作与修复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00100" y="39052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09066" y="3991928"/>
            <a:ext cx="11702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Logic_Reasoning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233166" y="39919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逻辑推理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00100" y="42481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09066" y="4334828"/>
            <a:ext cx="5935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Planning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233166" y="433482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多步任务规划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00100" y="45910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09066" y="4677728"/>
            <a:ext cx="13490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Math_Computation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233166" y="46777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数学计算</a:t>
            </a:r>
          </a:p>
        </p:txBody>
      </p:sp>
      <p:sp>
        <p:nvSpPr>
          <p:cNvPr id="47" name="Rectangle 47"/>
          <p:cNvSpPr/>
          <p:nvPr/>
        </p:nvSpPr>
        <p:spPr>
          <a:xfrm>
            <a:off x="800100" y="49339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909066" y="5020628"/>
            <a:ext cx="12587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Self_Verification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233166" y="50206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自我验证与纠错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096000" y="2381250"/>
            <a:ext cx="5524500" cy="1476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6096000" y="2381250"/>
            <a:ext cx="55245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316980" y="25241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平台设计要点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18504" y="2870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评测策略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18885" y="3098006"/>
            <a:ext cx="43312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三维交叉设计，独立衡量每个因素贡献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318885" y="3383756"/>
            <a:ext cx="38011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每任务独立 Docker 容器，严格超时与重试，确保可复现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096000" y="3524250"/>
            <a:ext cx="9525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6318504" y="3632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评分模式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318885" y="3831431"/>
            <a:ext cx="503221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automated（确定性断言检查）· llm_judge（语义评估）· hybrid（混合）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096000" y="4048125"/>
            <a:ext cx="5524500" cy="1285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096000" y="4048125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317742" y="42167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覆盖场景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318885" y="4498181"/>
            <a:ext cx="38712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 · 软件工程 · 数据分析 · 信息检索 · 自动化脚本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317742" y="48072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任务复杂度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318885" y="5069681"/>
            <a:ext cx="514913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L1（1-2步）· L2（3-5步）· L3（5+步含条件分支）— 适配不同评测需求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71500" y="5524500"/>
            <a:ext cx="11049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3194478" y="5664518"/>
            <a:ext cx="58030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当前已评测 9 个模型 × 3 个 Harness × 150 道任务 = 4,050 个评测单元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8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05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15023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任务体系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2356" y="1139190"/>
            <a:ext cx="70696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道任务 × 6 个源数据集 × 五维标签体系，支持精细化评测分析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3118" y="1679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任务来源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2047875"/>
            <a:ext cx="6858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09041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来源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99666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数量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52166" y="2144078"/>
            <a:ext cx="9011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主要覆盖领域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23526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08660" y="2421731"/>
            <a:ext cx="6446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自建任务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99285" y="24217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52166" y="24298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自动化、信息检索、安全对齐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26193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08660" y="2688431"/>
            <a:ext cx="6296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claweval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99285" y="26884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52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52166" y="26965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办公协同、数据分析、内容创作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8860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08660" y="2955131"/>
            <a:ext cx="111208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qwenclawbench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99285" y="29551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52166" y="29632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自动化、软件工程、安全对齐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1527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08660" y="3221831"/>
            <a:ext cx="8029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99285" y="32218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52166" y="32299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办公流程、软件工程、信息检索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4194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08660" y="3488531"/>
            <a:ext cx="81053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99285" y="34885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52166" y="3496628"/>
            <a:ext cx="14830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长程 Skill、领域自动化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36861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08660" y="3755231"/>
            <a:ext cx="10366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99285" y="37552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52166" y="37633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办公流程、安全对齐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3952875"/>
            <a:ext cx="6858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7715250" y="1857375"/>
            <a:ext cx="3905250" cy="25908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7715250" y="1857375"/>
            <a:ext cx="3905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945755" y="19526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五维标签体系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47279" y="2232660"/>
            <a:ext cx="1445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应用场景 scenario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48422" y="2428399"/>
            <a:ext cx="30541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Office / Software_Engineering / Data_Analysis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48422" y="2599849"/>
            <a:ext cx="23118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Information_Retrieval / Automation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47279" y="2804160"/>
            <a:ext cx="169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原子能力 capabilities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948422" y="2999899"/>
            <a:ext cx="307513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Logic / Math / Code / Tool / Skill / Plan / Verify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47279" y="3204210"/>
            <a:ext cx="14539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复杂度 complexity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48422" y="3399949"/>
            <a:ext cx="29372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L1（1-2步） / L2（3-5步） / L3（5+含分支）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947279" y="3604260"/>
            <a:ext cx="14370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输入模态 modality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948422" y="3799999"/>
            <a:ext cx="26352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text / multimodal（image, audio, video）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947279" y="4004310"/>
            <a:ext cx="17592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运行环境 environment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48422" y="4200049"/>
            <a:ext cx="24373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closed（离线复现） / open（需联公网）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3118" y="4298632"/>
            <a:ext cx="23490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五维标签如何赋能评测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571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745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按场景分类对比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75335" y="5136356"/>
            <a:ext cx="24238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只在办公协同场景下对比模型表现，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75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排除其他场景噪声，结论更聚焦</a:t>
            </a:r>
          </a:p>
        </p:txBody>
      </p:sp>
      <p:sp>
        <p:nvSpPr>
          <p:cNvPr id="57" name="Rectangle 57"/>
          <p:cNvSpPr/>
          <p:nvPr/>
        </p:nvSpPr>
        <p:spPr>
          <a:xfrm>
            <a:off x="41910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41910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3940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按能力定向诊断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394835" y="5136356"/>
            <a:ext cx="26417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单独筛选 Tool_Use 或 Planning 任务，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394835" y="5345906"/>
            <a:ext cx="22730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精准定位模型在特定能力上的短板</a:t>
            </a:r>
          </a:p>
        </p:txBody>
      </p:sp>
      <p:sp>
        <p:nvSpPr>
          <p:cNvPr id="62" name="Rectangle 62"/>
          <p:cNvSpPr/>
          <p:nvPr/>
        </p:nvSpPr>
        <p:spPr>
          <a:xfrm>
            <a:off x="7810500" y="4714875"/>
            <a:ext cx="3810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7810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8013573" y="4862989"/>
            <a:ext cx="14603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按复杂度分层评估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014335" y="5136356"/>
            <a:ext cx="30382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对比 L1/L2/L3 不同复杂度下的表现差异，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014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识别模型在多步推理中的退化点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5857875"/>
            <a:ext cx="11049000" cy="38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3233425" y="5967889"/>
            <a:ext cx="572515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每道任务 5 维标签可任意组合筛选，灵活构建定制化的评测维度和对比视图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2295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06 / 07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530440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应用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场景与集成方式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3118" y="120300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典型应用场景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73811" y="1674971"/>
            <a:ext cx="121878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模型升级评估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5335" y="1955006"/>
            <a:ext cx="383406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 Harness，横向跑新旧模型，看整体分和切片分变化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236220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236220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3811" y="2465546"/>
            <a:ext cx="144556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框架迭代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5335" y="2745581"/>
            <a:ext cx="39860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固定模型，横向跑不同版本 Harness，验证改动未引入退化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315277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315277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73811" y="3256121"/>
            <a:ext cx="15572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自定义 Skill 验证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5335" y="3536156"/>
            <a:ext cx="3609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新增业务 Skill 后，在相关切片上验证发现和执行效果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94335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394335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73811" y="4046696"/>
            <a:ext cx="14195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回归测试流水线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5335" y="4326731"/>
            <a:ext cx="366374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集成到 CI 流程，每次 Agent / 模型发布自动触发评测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3118" y="4822508"/>
            <a:ext cx="211582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企业需求与能力适配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5219700"/>
            <a:ext cx="257175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75716" y="5315902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143250" y="5219700"/>
            <a:ext cx="2667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347466" y="5315902"/>
            <a:ext cx="10492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PawBench 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5245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80847" y="55716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内网私有化部署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143250" y="55245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252597" y="5571649"/>
            <a:ext cx="19741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开源 + Docker，数据不出内网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57340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80847" y="5781199"/>
            <a:ext cx="125739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评测完整 Agent 系统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143250" y="57340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252597" y="5781199"/>
            <a:ext cx="2096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Model × Harness × Task 全覆盖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59436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80847" y="59907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自定义任务扩展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143250" y="59436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252597" y="5990749"/>
            <a:ext cx="19803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OpenJudge 生态，灵活可扩展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61531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80847" y="6200299"/>
            <a:ext cx="8504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能力评估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143250" y="61531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252597" y="6200299"/>
            <a:ext cx="2692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7 大原子能力含 Skill_Use，15 道专项任务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63627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80847" y="640984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量化回归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143250" y="63627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252597" y="6409849"/>
            <a:ext cx="23238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标准化任务 + 自动评分，CI 可集成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278118" y="12030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集成方式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286500" y="16192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6286500" y="1619250"/>
            <a:ext cx="57150" cy="1095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564630" y="1743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环境部署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66154" y="2061210"/>
            <a:ext cx="44280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一键部署，拉取 PawBench 仓库，配置模型 API 密钥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66154" y="2299335"/>
            <a:ext cx="42527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完成后即可跑通全量 150 道标准化任务，获得基线评测结果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286500" y="285750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6286500" y="2857500"/>
            <a:ext cx="57150" cy="109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564630" y="29813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内网适配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66154" y="32994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含公网依赖的任务改造为离线可运行，自定义业务相关任务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66154" y="3537585"/>
            <a:ext cx="46868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支持基于 OpenJudge 自定义 Task / Judge / Runner，灵活扩展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286500" y="40957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286500" y="4095750"/>
            <a:ext cx="57150" cy="1095375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564630" y="42195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持续迭代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566154" y="4537710"/>
            <a:ext cx="33368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嵌入 Agent 开发迭代流程，每次发布自动评测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66154" y="47758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利用五维标签切片分析，精准定位能力变化，推动持续改进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286500" y="5429250"/>
            <a:ext cx="5334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6286500" y="5429250"/>
            <a:ext cx="5334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6566535" y="5574506"/>
            <a:ext cx="6446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技术特点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566916" y="5811202"/>
            <a:ext cx="46171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 和私有化模型接入，纯 Python 实现，无专有依赖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566916" y="6001702"/>
            <a:ext cx="38489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/ Judge / Runner 解耦设计，各组件可独立定制和替换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56260" y="438150"/>
            <a:ext cx="87858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总结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238250"/>
            <a:ext cx="3524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3896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886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交叉评测矩阵</a:t>
            </a:r>
          </a:p>
        </p:txBody>
      </p:sp>
      <p:sp>
        <p:nvSpPr>
          <p:cNvPr id="9" name="Rectangle 9"/>
          <p:cNvSpPr/>
          <p:nvPr/>
        </p:nvSpPr>
        <p:spPr>
          <a:xfrm>
            <a:off x="85725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51154" y="2394585"/>
            <a:ext cx="21565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同时评估 Model、Harness 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154" y="2632710"/>
            <a:ext cx="22238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三个维度，回答的不只是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2870835"/>
            <a:ext cx="20557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"模型好不好"，更是"部署后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154" y="3108960"/>
            <a:ext cx="1466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的 Agent 好不好用"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154" y="3442335"/>
            <a:ext cx="22595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9 模型 × 3 Harness × 150 任务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1154" y="3680460"/>
            <a:ext cx="12883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= 4,050 评测单元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33875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4333875" y="1238250"/>
            <a:ext cx="3524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601337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11243" y="186975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灵活可扩展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619625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613529" y="2394585"/>
            <a:ext cx="23892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Task、Judge、Runner 完全解耦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13529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可自定义评测任务和评分规则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13529" y="287083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五维标签体系支持精细化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13529" y="31089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切片分析，定位薄弱环节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13529" y="34423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阿里通义实验室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13529" y="3680460"/>
            <a:ext cx="16132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AgentScope 团队出品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9625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8096250" y="1238250"/>
            <a:ext cx="352425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36371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7361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内网安全就绪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38200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375904" y="2394585"/>
            <a:ext cx="15776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沙箱隔离运行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75904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完全私有化部署，数据不出网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5904" y="2870835"/>
            <a:ext cx="21969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可集成 CI/CD，自动回归测试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75904" y="3108960"/>
            <a:ext cx="1613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75904" y="3442335"/>
            <a:ext cx="25478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Python 3.11+ / Docker / Node.js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75904" y="3680460"/>
            <a:ext cx="1569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Apache 2.0 开源协议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4457700"/>
            <a:ext cx="11049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63880" y="4676775"/>
            <a:ext cx="28135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Agent 评测正处于关键转折期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5023" y="5024914"/>
            <a:ext cx="861289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从手工挑选个别案例做主观判断，转向标准化、自动化、多维度的量化评测，是 Agent 从实验走向生产的前提。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5023" y="5310664"/>
            <a:ext cx="967591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一个完整的评测体系需要同时覆盖模型能力、任务框架和运行环境三个独立变量，才能真正回答"我的 Agent 到底好不好用"。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5023" y="5596414"/>
            <a:ext cx="599893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开源、可扩展、内网安全的评测基础设施，是推动 Agent 工程化的关键一环。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141640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07 / 07</a:t>
            </a:r>
          </a:p>
        </p:txBody>
      </p:sp>
      <p:sp>
        <p:nvSpPr>
          <p:cNvPr id="44" name="Rectangle 44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pawbench_v2">
  <a:themeElements>
    <a:clrScheme name="pawbench_v2">
      <a:dk1>
        <a:srgbClr val="1A1A2E"/>
      </a:dk1>
      <a:lt1>
        <a:srgbClr val="FFFFFF"/>
      </a:lt1>
      <a:dk2>
        <a:srgbClr val="1F497D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64748B"/>
      </a:accent5>
      <a:accent6>
        <a:srgbClr val="94A3B8"/>
      </a:accent6>
      <a:hlink>
        <a:srgbClr val="2563EB"/>
      </a:hlink>
      <a:folHlink>
        <a:srgbClr val="93C5FD"/>
      </a:folHlink>
    </a:clrScheme>
    <a:fontScheme name="pawbench_v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1651</Words>
  <Application>Microsoft Office PowerPoint</Application>
  <PresentationFormat>自定义</PresentationFormat>
  <Paragraphs>298</Paragraphs>
  <Slides>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8" baseType="lpstr">
      <vt:lpstr>pawbench_v2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/>
  <cp:lastModifiedBy>chinalife</cp:lastModifiedBy>
  <cp:revision>3</cp:revision>
  <dcterms:created xsi:type="dcterms:W3CDTF">2026-07-20T00:49:04Z</dcterms:created>
  <dcterms:modified xsi:type="dcterms:W3CDTF">2026-07-20T01:15:18Z</dcterms:modified>
  <cp:category/>
  <cp:contentStatus/>
  <dc:language/>
</cp:coreProperties>
</file>