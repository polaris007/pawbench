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0" r:id="rId4"/>
    <p:sldId id="260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28E26E-C721-426D-BD0D-694F8F6A3EA7}" type="datetimeFigureOut">
              <a:rPr lang="zh-CN" altLang="en-US" smtClean="0"/>
              <a:t>2026/8/6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20E754-0B19-490E-A425-E11BEFCC96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114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02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8"/>
          <p:cNvGrpSpPr/>
          <p:nvPr/>
        </p:nvGrpSpPr>
        <p:grpSpPr>
          <a:xfrm>
            <a:off x="602976" y="1347584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SWE-bench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298676" y="1347584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94376" y="1347584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2450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Promptfoo / 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02976" y="3633584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298676" y="3633584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94376" y="3633584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96880" y="6442710"/>
            <a:ext cx="664398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注：六大范式综合公开文献与社区实践归纳，代表工具为典型示例</a:t>
            </a:r>
          </a:p>
        </p:txBody>
      </p:sp>
      <p:sp>
        <p:nvSpPr>
          <p:cNvPr id="67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3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8" name="TextBox 4"/>
          <p:cNvSpPr txBox="1"/>
          <p:nvPr/>
        </p:nvSpPr>
        <p:spPr>
          <a:xfrm>
            <a:off x="556260" y="438150"/>
            <a:ext cx="361958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 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grpSp>
        <p:nvGrpSpPr>
          <p:cNvPr id="69" name="Group 9"/>
          <p:cNvGrpSpPr/>
          <p:nvPr/>
        </p:nvGrpSpPr>
        <p:grpSpPr>
          <a:xfrm>
            <a:off x="622026" y="1009054"/>
            <a:ext cx="7251421" cy="352044"/>
            <a:chOff x="752856" y="1139190"/>
            <a:chExt cx="7251421" cy="352044"/>
          </a:xfrm>
        </p:grpSpPr>
        <p:sp>
          <p:nvSpPr>
            <p:cNvPr id="70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9703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405850" y="1095375"/>
            <a:ext cx="116205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151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01159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77509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25309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49309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87759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02309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05850" y="1362075"/>
            <a:ext cx="116205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51519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01350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477700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77874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77874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77874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877874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30450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30450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26050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402500" y="1558766"/>
            <a:ext cx="620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05850" y="1933575"/>
            <a:ext cx="116205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1519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201350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477700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877874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77874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77874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877874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30450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430450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26050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402500" y="2130266"/>
            <a:ext cx="620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05850" y="2505075"/>
            <a:ext cx="116205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519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201350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477700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877874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77874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77874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877874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30450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30450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326050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402500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05850" y="3076575"/>
            <a:ext cx="116205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51519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201350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77700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77874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877874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877874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877874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430450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430450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9326050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402500" y="3273266"/>
            <a:ext cx="620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405850" y="3648075"/>
            <a:ext cx="116205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51519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201350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477700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877874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877874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877874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877874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430450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6430450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326050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02500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405850" y="4219575"/>
            <a:ext cx="116205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51519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2201350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477700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877874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877874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877874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877874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430450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430450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9326050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1402500" y="4416266"/>
            <a:ext cx="620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405850" y="4791075"/>
            <a:ext cx="116205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51519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2201350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477700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877874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877874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877874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877874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430450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6430450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9326050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402500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405850" y="5362575"/>
            <a:ext cx="116205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51519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2201350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3477700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877874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877874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877874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877874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6430450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6430450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9326050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1402500" y="5559266"/>
            <a:ext cx="620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405850" y="5934075"/>
            <a:ext cx="116205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51519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2201350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3477700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877874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877874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877874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877874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6430450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6430450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9326050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1402500" y="6130766"/>
            <a:ext cx="620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201" name="TextBox 对应范式头"/>
          <p:cNvSpPr txBox="1"/>
          <p:nvPr/>
        </p:nvSpPr>
        <p:spPr>
          <a:xfrm>
            <a:off x="1429350" y="1180624"/>
            <a:ext cx="76200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对应范式</a:t>
            </a:r>
          </a:p>
        </p:txBody>
      </p:sp>
      <p:sp>
        <p:nvSpPr>
          <p:cNvPr id="202" name="TextBox 范式1"/>
          <p:cNvSpPr txBox="1"/>
          <p:nvPr/>
        </p:nvSpPr>
        <p:spPr>
          <a:xfrm>
            <a:off x="1429350" y="15425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①③⑥ 混合</a:t>
            </a:r>
          </a:p>
        </p:txBody>
      </p:sp>
      <p:sp>
        <p:nvSpPr>
          <p:cNvPr id="203" name="TextBox 范式2"/>
          <p:cNvSpPr txBox="1"/>
          <p:nvPr/>
        </p:nvSpPr>
        <p:spPr>
          <a:xfrm>
            <a:off x="1429350" y="21140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⑥ 沙箱环境模拟</a:t>
            </a:r>
          </a:p>
        </p:txBody>
      </p:sp>
      <p:sp>
        <p:nvSpPr>
          <p:cNvPr id="204" name="TextBox 范式3"/>
          <p:cNvSpPr txBox="1"/>
          <p:nvPr/>
        </p:nvSpPr>
        <p:spPr>
          <a:xfrm>
            <a:off x="1429350" y="26855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① 最终状态评估</a:t>
            </a:r>
          </a:p>
        </p:txBody>
      </p:sp>
      <p:sp>
        <p:nvSpPr>
          <p:cNvPr id="205" name="TextBox 范式4"/>
          <p:cNvSpPr txBox="1"/>
          <p:nvPr/>
        </p:nvSpPr>
        <p:spPr>
          <a:xfrm>
            <a:off x="1429350" y="32570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① 最终状态评估</a:t>
            </a:r>
          </a:p>
        </p:txBody>
      </p:sp>
      <p:sp>
        <p:nvSpPr>
          <p:cNvPr id="206" name="TextBox 范式5"/>
          <p:cNvSpPr txBox="1"/>
          <p:nvPr/>
        </p:nvSpPr>
        <p:spPr>
          <a:xfrm>
            <a:off x="1429350" y="38285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⑥ 沙箱环境模拟</a:t>
            </a:r>
          </a:p>
        </p:txBody>
      </p:sp>
      <p:sp>
        <p:nvSpPr>
          <p:cNvPr id="207" name="TextBox 范式6"/>
          <p:cNvSpPr txBox="1"/>
          <p:nvPr/>
        </p:nvSpPr>
        <p:spPr>
          <a:xfrm>
            <a:off x="1429350" y="44000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⑥ 沙箱环境模拟</a:t>
            </a:r>
          </a:p>
        </p:txBody>
      </p:sp>
      <p:sp>
        <p:nvSpPr>
          <p:cNvPr id="208" name="TextBox 范式7"/>
          <p:cNvSpPr txBox="1"/>
          <p:nvPr/>
        </p:nvSpPr>
        <p:spPr>
          <a:xfrm>
            <a:off x="1429350" y="49715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① 最终状态评估</a:t>
            </a:r>
          </a:p>
        </p:txBody>
      </p:sp>
      <p:sp>
        <p:nvSpPr>
          <p:cNvPr id="209" name="TextBox 范式8"/>
          <p:cNvSpPr txBox="1"/>
          <p:nvPr/>
        </p:nvSpPr>
        <p:spPr>
          <a:xfrm>
            <a:off x="1429350" y="55430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④ 逐步评估</a:t>
            </a:r>
          </a:p>
        </p:txBody>
      </p:sp>
      <p:sp>
        <p:nvSpPr>
          <p:cNvPr id="210" name="TextBox 范式9"/>
          <p:cNvSpPr txBox="1"/>
          <p:nvPr/>
        </p:nvSpPr>
        <p:spPr>
          <a:xfrm>
            <a:off x="1396220" y="6114574"/>
            <a:ext cx="76200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③ LLM-as-a-Judge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40108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35358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30608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16333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02058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0108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2033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948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5398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2948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1" name="TextBox 3"/>
          <p:cNvSpPr txBox="1"/>
          <p:nvPr/>
        </p:nvSpPr>
        <p:spPr>
          <a:xfrm>
            <a:off x="566166" y="229552"/>
            <a:ext cx="452047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0</a:t>
            </a:r>
            <a:r>
              <a:rPr lang="en-US" sz="1050" dirty="0">
                <a:solidFill>
                  <a:srgbClr val="1E3A8A"/>
                </a:solidFill>
                <a:latin typeface="Microsoft YaHei"/>
                <a:ea typeface="Microsoft YaHei"/>
              </a:rPr>
              <a:t>5</a:t>
            </a:r>
            <a:r>
              <a:rPr sz="1050" b="0" dirty="0" smtClean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1050" b="0" dirty="0">
                <a:solidFill>
                  <a:srgbClr val="1E3A8A"/>
                </a:solidFill>
                <a:latin typeface="Microsoft YaHei"/>
                <a:ea typeface="Microsoft YaHei"/>
              </a:rPr>
              <a:t>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2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altLang="en-US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方法与主流范式对比</a:t>
            </a:r>
            <a:endParaRPr lang="zh-CN" sz="30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34398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13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借 T053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看清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PawBench「执行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采集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 → 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汇总」的评测链路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——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它同样适用于</a:t>
            </a:r>
            <a:r>
              <a:rPr lang="zh-CN" altLang="en-US" sz="14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其它</a:t>
            </a:r>
            <a:r>
              <a:rPr sz="14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日常任务</a:t>
            </a:r>
            <a:r>
              <a:rPr sz="14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（下页对照</a:t>
            </a:r>
            <a:r>
              <a:rPr sz="1400" b="0" dirty="0">
                <a:solidFill>
                  <a:srgbClr val="64748B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517184"/>
              </p:ext>
            </p:extLst>
          </p:nvPr>
        </p:nvGraphicFramePr>
        <p:xfrm>
          <a:off x="600000" y="1480000"/>
          <a:ext cx="11432974" cy="4773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/ </a:t>
                      </a:r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资讯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1100" b="1" kern="120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Excel / </a:t>
                      </a:r>
                      <a:r>
                        <a:rPr sz="1100" b="1" kern="120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  <a:cs typeface="+mn-cs"/>
                        </a:rPr>
                        <a:t>表格</a:t>
                      </a:r>
                      <a:endParaRPr sz="1300" b="1" kern="1200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  <a:cs typeface="+mn-cs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T140 Xlsx Recover Data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0.6 / LLM 0.4）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nasa_budget_incomplete.xlsx → 修复 15 个 ??? 缺值（跨 4 工作表依赖）→ 存 nasa_budget_recovered.xlsx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</a:t>
                      </a:r>
                      <a:r>
                        <a:rPr sz="1100" b="1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 (PDF)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T055 合同分析 / T058 论文通俗摘要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llm_judge（纯 LLM 评判）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PDF 合同 → 法律条款与风险评估 → .md；读论文 PDF → 通俗摘要 → .txt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1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创建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T076 / T078 / T085 / T094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编写可复用 SKILL.md（frontmatter+方法）→ 用该 skill 完成实际任务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00" b="1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 使用</a:t>
                      </a:r>
                      <a:endParaRPr sz="1300" b="1" dirty="0">
                        <a:solidFill>
                          <a:srgbClr val="1A1A2E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SkillsBench T126–T140（15）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hybrid（自动/LLM 按任务）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 skills/&lt;name&gt;/SKILL.md → 调用其脚本完成专业任务（3D/规划/控制/Excel…）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 smtClean="0">
                <a:solidFill>
                  <a:srgbClr val="64748B"/>
                </a:solidFill>
                <a:latin typeface="Microsoft YaHei"/>
                <a:ea typeface="Microsoft YaHei"/>
              </a:rPr>
              <a:t>与日常使用</a:t>
            </a:r>
            <a:r>
              <a:rPr sz="12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 / Skill的能力高度对应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12 / 13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13 / 13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2854</Words>
  <Application>Microsoft Office PowerPoint</Application>
  <PresentationFormat>自定义</PresentationFormat>
  <Paragraphs>485</Paragraphs>
  <Slides>13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chinalife</dc:creator>
  <cp:lastModifiedBy>chinalife</cp:lastModifiedBy>
  <cp:revision>18</cp:revision>
  <dcterms:created xsi:type="dcterms:W3CDTF">2026-07-20T00:49:04Z</dcterms:created>
  <dcterms:modified xsi:type="dcterms:W3CDTF">2026-08-06T10:11:22Z</dcterms:modified>
  <dc:language/>
</cp:coreProperties>
</file>