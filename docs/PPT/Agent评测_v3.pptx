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-57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2950" y="2099310"/>
            <a:ext cx="818746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基于 PawBench 的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781300"/>
            <a:ext cx="13335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6760" y="3219450"/>
            <a:ext cx="655829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2094" y="3847148"/>
            <a:ext cx="515327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三维交叉评测体系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142" y="4369118"/>
            <a:ext cx="606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道标准化任务 · 自动评分引擎 · Docker 内网隔离 · 七维原子能力诊断</a:t>
            </a:r>
          </a:p>
        </p:txBody>
      </p:sp>
      <p:sp>
        <p:nvSpPr>
          <p:cNvPr id="9" name="Rectangle 9"/>
          <p:cNvSpPr/>
          <p:nvPr/>
        </p:nvSpPr>
        <p:spPr>
          <a:xfrm>
            <a:off x="8191500" y="1866900"/>
            <a:ext cx="3238500" cy="3086100"/>
          </a:xfrm>
          <a:prstGeom prst="roundRect">
            <a:avLst>
              <a:gd name="adj" fmla="val 4938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413242" y="21021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三维交叉评测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420100" y="24955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8629650" y="270510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52154" y="2689860"/>
            <a:ext cx="16214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Model · 决定能力上限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420100" y="31813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8629650" y="33909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52154" y="3375660"/>
            <a:ext cx="18035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· 决定稳定落地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420100" y="38671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8629650" y="4076700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52154" y="4061460"/>
            <a:ext cx="15440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· 决定任务场景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15147" y="4581049"/>
            <a:ext cx="17249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三者独立评测，定位真实瓶颈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02 </a:t>
            </a:r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/ </a:t>
            </a:r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08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569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升级后效果好坏，依赖人工挑选少量案例来判定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4436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445703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44941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44941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14436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45703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44941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44941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03 </a:t>
            </a:r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/ </a:t>
            </a:r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08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08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34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81297" y="1180624"/>
            <a:ext cx="841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关键维度评分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529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37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582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最佳场景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62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80847" y="1542574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338" y="15506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评测平台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3688" y="1550670"/>
            <a:ext cx="13625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Model + Harness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3862" y="1385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33862" y="1509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33862" y="1633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33862" y="17573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86438" y="1492091"/>
            <a:ext cx="20971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 解耦，支持多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6438" y="1654016"/>
            <a:ext cx="18369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框架接入；Model×Harness 交叉评测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86438" y="1815941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唯一方案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2038" y="155876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社区规模发展中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58488" y="15587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1933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0847" y="2114074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7338" y="21221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交互评测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33688" y="21221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33862" y="19573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33862" y="20812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33862" y="22050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33862" y="23288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86438" y="2063591"/>
            <a:ext cx="16394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真实 Linux 桌面交互，覆盖 200+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6438" y="222551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软件品类；环境复杂度高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2038" y="2130266"/>
            <a:ext cx="14445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环境依赖重，内网部署门槛高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758488" y="2130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桌面Agent研究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505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0847" y="2685574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57338" y="2693670"/>
            <a:ext cx="536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3688" y="2693670"/>
            <a:ext cx="62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Skill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33862" y="25288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33862" y="2652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33862" y="27765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33862" y="29003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86438" y="2635091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专注 Skill 能力评测，任务设计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86438" y="2797016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精巧；适合验证单一 Skill 效果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82038" y="2701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不测完整 Agent 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58488" y="2701766"/>
            <a:ext cx="4895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076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847" y="3257074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57338" y="3265170"/>
            <a:ext cx="9591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多模态Agent评测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33688" y="3265170"/>
            <a:ext cx="10410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Agent+Multimodal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233862" y="3100388"/>
            <a:ext cx="93360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33862" y="32242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33862" y="33480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33862" y="347186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资料生态 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86438" y="3206591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覆盖多模态 Agent 场景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86438" y="33685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任务含公网依赖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682038" y="3273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任务规模较小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58488" y="3273266"/>
            <a:ext cx="6514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3648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0847" y="3828574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7338" y="3836670"/>
            <a:ext cx="10110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33688" y="38366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33862" y="3671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33862" y="37957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39195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33862" y="4043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86438" y="3778091"/>
            <a:ext cx="1538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学术影响力大，8 大类环境覆盖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86438" y="3940016"/>
            <a:ext cx="1374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广；部分环境依赖公网 API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682038" y="3844766"/>
            <a:ext cx="11409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部分环境依赖公网 API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758488" y="3844766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4219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680847" y="4400074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57338" y="4408170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通用AI评测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33688" y="4408170"/>
            <a:ext cx="725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+ Agent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233862" y="4243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3862" y="43672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233862" y="44910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33862" y="46148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786438" y="4349591"/>
            <a:ext cx="14312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Meta 出品，概念验证式任务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786438" y="4511516"/>
            <a:ext cx="12688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设计；公开 Leaderboard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682038" y="441626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依赖公网，不能内网部署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58488" y="4416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通用Agent评测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4791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680847" y="4971574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57338" y="49796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代码修复评测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33688" y="4979670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233862" y="4814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233862" y="4938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233862" y="50625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233862" y="5186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86438" y="4921091"/>
            <a:ext cx="11693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 事实标准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786438" y="50830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社区活跃度最高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682038" y="4987766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只覆盖代码修复场景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758488" y="4987766"/>
            <a:ext cx="5398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代码Agent</a:t>
            </a:r>
          </a:p>
        </p:txBody>
      </p:sp>
      <p:sp>
        <p:nvSpPr>
          <p:cNvPr id="99" name="Rectangle 99"/>
          <p:cNvSpPr/>
          <p:nvPr/>
        </p:nvSpPr>
        <p:spPr>
          <a:xfrm>
            <a:off x="571500" y="5362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680847" y="554307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557338" y="5551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评测框架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833688" y="5551170"/>
            <a:ext cx="10827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233862" y="5386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233862" y="55102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33862" y="56340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233862" y="57578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786438" y="5492591"/>
            <a:ext cx="11933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框架成熟，CI 集成完善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786438" y="56545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企业使用广泛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2038" y="5559266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 Agent 任务体系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758488" y="5559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571500" y="5934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80847" y="6114574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557338" y="6122670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评测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833688" y="6122670"/>
            <a:ext cx="9092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233862" y="5957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233862" y="6081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33862" y="6205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233862" y="6329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786438" y="6064091"/>
            <a:ext cx="17343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轻量成熟，Prompt/模型 A/B 测试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786438" y="62260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快速迭代友好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2038" y="6130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 Agent 评测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758488" y="6130766"/>
            <a:ext cx="6558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6738" y="6551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519238" y="6551295"/>
            <a:ext cx="7728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★★★★★ 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71738" y="6551295"/>
            <a:ext cx="651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★★★★ 良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28988" y="6551295"/>
            <a:ext cx="4093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★★ 弱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186238" y="6551295"/>
            <a:ext cx="2662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| 内网部署 = 内网可运行 + 公网依赖度的综合评价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66738" y="6711791"/>
            <a:ext cx="5414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月。PawBench 底层复用 OpenJudge 评测引擎。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04 </a:t>
            </a:r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/ </a:t>
            </a:r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08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53495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与评测设计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104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03897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2307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5945" y="188690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6913" y="2058352"/>
            <a:ext cx="9308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组合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743950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28049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2474" y="1886902"/>
            <a:ext cx="849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75129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隔离运行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044892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3302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4892" y="1886902"/>
            <a:ext cx="7947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0104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双重评分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2480" y="25241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七维原子能力诊断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8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05 </a:t>
            </a:r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/ </a:t>
            </a:r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08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15023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任务体系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590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526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23266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422" y="2428399"/>
            <a:ext cx="3054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422" y="2599849"/>
            <a:ext cx="23118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804160"/>
            <a:ext cx="169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原子能力 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422" y="2999899"/>
            <a:ext cx="30751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2042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422" y="3399949"/>
            <a:ext cx="2937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6042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422" y="3799999"/>
            <a:ext cx="263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0043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422" y="4200049"/>
            <a:ext cx="24373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dirty="0" smtClean="0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0</a:t>
            </a:r>
            <a:r>
              <a:rPr lang="en-US" sz="1050" dirty="0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6</a:t>
            </a:r>
            <a:r>
              <a:rPr sz="1050" b="0" dirty="0" smtClean="0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</a:t>
            </a:r>
            <a:r>
              <a:rPr sz="1050" b="0" dirty="0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/ </a:t>
            </a:r>
            <a:r>
              <a:rPr sz="1050" b="0" dirty="0" smtClean="0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0</a:t>
            </a:r>
            <a:r>
              <a:rPr lang="en-US" sz="1050" dirty="0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8</a:t>
            </a:r>
            <a:endParaRPr sz="1050" b="0" dirty="0">
              <a:solidFill>
                <a:srgbClr val="1E3A8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6260" y="419100"/>
            <a:ext cx="10795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任务执行与评分实战 · 以 T053 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14400"/>
            <a:ext cx="762000" cy="30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610" y="10160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用一个真实任务卡，看清 PawBench「执行 → 采集 → 评分 → 汇总」的完整评测链路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20800"/>
            <a:ext cx="11049000" cy="7366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1320800"/>
            <a:ext cx="50800" cy="736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14097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 T053</a:t>
            </a:r>
            <a:r>
              <a:rPr sz="11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   ｜  来源 pinchbench   ｜  类型 内容创作·写作   ｜  复杂度 L1   ｜  环境 closed   ｜  评分 hybrid（自动 0.6 + LLM 0.4）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01800"/>
            <a:ext cx="1079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指令：</a:t>
            </a:r>
            <a:r>
              <a:rPr sz="110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撰写一篇约 500 词《远程办公对软件开发者的好处》博客，并保存为 </a:t>
            </a:r>
            <a:r>
              <a:rPr sz="11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  （纯文本、无外部依赖）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31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65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① 沙箱执行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82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782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782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② 结果采集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49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49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49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③ 双重评分 · hybrid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16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916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16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④ 汇总得分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5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Agent 在 Docker 容器中隔离运行，独立执行任务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纯文本创作，无需联网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无外部依赖 / 无预置文件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environment = closed（可离线复现）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超时 300s 内产出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52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harness 采集运行产物与过程：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OpenClaw session → 归一化为 transcript 事件流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   (message / toolCall / toolResult)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新生成文件内容注入 transcript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产物落盘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workspace_path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评分只读这两个输入，对框架中立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19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0.6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文件 blog_post.md 是否存在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 450–550 → 1.0（区间打分）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标题 + 段落结构（≥3 段）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remote / developer 关键词命中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LLM 评判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0.4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质量30 · 结构25 · 写作20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词数15 · 完成度10（Rubric）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86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最终得分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score = 0.6 × 自动分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            + 0.4 × LLM 分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05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混合惩罚机制</a:t>
            </a:r>
          </a:p>
          <a:p>
            <a:pPr algn="l">
              <a:lnSpc>
                <a:spcPct val="115000"/>
              </a:lnSpc>
            </a:pPr>
            <a:r>
              <a:rPr sz="98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自动分 &lt; 0.75 时</a:t>
            </a:r>
          </a:p>
          <a:p>
            <a:pPr algn="l">
              <a:lnSpc>
                <a:spcPct val="115000"/>
              </a:lnSpc>
            </a:pPr>
            <a:r>
              <a:rPr sz="98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  → LLM 分被置 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防止跳过任务 / 空文件刷分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(API 真实失败时豁免)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5588000"/>
            <a:ext cx="11049000" cy="431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8500" y="5588000"/>
            <a:ext cx="107950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一张任务卡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= Prompt + Expected Behavior +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(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代码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) + </a:t>
            </a:r>
            <a:r>
              <a:rPr sz="1200" b="1" dirty="0" smtClean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LLM</a:t>
            </a:r>
            <a:r>
              <a:rPr lang="zh-CN" altLang="en-US" sz="1200" b="1" dirty="0">
                <a:solidFill>
                  <a:srgbClr val="FFFFFF"/>
                </a:solidFill>
                <a:latin typeface="Segoe UI"/>
                <a:cs typeface="Segoe UI"/>
              </a:rPr>
              <a:t>评分细则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　｜　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评分仅依赖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transcript 与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workspace_path，对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Agent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框架保持中立</a:t>
            </a:r>
            <a:endParaRPr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07 </a:t>
            </a:r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/ </a:t>
            </a:r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08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场景与集成方式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集成方式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9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环境部署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4428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一键部署，拉取 PawBench 仓库，配置模型 API 密钥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299335"/>
            <a:ext cx="4252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完成后即可跑通全量 150 道标准化任务，获得基线评测结果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85750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857500"/>
            <a:ext cx="57150" cy="109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内网适配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994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含公网依赖的任务改造为离线可运行，自定义业务相关任务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537585"/>
            <a:ext cx="4686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支持基于 OpenJudge 自定义 Task / Judge / Runner，灵活扩展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40957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4095750"/>
            <a:ext cx="57150" cy="10953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219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持续迭代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537710"/>
            <a:ext cx="33368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开发迭代流程，每次发布自动评测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775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利用五维标签切片分析，精准定位能力变化，推动持续改进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429250"/>
            <a:ext cx="533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429250"/>
            <a:ext cx="5334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66535" y="557450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66916" y="5811202"/>
            <a:ext cx="46171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 和私有化模型接入，纯 Python 实现，无专有依赖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66916" y="6001702"/>
            <a:ext cx="3848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解耦设计，各组件可独立定制和替换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ectangle 5"/>
          <p:cNvSpPr/>
          <p:nvPr/>
        </p:nvSpPr>
        <p:spPr>
          <a:xfrm>
            <a:off x="57150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交叉评测矩阵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51154" y="2394585"/>
            <a:ext cx="21565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Model、Harness 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223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三个维度，回答的不只是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70835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"模型好不好"，更是"部署后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08960"/>
            <a:ext cx="146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的 Agent 好不好用"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3442335"/>
            <a:ext cx="2259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9 模型 × 3 Harness × 150 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680460"/>
            <a:ext cx="1288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= 4,050 评测单元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7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243" y="186975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灵活可扩展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4613529" y="2394585"/>
            <a:ext cx="2389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Task、Judge、Runner 完全解耦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可自定义评测任务和评分规则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8708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五维标签体系支持精细化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3529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切片分析，定位薄弱环节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529" y="3442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3529" y="3680460"/>
            <a:ext cx="161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AgentScope 团队出品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8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1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内网安全就绪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375904" y="2394585"/>
            <a:ext cx="1577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5904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完全私有化部署，数据不出网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5904" y="2870835"/>
            <a:ext cx="21969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 CI/CD，自动回归测试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5904" y="3108960"/>
            <a:ext cx="1613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5904" y="3442335"/>
            <a:ext cx="2547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Python 3.11+ / Docker / 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5904" y="3680460"/>
            <a:ext cx="156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Apache 2.0 开源协议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57700"/>
            <a:ext cx="11049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563880" y="4676775"/>
            <a:ext cx="2813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评测正处于关键转折期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5023" y="5024914"/>
            <a:ext cx="86128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从手工挑选个别案例做主观判断，转向标准化、自动化、多维度的量化评测，是 Agent 从实验走向生产的前提。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5023" y="5310664"/>
            <a:ext cx="9675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一个完整的评测体系需要同时覆盖模型能力、任务框架和运行环境三个独立变量，才能真正回答"我的 Agent 到底好不好用"。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023" y="5596414"/>
            <a:ext cx="59989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开源、可扩展、内网安全的评测基础设施，是推动 Agent 工程化的关键一环。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08 / 08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1925</Words>
  <Application>Microsoft Office PowerPoint</Application>
  <PresentationFormat>自定义</PresentationFormat>
  <Paragraphs>343</Paragraphs>
  <Slides>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pawbench_v2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chinalife</cp:lastModifiedBy>
  <cp:revision>8</cp:revision>
  <dcterms:created xsi:type="dcterms:W3CDTF">2026-07-20T00:49:04Z</dcterms:created>
  <dcterms:modified xsi:type="dcterms:W3CDTF">2026-07-21T00:09:05Z</dcterms:modified>
  <cp:category/>
  <cp:contentStatus/>
  <dc:language/>
</cp:coreProperties>
</file>