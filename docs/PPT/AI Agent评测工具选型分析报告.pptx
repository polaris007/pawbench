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9144000" cy="51435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notesSlides/notesSlide1.xml" Type="http://schemas.openxmlformats.org/officeDocument/2006/relationships/notesSlide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36" Target="notesSlides/notesSlide13.xml" Type="http://schemas.openxmlformats.org/officeDocument/2006/relationships/notesSlide"/><Relationship Id="rId37" Target="notesSlides/notesSlide14.xml" Type="http://schemas.openxmlformats.org/officeDocument/2006/relationships/notesSlide"/><Relationship Id="rId38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随着AI Agent技术在我们业务中的应用日益深入，如何科学、高效地评估其性能，指导我们的研发和迭代，变得至关重要。本次报告将聚焦于为我们私有化部署的OpenClaw及未来的AI Agent，寻找一个最佳的评测方案。我们将通过对6个核心维度、11款主流工具的深入交叉对比，为大家揭示选型背后的逻辑与结论。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大家好，今天我们首先进入报告的第一部分：背景与目标。为什么我们需要进行这次评测选型？随着AI Agent技术的快速发展，市场上涌现了大量的工具和框架，它们在功能、性能和适用场景上都有很大差异。为了避免盲目选型带来的成本浪费和技术风险，我们需要建立一套科学、客观的评测体系，来帮助我们找到最适合业务需求的工具。我们的核心诉求是建立一个可量化的标尺，不仅要评估当前的能力，还要考虑未来的扩展性，同时必须满足企业级的安全合规和成本控制要求。这也是我们开展此次评测的根本原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首先，我们来看一下本次选型的背景和目标。随着公司内部私有化部署的OpenClaw日益成熟，以及未来可能引入更多AI Agent，我们迫切需要一个可靠的评测框架来量化Agent的表现，从而指导迭代优化。我们的核心诉求非常明确：希望有直接可用的评测数据集，避免从零开始的重复开发，以降低前期投入。同时，方案需要具备良好的扩展性，并满足国产化、内网友好和社区活跃的约束条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为了科学、全面地评估各个工具，我们建立了一个六维评估体系。这六个维度分别是：现成数据集、易用性、国产化、扩展性、活跃度和开源情况。我们为每个维度赋予了不同的权重，其中“现成数据集”权重最高，因为它直接关系到我们能否快速启动评测。通过这个体系，我们可以对每个工具进行量化打分，从而做出更客观的决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本次选型我们共考察了10款主流的AI Agent评测工具。从由顶级实验室如阿里通义、清华等主导的项目，到个人开发者维护的工具，覆盖面非常广。大家可以看到，这些工具在任务数量、开发主体和定位上都存在显著差异。例如，PawBench和OpenJudge来自阿里通义，而AgentBench则是学术界的标杆。接下来，我们将详细分析它们的特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在初步筛选后，我们得出了几个关键发现。首先，PawBench在现成数据集的规模和质量上表现突出，这为我们快速启动评测提供了坚实基础。其次，像DeepEval和Promptfoo这类通用框架虽然强大，但它们更像是“工具箱”，而非开箱即用的“成品”，前期投入较大。此外，我们发现部分工具对网络环境有较强依赖，这在内网环境下是个硬伤。最后，PawBench基于成熟的OpenJudge框架，为未来的功能扩展提供了良好的保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接下来，我们深入剖析几个主要的落选工具。首先是学术界大名鼎鼎的AgentBench。它的主要问题在于架构与我们的私有化部署场景不匹配。它采用的服务器-客户端模式和对Docker的强依赖，在内网环境下会带来巨大的部署和维护挑战。更重要的是，它的设计目标是进行通用模型的横向比较，而非服务于企业内部的定制化评测需求，场景上存在错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再来看PinchBench。这款工具虽然专注于评测OpenClaw，但其评测设计存在明显缺陷。例如，在“图像生成”任务上，所有模型得分都几乎为零，这说明它可能测的不是Agent的智能，而是环境配置。同时，其评测结果稳定性很差，单次运行和平均得分差异巨大，导致结果不可靠。再加上它由单一商业公司主导，存在厂商锁定风险，因此我们也不予考虑。右边的图就是它的一个排行榜示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ldClawBench和ClawProBench代表了一类学术性很强的评测基准。它们的优点在于探索了Agent在真实世界、长周期任务中的极限能力。但这也正是它们的缺点——过于学术化，不适合工程实践。一个任务平均耗时8分钟，对于我们日常的快速迭代和回归测试来说，效率太低了。它们的目标是发现问题，而不是衡量进步。这张对比图清晰地展示了它与传统Benchmark在任务复杂度上的巨大差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awBench是一个非常优秀的浏览器Agent评测工具，但其领域局限性非常明显。它的任务几乎全部聚焦于浏览器自动化，无法评估Agent在代码执行、数据库操作等其他方面的能力。对于我们内部多样化的Agent场景来说，它的覆盖面太窄了。同时，作为一个国外主导的项目，其国产化支持也不足。因此，它更适合作为一个专项评测工具，而非通用平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最后来看DeepEval和Promptfoo。这两款工具非常强大，但它们的定位是通用LLM评估框架，而非专为Agent评测量身定制的“开箱即用”套件。它们就像一个功能强大的“工具箱”，但需要我们自己动手去设计和制造“零件”——也就是评测任务和数据集。这对于我们希望快速启动评测的目标来说，前期投入太大。它们更适合已经有成熟评测体系，需要深度定制的团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综合以上所有分析，我们将各个维度的评分进行加权计算，得到了这张综合评分对比表。可以看到，PawBench以9.55分的绝对优势位居榜首。它在数据集、国产化、易用性和活跃度等关键维度上都获得了满分或接近满分的评价。其他工具虽然各有亮点，但在综合表现上均有明显短板。这张表格清晰地展示了为什么PawBench是我们的最佳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所以，我们的最终结论非常明确：选择PawBench。它不仅在综合评分上遥遥领先，更重要的是，它完美契合了我们的核心需求。它提供了开箱即用的丰富任务集，原生支持我们现有的OpenClaw，是成熟的国产方案，并且对我们的内网环境非常友好。基于OpenJudge的架构也保证了其强大的扩展性。可以说，PawBench是目前最适合我们内部研发场景的评测工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选型确定后，我们规划了四步实施路线。第一步，正式确认选型。第二步，准备环境，我们会在外网构建好Docker镜像和依赖包，然后传输到内网。第三步，进行首次评测，运行基准任务，为我们的Agent建立一个性能基线。第四步，进入持续迭代阶段，根据评测结果定位问题，进行优化，再评测，形成一个良性循环。未来，我们还可以将这套体系扩展到其他Harness的横向对比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我的报告到此结束，感谢大家的聆听。现在是问答环节，欢迎大家就今天的内容提问交流。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5.xml" Type="http://schemas.openxmlformats.org/officeDocument/2006/relationships/notesSlide"/><Relationship Id="rId4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733800" y="1066800"/>
            <a:ext cx="1663700" cy="635000"/>
          </a:xfrm>
          <a:prstGeom prst="roundRect">
            <a:avLst>
              <a:gd name="adj" fmla="val 40000"/>
            </a:avLst>
          </a:prstGeom>
          <a:solidFill>
            <a:srgbClr val="2A9D8F">
              <a:alpha val="25000"/>
            </a:srgbClr>
          </a:solidFill>
          <a:ln w="12700" cmpd="sng" cap="flat">
            <a:solidFill>
              <a:srgbClr val="2A9D8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975100" y="1295400"/>
            <a:ext cx="1206500" cy="190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Bef>
                <a:spcPts val="1100"/>
              </a:spcBef>
              <a:spcAft>
                <a:spcPts val="1100"/>
              </a:spcAft>
              <a:defRPr/>
            </a:pPr>
            <a:r>
              <a:rPr lang="en-US" b="false" i="false" strike="noStrike" u="none" sz="1100">
                <a:solidFill>
                  <a:srgbClr val="8FD9D1"/>
                </a:solidFill>
                <a:latin typeface="Arial"/>
                <a:ea typeface="Arial"/>
                <a:cs typeface="Arial"/>
                <a:sym typeface="Arial"/>
              </a:rPr>
              <a:t>选型报告 · 2026.07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155700" y="2019300"/>
            <a:ext cx="6845300" cy="673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Agent 评测工具选型分析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064000" y="28321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2A9D8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358900" y="3263900"/>
            <a:ext cx="6426200" cy="292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spcAft>
                <a:spcPts val="4000"/>
              </a:spcAft>
              <a:defRPr/>
            </a:pPr>
            <a:r>
              <a:rPr lang="en-US" b="false" i="false" strike="noStrike" u="none" sz="1800">
                <a:solidFill>
                  <a:srgbClr val="AAB7C8"/>
                </a:solidFill>
                <a:latin typeface="Arial"/>
                <a:ea typeface="Arial"/>
                <a:cs typeface="Arial"/>
                <a:sym typeface="Arial"/>
              </a:rPr>
              <a:t>为私有化部署的 OpenClaw 及未来 AI Agent 选择最佳评测方案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667000" y="4406900"/>
            <a:ext cx="3810000" cy="203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en-US" b="false" i="false" strike="noStrike" u="none" sz="1200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基于6维度11款工具的交叉对比分析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2794000" cy="5143500"/>
          </a:xfrm>
          <a:prstGeom prst="roundRect">
            <a:avLst>
              <a:gd name="adj" fmla="val 0"/>
            </a:avLst>
          </a:prstGeom>
          <a:solidFill>
            <a:srgbClr val="1B2A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54000" y="381000"/>
            <a:ext cx="2336800" cy="1041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8159"/>
              </a:lnSpc>
              <a:spcAft>
                <a:spcPts val="400"/>
              </a:spcAft>
              <a:defRPr/>
            </a:pPr>
            <a:r>
              <a:rPr lang="en-US" b="true" i="false" strike="noStrike" u="none" sz="48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54000" y="1473200"/>
            <a:ext cx="2336800" cy="3429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2720"/>
              </a:lnSpc>
              <a:spcAft>
                <a:spcPts val="2000"/>
              </a:spcAft>
              <a:defRPr/>
            </a:pPr>
            <a:r>
              <a:rPr lang="en-US" b="true" i="false" strike="noStrike" u="none" sz="160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背景与目标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54000" y="2070100"/>
            <a:ext cx="2336800" cy="203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600"/>
              </a:lnSpc>
              <a:defRPr/>
            </a:pPr>
            <a:r>
              <a:rPr lang="en-US" b="false" i="false" strike="noStrike" u="none" sz="1000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明确动因与价值导向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251200" y="381000"/>
            <a:ext cx="5549900" cy="406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1600"/>
              </a:spcAft>
              <a:defRPr/>
            </a:pPr>
            <a:r>
              <a:rPr lang="en-US" b="true" i="false" strike="noStrike" u="none" sz="24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为什么需要评测选型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251200" y="977900"/>
            <a:ext cx="635000" cy="38100"/>
          </a:xfrm>
          <a:prstGeom prst="roundRect">
            <a:avLst>
              <a:gd name="adj" fmla="val 66666"/>
            </a:avLst>
          </a:prstGeom>
          <a:solidFill>
            <a:srgbClr val="2A9D8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251200" y="1270000"/>
            <a:ext cx="5549900" cy="5207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2039"/>
              </a:lnSpc>
              <a:spcAft>
                <a:spcPts val="1200"/>
              </a:spcAft>
              <a:defRPr/>
            </a:pPr>
            <a:r>
              <a:rPr lang="en-US" b="false" i="false" strike="noStrike" u="none" sz="120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随着AI Agent技术爆发式发展，市场工具鱼龙混杂，功能与适配性差异显著。</a:t>
            </a:r>
            <a:r>
              <a:rPr lang="en-US" b="false" i="false" strike="noStrike" u="none" sz="120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lang="en-US" sz="1100"/>
          </a:p>
          <a:p>
            <a:pPr algn="l" marL="0" indent="0">
              <a:lnSpc>
                <a:spcPts val="2039"/>
              </a:lnSpc>
              <a:spcAft>
                <a:spcPts val="1200"/>
              </a:spcAft>
            </a:pPr>
            <a:r>
              <a:rPr lang="en-US" b="false" i="false" strike="noStrike" u="none" sz="120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为避免盲目选型带来的成本浪费与落地风险，亟需建立科学的评测体系，实现技术与业务的精准匹配。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251200" y="1943100"/>
            <a:ext cx="5435600" cy="8255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0" id="10"/>
          <p:cNvCxnSpPr/>
          <p:nvPr/>
        </p:nvCxnSpPr>
        <p:spPr>
          <a:xfrm rot="5295839" flipH="false" flipV="false">
            <a:off x="2863803" y="2355898"/>
            <a:ext cx="83829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2A9D8F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3505200" y="2095500"/>
            <a:ext cx="50800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2039"/>
              </a:lnSpc>
              <a:spcAft>
                <a:spcPts val="400"/>
              </a:spcAft>
              <a:defRPr/>
            </a:pPr>
            <a:r>
              <a:rPr lang="en-US" b="true" i="false" strike="noStrike" u="none" sz="12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核心诉求：建立量化标尺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505200" y="2413000"/>
            <a:ext cx="5080000" cy="2159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700"/>
              </a:lnSpc>
              <a:defRPr/>
            </a:pPr>
            <a:r>
              <a:rPr lang="en-US" b="false" i="false" strike="noStrike" u="none"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构建覆盖功能完备性、任务成功率、响应速度的多维度指标，让选型决策有据可依。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251200" y="2882900"/>
            <a:ext cx="5435600" cy="8255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4" id="14"/>
          <p:cNvCxnSpPr/>
          <p:nvPr/>
        </p:nvCxnSpPr>
        <p:spPr>
          <a:xfrm rot="5294237" flipH="false" flipV="false">
            <a:off x="2870152" y="3289349"/>
            <a:ext cx="82559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2A9D8F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3505200" y="3035300"/>
            <a:ext cx="50800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2039"/>
              </a:lnSpc>
              <a:spcAft>
                <a:spcPts val="400"/>
              </a:spcAft>
              <a:defRPr/>
            </a:pPr>
            <a:r>
              <a:rPr lang="en-US" b="true" i="false" strike="noStrike" u="none" sz="12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扩展需求：适配未来演进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505200" y="3340100"/>
            <a:ext cx="5080000" cy="2159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700"/>
              </a:lnSpc>
              <a:defRPr/>
            </a:pPr>
            <a:r>
              <a:rPr lang="en-US" b="false" i="false" strike="noStrike" u="none"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支持多行业场景适配，兼容主流大模型底座，可灵活扩展新评测维度与工具接入。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251200" y="3810000"/>
            <a:ext cx="5435600" cy="8255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8" id="18"/>
          <p:cNvCxnSpPr/>
          <p:nvPr/>
        </p:nvCxnSpPr>
        <p:spPr>
          <a:xfrm rot="5294237" flipH="false" flipV="false">
            <a:off x="2870152" y="4216449"/>
            <a:ext cx="82559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2A9D8F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3505200" y="3962400"/>
            <a:ext cx="50800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2039"/>
              </a:lnSpc>
              <a:spcAft>
                <a:spcPts val="400"/>
              </a:spcAft>
              <a:defRPr/>
            </a:pPr>
            <a:r>
              <a:rPr lang="en-US" b="true" i="false" strike="noStrike" u="none" sz="12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约束条件：保障落地实效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505200" y="4267200"/>
            <a:ext cx="5080000" cy="2159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700"/>
              </a:lnSpc>
              <a:defRPr/>
            </a:pPr>
            <a:r>
              <a:rPr lang="en-US" b="false" i="false" strike="noStrike" u="none"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满足企业级数据安全与合规要求，兼顾部署成本与维护效率，优先选择高活跃度社区工具。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2794000" cy="5143500"/>
          </a:xfrm>
          <a:prstGeom prst="roundRect">
            <a:avLst>
              <a:gd name="adj" fmla="val 0"/>
            </a:avLst>
          </a:prstGeom>
          <a:solidFill>
            <a:srgbClr val="1B2A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54000" y="381000"/>
            <a:ext cx="2336800" cy="1041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8159"/>
              </a:lnSpc>
              <a:spcAft>
                <a:spcPts val="400"/>
              </a:spcAft>
              <a:defRPr/>
            </a:pPr>
            <a:r>
              <a:rPr lang="en-US" b="true" i="false" strike="noStrike" u="none" sz="48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54000" y="1473200"/>
            <a:ext cx="2336800" cy="3429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2720"/>
              </a:lnSpc>
              <a:spcAft>
                <a:spcPts val="2000"/>
              </a:spcAft>
              <a:defRPr/>
            </a:pPr>
            <a:r>
              <a:rPr lang="en-US" b="true" i="false" strike="noStrike" u="none" sz="160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背景与目标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54000" y="2070100"/>
            <a:ext cx="2336800" cy="203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600"/>
              </a:lnSpc>
              <a:defRPr/>
            </a:pPr>
            <a:r>
              <a:rPr lang="en-US" b="false" i="false" strike="noStrike" u="none" sz="1000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确定评测框架选型方向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251200" y="381000"/>
            <a:ext cx="5549900" cy="406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1600"/>
              </a:spcAft>
              <a:defRPr/>
            </a:pPr>
            <a:r>
              <a:rPr lang="en-US" b="true" i="false" strike="noStrike" u="none" sz="24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为什么需要评测选型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251200" y="977900"/>
            <a:ext cx="635000" cy="38100"/>
          </a:xfrm>
          <a:prstGeom prst="roundRect">
            <a:avLst>
              <a:gd name="adj" fmla="val 66666"/>
            </a:avLst>
          </a:prstGeom>
          <a:solidFill>
            <a:srgbClr val="2A9D8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251200" y="1270000"/>
            <a:ext cx="5549900" cy="5207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2039"/>
              </a:lnSpc>
              <a:spcAft>
                <a:spcPts val="1200"/>
              </a:spcAft>
              <a:defRPr/>
            </a:pPr>
            <a:r>
              <a:rPr lang="en-US" b="false" i="false" strike="noStrike" u="none" sz="120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随着内部私有化OpenClaw日趋成熟，未来将引入更多AI Agent，亟需可靠评测框架来量化表现，指导迭代优化并确立选型标准。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251200" y="1943100"/>
            <a:ext cx="5435600" cy="8255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0" id="10"/>
          <p:cNvCxnSpPr/>
          <p:nvPr/>
        </p:nvCxnSpPr>
        <p:spPr>
          <a:xfrm rot="5295839" flipH="false" flipV="false">
            <a:off x="2863803" y="2355898"/>
            <a:ext cx="83829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2A9D8F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3505200" y="2095500"/>
            <a:ext cx="50800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2039"/>
              </a:lnSpc>
              <a:spcAft>
                <a:spcPts val="400"/>
              </a:spcAft>
              <a:defRPr/>
            </a:pPr>
            <a:r>
              <a:rPr lang="en-US" b="true" i="false" strike="noStrike" u="none" sz="12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核心诉求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505200" y="2413000"/>
            <a:ext cx="5080000" cy="2159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700"/>
              </a:lnSpc>
              <a:defRPr/>
            </a:pPr>
            <a:r>
              <a:rPr lang="en-US" b="false" i="false" strike="noStrike" u="none"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拥有开箱即用的Agent评测数据集，减少前期开发与数据构建工作量，快速启动验证。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251200" y="2882900"/>
            <a:ext cx="5435600" cy="8255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4" id="14"/>
          <p:cNvCxnSpPr/>
          <p:nvPr/>
        </p:nvCxnSpPr>
        <p:spPr>
          <a:xfrm rot="5294237" flipH="false" flipV="false">
            <a:off x="2870152" y="3289349"/>
            <a:ext cx="82559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2A9D8F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3505200" y="3035300"/>
            <a:ext cx="50800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2039"/>
              </a:lnSpc>
              <a:spcAft>
                <a:spcPts val="400"/>
              </a:spcAft>
              <a:defRPr/>
            </a:pPr>
            <a:r>
              <a:rPr lang="en-US" b="true" i="false" strike="noStrike" u="none" sz="12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扩展需求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505200" y="3340100"/>
            <a:ext cx="5080000" cy="2159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700"/>
              </a:lnSpc>
              <a:defRPr/>
            </a:pPr>
            <a:r>
              <a:rPr lang="en-US" b="false" i="false" strike="noStrike" u="none"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方案需原生支持OpenClaw架构，同时具备适配其他主流Agent Harness的灵活扩展能力。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251200" y="3810000"/>
            <a:ext cx="5435600" cy="8255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8" id="18"/>
          <p:cNvCxnSpPr/>
          <p:nvPr/>
        </p:nvCxnSpPr>
        <p:spPr>
          <a:xfrm rot="5294237" flipH="false" flipV="false">
            <a:off x="2870152" y="4216449"/>
            <a:ext cx="82559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2A9D8F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3505200" y="3962400"/>
            <a:ext cx="50800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2039"/>
              </a:lnSpc>
              <a:spcAft>
                <a:spcPts val="400"/>
              </a:spcAft>
              <a:defRPr/>
            </a:pPr>
            <a:r>
              <a:rPr lang="en-US" b="true" i="false" strike="noStrike" u="none" sz="12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约束条件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505200" y="4267200"/>
            <a:ext cx="5080000" cy="2159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700"/>
              </a:lnSpc>
              <a:defRPr/>
            </a:pPr>
            <a:r>
              <a:rPr lang="en-US" b="false" i="false" strike="noStrike" u="none"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优先考虑国产化方案，支持内网离线环境稳定运行，且具备活跃社区以保障长期维护。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876300"/>
          </a:xfrm>
          <a:prstGeom prst="roundRect">
            <a:avLst>
              <a:gd name="adj" fmla="val 0"/>
            </a:avLst>
          </a:prstGeom>
          <a:solidFill>
            <a:srgbClr val="1B2A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990600" y="266700"/>
            <a:ext cx="2540000" cy="330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六维评估体系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54000" y="1028700"/>
            <a:ext cx="4254500" cy="660400"/>
          </a:xfrm>
          <a:prstGeom prst="roundRect">
            <a:avLst>
              <a:gd name="adj" fmla="val 1153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31800" y="1155700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2A9D8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33400" y="1219200"/>
            <a:ext cx="203200" cy="279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65200" y="1155700"/>
            <a:ext cx="3429000" cy="190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200"/>
              </a:spcAft>
              <a:defRPr/>
            </a:pPr>
            <a:r>
              <a:rPr lang="en-US" b="false" i="false" strike="noStrike" u="none" sz="11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现成数据集</a:t>
            </a:r>
            <a:r>
              <a:rPr lang="en-US" b="true" i="false" strike="noStrike" u="none" sz="9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(权重 30%)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65200" y="1371600"/>
            <a:ext cx="34290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是否具备可直接使用的Agent评测任务，无需额外开发，快速启动验证。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54000" y="1765300"/>
            <a:ext cx="4254500" cy="660400"/>
          </a:xfrm>
          <a:prstGeom prst="roundRect">
            <a:avLst>
              <a:gd name="adj" fmla="val 1153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1800" y="1892300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E76F5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33400" y="1955800"/>
            <a:ext cx="203200" cy="279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65200" y="1892300"/>
            <a:ext cx="3429000" cy="190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200"/>
              </a:spcAft>
              <a:defRPr/>
            </a:pPr>
            <a:r>
              <a:rPr lang="en-US" b="false" i="false" strike="noStrike" u="none" sz="11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易用性</a:t>
            </a:r>
            <a:r>
              <a:rPr lang="en-US" b="true" i="false" strike="noStrike" u="none" sz="9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(权重 20%)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65200" y="2108200"/>
            <a:ext cx="34290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部署门槛低，文档完善且易于理解，具备开箱即用的便捷体验。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54000" y="2501900"/>
            <a:ext cx="4254500" cy="660400"/>
          </a:xfrm>
          <a:prstGeom prst="roundRect">
            <a:avLst>
              <a:gd name="adj" fmla="val 1153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31800" y="2628900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1B2A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33400" y="2692400"/>
            <a:ext cx="203200" cy="279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65200" y="2628900"/>
            <a:ext cx="3429000" cy="190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200"/>
              </a:spcAft>
              <a:defRPr/>
            </a:pPr>
            <a:r>
              <a:rPr lang="en-US" b="false" i="false" strike="noStrike" u="none" sz="11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国产化</a:t>
            </a:r>
            <a:r>
              <a:rPr lang="en-US" b="true" i="false" strike="noStrike" u="none" sz="9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(权重 15%)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65200" y="2844800"/>
            <a:ext cx="34290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由国产团队维护，原生支持中文语境，对国产大模型适配友好。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635500" y="1028700"/>
            <a:ext cx="4254500" cy="660400"/>
          </a:xfrm>
          <a:prstGeom prst="roundRect">
            <a:avLst>
              <a:gd name="adj" fmla="val 1153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813300" y="1155700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2A9D8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914900" y="1219200"/>
            <a:ext cx="203200" cy="279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④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346700" y="1155700"/>
            <a:ext cx="3429000" cy="190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200"/>
              </a:spcAft>
              <a:defRPr/>
            </a:pPr>
            <a:r>
              <a:rPr lang="en-US" b="false" i="false" strike="noStrike" u="none" sz="11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扩展性</a:t>
            </a:r>
            <a:r>
              <a:rPr lang="en-US" b="true" i="false" strike="noStrike" u="none" sz="9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(权重 15%)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346700" y="1371600"/>
            <a:ext cx="34290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支持自定义评测任务，可灵活对接不同模型Harness与底层大模型。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635500" y="1765300"/>
            <a:ext cx="4254500" cy="660400"/>
          </a:xfrm>
          <a:prstGeom prst="roundRect">
            <a:avLst>
              <a:gd name="adj" fmla="val 1153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813300" y="1892300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E76F5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914900" y="1955800"/>
            <a:ext cx="203200" cy="279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⑤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5346700" y="1892300"/>
            <a:ext cx="3429000" cy="190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200"/>
              </a:spcAft>
              <a:defRPr/>
            </a:pPr>
            <a:r>
              <a:rPr lang="en-US" b="false" i="false" strike="noStrike" u="none" sz="11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活跃度</a:t>
            </a:r>
            <a:r>
              <a:rPr lang="en-US" b="true" i="false" strike="noStrike" u="none" sz="9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(权重 10%)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5346700" y="2108200"/>
            <a:ext cx="34290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GitHub代码更新频率高，社区讨论活跃，维护团队背景可靠。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4635500" y="2501900"/>
            <a:ext cx="4254500" cy="660400"/>
          </a:xfrm>
          <a:prstGeom prst="roundRect">
            <a:avLst>
              <a:gd name="adj" fmla="val 1153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4813300" y="2628900"/>
            <a:ext cx="406400" cy="406400"/>
          </a:xfrm>
          <a:prstGeom prst="roundRect">
            <a:avLst>
              <a:gd name="adj" fmla="val 25000"/>
            </a:avLst>
          </a:prstGeom>
          <a:solidFill>
            <a:srgbClr val="1B2A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4914900" y="2692400"/>
            <a:ext cx="203200" cy="279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⑥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5346700" y="2628900"/>
            <a:ext cx="3429000" cy="190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200"/>
              </a:spcAft>
              <a:defRPr/>
            </a:pPr>
            <a:r>
              <a:rPr lang="en-US" b="false" i="false" strike="noStrike" u="none" sz="11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开源情况</a:t>
            </a:r>
            <a:r>
              <a:rPr lang="en-US" b="true" i="false" strike="noStrike" u="none" sz="9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(权重 10%)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5346700" y="2844800"/>
            <a:ext cx="34290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代码完全开源且协议友好，无商业使用限制，支持二次开发。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876300"/>
          </a:xfrm>
          <a:prstGeom prst="roundRect">
            <a:avLst>
              <a:gd name="adj" fmla="val 0"/>
            </a:avLst>
          </a:prstGeom>
          <a:solidFill>
            <a:srgbClr val="1B2A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990600" y="266700"/>
            <a:ext cx="1549400" cy="330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候选工具概览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54000" y="1003300"/>
            <a:ext cx="2870200" cy="736600"/>
          </a:xfrm>
          <a:prstGeom prst="roundRect">
            <a:avLst>
              <a:gd name="adj" fmla="val 1034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5" id="5"/>
          <p:cNvCxnSpPr/>
          <p:nvPr/>
        </p:nvCxnSpPr>
        <p:spPr>
          <a:xfrm rot="5281477" flipH="false" flipV="false">
            <a:off x="-95304" y="1365305"/>
            <a:ext cx="73670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2A9D8F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469900" y="1130300"/>
            <a:ext cx="2527300" cy="152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200"/>
              </a:spcAft>
              <a:defRPr/>
            </a:pPr>
            <a:r>
              <a:rPr lang="en-US" b="true" i="false" strike="noStrike" u="none" sz="11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PawBench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69900" y="1308100"/>
            <a:ext cx="2527300" cy="1397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b="false" i="false" strike="noStrike" u="none" sz="800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阿里通义实验室 · 150 任务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69900" y="1473200"/>
            <a:ext cx="762000" cy="139700"/>
          </a:xfrm>
          <a:prstGeom prst="roundRect">
            <a:avLst>
              <a:gd name="adj" fmla="val 72727"/>
            </a:avLst>
          </a:prstGeom>
          <a:solidFill>
            <a:srgbClr val="E8F5E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46100" y="1485900"/>
            <a:ext cx="635000" cy="1143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700">
                <a:solidFill>
                  <a:srgbClr val="388E3C"/>
                </a:solidFill>
                <a:latin typeface="Arial"/>
                <a:ea typeface="Arial"/>
                <a:cs typeface="Arial"/>
                <a:sym typeface="Arial"/>
              </a:rPr>
              <a:t>社区活跃度高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200400" y="1003300"/>
            <a:ext cx="2870200" cy="736600"/>
          </a:xfrm>
          <a:prstGeom prst="roundRect">
            <a:avLst>
              <a:gd name="adj" fmla="val 1034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1" id="11"/>
          <p:cNvCxnSpPr/>
          <p:nvPr/>
        </p:nvCxnSpPr>
        <p:spPr>
          <a:xfrm rot="5281477" flipH="false" flipV="false">
            <a:off x="2851096" y="1365305"/>
            <a:ext cx="73670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2A9D8F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3416300" y="1130300"/>
            <a:ext cx="2527300" cy="152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200"/>
              </a:spcAft>
              <a:defRPr/>
            </a:pPr>
            <a:r>
              <a:rPr lang="en-US" b="true" i="false" strike="noStrike" u="none" sz="11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OpenJudge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416300" y="1308100"/>
            <a:ext cx="2527300" cy="1397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b="false" i="false" strike="noStrike" u="none" sz="800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阿里通义实验室 · 通用评测框架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416300" y="1473200"/>
            <a:ext cx="762000" cy="139700"/>
          </a:xfrm>
          <a:prstGeom prst="roundRect">
            <a:avLst>
              <a:gd name="adj" fmla="val 72727"/>
            </a:avLst>
          </a:prstGeom>
          <a:solidFill>
            <a:srgbClr val="E8F5E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492500" y="1485900"/>
            <a:ext cx="635000" cy="1143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700">
                <a:solidFill>
                  <a:srgbClr val="388E3C"/>
                </a:solidFill>
                <a:latin typeface="Arial"/>
                <a:ea typeface="Arial"/>
                <a:cs typeface="Arial"/>
                <a:sym typeface="Arial"/>
              </a:rPr>
              <a:t>系统扩展性强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254000" y="1816100"/>
            <a:ext cx="2870200" cy="736600"/>
          </a:xfrm>
          <a:prstGeom prst="roundRect">
            <a:avLst>
              <a:gd name="adj" fmla="val 1034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7" id="17"/>
          <p:cNvCxnSpPr/>
          <p:nvPr/>
        </p:nvCxnSpPr>
        <p:spPr>
          <a:xfrm rot="5283485" flipH="false" flipV="false">
            <a:off x="-101653" y="2184454"/>
            <a:ext cx="74940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2A9D8F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469900" y="1943100"/>
            <a:ext cx="2527300" cy="152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200"/>
              </a:spcAft>
              <a:defRPr/>
            </a:pPr>
            <a:r>
              <a:rPr lang="en-US" b="true" i="false" strike="noStrike" u="none" sz="11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WildClawBench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69900" y="2120900"/>
            <a:ext cx="2527300" cy="1397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b="false" i="false" strike="noStrike" u="none" sz="800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上海 AI Lab · 60 任务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69900" y="2298700"/>
            <a:ext cx="889000" cy="139700"/>
          </a:xfrm>
          <a:prstGeom prst="roundRect">
            <a:avLst>
              <a:gd name="adj" fmla="val 72727"/>
            </a:avLst>
          </a:prstGeom>
          <a:solidFill>
            <a:srgbClr val="E8F5E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46100" y="2311400"/>
            <a:ext cx="762000" cy="1143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700">
                <a:solidFill>
                  <a:srgbClr val="388E3C"/>
                </a:solidFill>
                <a:latin typeface="Arial"/>
                <a:ea typeface="Arial"/>
                <a:cs typeface="Arial"/>
                <a:sym typeface="Arial"/>
              </a:rPr>
              <a:t>长周期复杂任务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200400" y="1816100"/>
            <a:ext cx="2870200" cy="736600"/>
          </a:xfrm>
          <a:prstGeom prst="roundRect">
            <a:avLst>
              <a:gd name="adj" fmla="val 1034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23" id="23"/>
          <p:cNvCxnSpPr/>
          <p:nvPr/>
        </p:nvCxnSpPr>
        <p:spPr>
          <a:xfrm rot="5283485" flipH="false" flipV="false">
            <a:off x="2844747" y="2184454"/>
            <a:ext cx="74940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2A9D8F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3416300" y="1943100"/>
            <a:ext cx="2527300" cy="152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200"/>
              </a:spcAft>
              <a:defRPr/>
            </a:pPr>
            <a:r>
              <a:rPr lang="en-US" b="true" i="false" strike="noStrike" u="none" sz="11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ClawBench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3416300" y="2120900"/>
            <a:ext cx="2527300" cy="1397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b="false" i="false" strike="noStrike" u="none" sz="800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OpenClaw 官方 · 19 任务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3416300" y="2298700"/>
            <a:ext cx="762000" cy="139700"/>
          </a:xfrm>
          <a:prstGeom prst="roundRect">
            <a:avLst>
              <a:gd name="adj" fmla="val 72727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3492500" y="2311400"/>
            <a:ext cx="635000" cy="1143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浏览器Agent专用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254000" y="2641600"/>
            <a:ext cx="2870200" cy="736600"/>
          </a:xfrm>
          <a:prstGeom prst="roundRect">
            <a:avLst>
              <a:gd name="adj" fmla="val 1034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29" id="29"/>
          <p:cNvCxnSpPr/>
          <p:nvPr/>
        </p:nvCxnSpPr>
        <p:spPr>
          <a:xfrm rot="5281477" flipH="false" flipV="false">
            <a:off x="-95304" y="3003605"/>
            <a:ext cx="73670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2A9D8F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name="AutoShape 30" id="30"/>
          <p:cNvSpPr/>
          <p:nvPr/>
        </p:nvSpPr>
        <p:spPr>
          <a:xfrm rot="0" flipH="false" flipV="false">
            <a:off x="469900" y="2768600"/>
            <a:ext cx="2527300" cy="152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200"/>
              </a:spcAft>
              <a:defRPr/>
            </a:pPr>
            <a:r>
              <a:rPr lang="en-US" b="true" i="false" strike="noStrike" u="none" sz="11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BenchClaw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469900" y="2946400"/>
            <a:ext cx="2527300" cy="1397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b="false" i="false" strike="noStrike" u="none" sz="800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个人维护 · 1024+ 任务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469900" y="3111500"/>
            <a:ext cx="889000" cy="139700"/>
          </a:xfrm>
          <a:prstGeom prst="roundRect">
            <a:avLst>
              <a:gd name="adj" fmla="val 72727"/>
            </a:avLst>
          </a:prstGeom>
          <a:solidFill>
            <a:srgbClr val="FFF3E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546100" y="3124200"/>
            <a:ext cx="762000" cy="1143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700">
                <a:solidFill>
                  <a:srgbClr val="E65100"/>
                </a:solidFill>
                <a:latin typeface="Arial"/>
                <a:ea typeface="Arial"/>
                <a:cs typeface="Arial"/>
                <a:sym typeface="Arial"/>
              </a:rPr>
              <a:t>数据源不可靠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3200400" y="2641600"/>
            <a:ext cx="2870200" cy="736600"/>
          </a:xfrm>
          <a:prstGeom prst="roundRect">
            <a:avLst>
              <a:gd name="adj" fmla="val 1034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35" id="35"/>
          <p:cNvCxnSpPr/>
          <p:nvPr/>
        </p:nvCxnSpPr>
        <p:spPr>
          <a:xfrm rot="5281477" flipH="false" flipV="false">
            <a:off x="2851096" y="3003605"/>
            <a:ext cx="73670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2A9D8F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name="AutoShape 36" id="36"/>
          <p:cNvSpPr/>
          <p:nvPr/>
        </p:nvSpPr>
        <p:spPr>
          <a:xfrm rot="0" flipH="false" flipV="false">
            <a:off x="3416300" y="2768600"/>
            <a:ext cx="2527300" cy="152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200"/>
              </a:spcAft>
              <a:defRPr/>
            </a:pPr>
            <a:r>
              <a:rPr lang="en-US" b="true" i="false" strike="noStrike" u="none" sz="11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ClawProBench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3416300" y="2946400"/>
            <a:ext cx="2527300" cy="1397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b="false" i="false" strike="noStrike" u="none" sz="800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个人项目 · 25 任务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3416300" y="3111500"/>
            <a:ext cx="762000" cy="139700"/>
          </a:xfrm>
          <a:prstGeom prst="roundRect">
            <a:avLst>
              <a:gd name="adj" fmla="val 72727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3492500" y="3124200"/>
            <a:ext cx="635000" cy="1143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适用场景较窄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254000" y="3454400"/>
            <a:ext cx="2870200" cy="736600"/>
          </a:xfrm>
          <a:prstGeom prst="roundRect">
            <a:avLst>
              <a:gd name="adj" fmla="val 1034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41" id="41"/>
          <p:cNvCxnSpPr/>
          <p:nvPr/>
        </p:nvCxnSpPr>
        <p:spPr>
          <a:xfrm rot="5283485" flipH="false" flipV="false">
            <a:off x="-101653" y="3822754"/>
            <a:ext cx="74940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2A9D8F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name="AutoShape 42" id="42"/>
          <p:cNvSpPr/>
          <p:nvPr/>
        </p:nvSpPr>
        <p:spPr>
          <a:xfrm rot="0" flipH="false" flipV="false">
            <a:off x="469900" y="3581400"/>
            <a:ext cx="2527300" cy="152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200"/>
              </a:spcAft>
              <a:defRPr/>
            </a:pPr>
            <a:r>
              <a:rPr lang="en-US" b="true" i="false" strike="noStrike" u="none" sz="11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PinchBench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469900" y="3759200"/>
            <a:ext cx="2527300" cy="1397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b="false" i="false" strike="noStrike" u="none" sz="800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Kilo Code · 23 任务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469900" y="3937000"/>
            <a:ext cx="762000" cy="139700"/>
          </a:xfrm>
          <a:prstGeom prst="roundRect">
            <a:avLst>
              <a:gd name="adj" fmla="val 72727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546100" y="3949700"/>
            <a:ext cx="635000" cy="1143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评测结果不稳定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3200400" y="3454400"/>
            <a:ext cx="2870200" cy="736600"/>
          </a:xfrm>
          <a:prstGeom prst="roundRect">
            <a:avLst>
              <a:gd name="adj" fmla="val 1034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47" id="47"/>
          <p:cNvCxnSpPr/>
          <p:nvPr/>
        </p:nvCxnSpPr>
        <p:spPr>
          <a:xfrm rot="5283485" flipH="false" flipV="false">
            <a:off x="2844747" y="3822754"/>
            <a:ext cx="74940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2A9D8F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name="AutoShape 48" id="48"/>
          <p:cNvSpPr/>
          <p:nvPr/>
        </p:nvSpPr>
        <p:spPr>
          <a:xfrm rot="0" flipH="false" flipV="false">
            <a:off x="3416300" y="3581400"/>
            <a:ext cx="2527300" cy="152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200"/>
              </a:spcAft>
              <a:defRPr/>
            </a:pPr>
            <a:r>
              <a:rPr lang="en-US" b="true" i="false" strike="noStrike" u="none" sz="11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AgentBench</a:t>
            </a:r>
            <a:endParaRPr lang="en-US" sz="1100"/>
          </a:p>
        </p:txBody>
      </p:sp>
      <p:sp>
        <p:nvSpPr>
          <p:cNvPr name="AutoShape 49" id="49"/>
          <p:cNvSpPr/>
          <p:nvPr/>
        </p:nvSpPr>
        <p:spPr>
          <a:xfrm rot="0" flipH="false" flipV="false">
            <a:off x="3416300" y="3759200"/>
            <a:ext cx="2527300" cy="1397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b="false" i="false" strike="noStrike" u="none" sz="800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多校联合 · 1360 任务</a:t>
            </a:r>
            <a:endParaRPr lang="en-US" sz="1100"/>
          </a:p>
        </p:txBody>
      </p:sp>
      <p:sp>
        <p:nvSpPr>
          <p:cNvPr name="AutoShape 50" id="50"/>
          <p:cNvSpPr/>
          <p:nvPr/>
        </p:nvSpPr>
        <p:spPr>
          <a:xfrm rot="0" flipH="false" flipV="false">
            <a:off x="3416300" y="3937000"/>
            <a:ext cx="889000" cy="139700"/>
          </a:xfrm>
          <a:prstGeom prst="roundRect">
            <a:avLst>
              <a:gd name="adj" fmla="val 72727"/>
            </a:avLst>
          </a:prstGeom>
          <a:solidFill>
            <a:srgbClr val="F3F4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1" id="51"/>
          <p:cNvSpPr/>
          <p:nvPr/>
        </p:nvSpPr>
        <p:spPr>
          <a:xfrm rot="0" flipH="false" flipV="false">
            <a:off x="3492500" y="3949700"/>
            <a:ext cx="762000" cy="1143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7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架构不适合内网</a:t>
            </a:r>
            <a:endParaRPr lang="en-US" sz="1100"/>
          </a:p>
        </p:txBody>
      </p:sp>
      <p:sp>
        <p:nvSpPr>
          <p:cNvPr name="AutoShape 52" id="52"/>
          <p:cNvSpPr/>
          <p:nvPr/>
        </p:nvSpPr>
        <p:spPr>
          <a:xfrm rot="0" flipH="false" flipV="false">
            <a:off x="254000" y="4279900"/>
            <a:ext cx="2870200" cy="736600"/>
          </a:xfrm>
          <a:prstGeom prst="roundRect">
            <a:avLst>
              <a:gd name="adj" fmla="val 1034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53" id="53"/>
          <p:cNvCxnSpPr/>
          <p:nvPr/>
        </p:nvCxnSpPr>
        <p:spPr>
          <a:xfrm rot="5281477" flipH="false" flipV="false">
            <a:off x="-95304" y="4641905"/>
            <a:ext cx="73670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2A9D8F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name="AutoShape 54" id="54"/>
          <p:cNvSpPr/>
          <p:nvPr/>
        </p:nvSpPr>
        <p:spPr>
          <a:xfrm rot="0" flipH="false" flipV="false">
            <a:off x="469900" y="4406900"/>
            <a:ext cx="2527300" cy="152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200"/>
              </a:spcAft>
              <a:defRPr/>
            </a:pPr>
            <a:r>
              <a:rPr lang="en-US" b="true" i="false" strike="noStrike" u="none" sz="11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DeepEval</a:t>
            </a:r>
            <a:endParaRPr lang="en-US" sz="1100"/>
          </a:p>
        </p:txBody>
      </p:sp>
      <p:sp>
        <p:nvSpPr>
          <p:cNvPr name="AutoShape 55" id="55"/>
          <p:cNvSpPr/>
          <p:nvPr/>
        </p:nvSpPr>
        <p:spPr>
          <a:xfrm rot="0" flipH="false" flipV="false">
            <a:off x="469900" y="4584700"/>
            <a:ext cx="2527300" cy="1397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b="false" i="false" strike="noStrike" u="none" sz="800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ConfidentAI · 通用评测框架</a:t>
            </a:r>
            <a:endParaRPr lang="en-US" sz="1100"/>
          </a:p>
        </p:txBody>
      </p:sp>
      <p:sp>
        <p:nvSpPr>
          <p:cNvPr name="AutoShape 56" id="56"/>
          <p:cNvSpPr/>
          <p:nvPr/>
        </p:nvSpPr>
        <p:spPr>
          <a:xfrm rot="0" flipH="false" flipV="false">
            <a:off x="469900" y="4749800"/>
            <a:ext cx="889000" cy="139700"/>
          </a:xfrm>
          <a:prstGeom prst="roundRect">
            <a:avLst>
              <a:gd name="adj" fmla="val 72727"/>
            </a:avLst>
          </a:prstGeom>
          <a:solidFill>
            <a:srgbClr val="FFF3E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7" id="57"/>
          <p:cNvSpPr/>
          <p:nvPr/>
        </p:nvSpPr>
        <p:spPr>
          <a:xfrm rot="0" flipH="false" flipV="false">
            <a:off x="546100" y="4762500"/>
            <a:ext cx="762000" cy="1143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700">
                <a:solidFill>
                  <a:srgbClr val="E65100"/>
                </a:solidFill>
                <a:latin typeface="Arial"/>
                <a:ea typeface="Arial"/>
                <a:cs typeface="Arial"/>
                <a:sym typeface="Arial"/>
              </a:rPr>
              <a:t>需自行构建数据集</a:t>
            </a:r>
            <a:endParaRPr lang="en-US" sz="1100"/>
          </a:p>
        </p:txBody>
      </p:sp>
      <p:sp>
        <p:nvSpPr>
          <p:cNvPr name="AutoShape 58" id="58"/>
          <p:cNvSpPr/>
          <p:nvPr/>
        </p:nvSpPr>
        <p:spPr>
          <a:xfrm rot="0" flipH="false" flipV="false">
            <a:off x="3200400" y="4279900"/>
            <a:ext cx="2870200" cy="736600"/>
          </a:xfrm>
          <a:prstGeom prst="roundRect">
            <a:avLst>
              <a:gd name="adj" fmla="val 1034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59" id="59"/>
          <p:cNvCxnSpPr/>
          <p:nvPr/>
        </p:nvCxnSpPr>
        <p:spPr>
          <a:xfrm rot="5281477" flipH="false" flipV="false">
            <a:off x="2851096" y="4641905"/>
            <a:ext cx="73670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2A9D8F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name="AutoShape 60" id="60"/>
          <p:cNvSpPr/>
          <p:nvPr/>
        </p:nvSpPr>
        <p:spPr>
          <a:xfrm rot="0" flipH="false" flipV="false">
            <a:off x="3416300" y="4406900"/>
            <a:ext cx="2527300" cy="152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200"/>
              </a:spcAft>
              <a:defRPr/>
            </a:pPr>
            <a:r>
              <a:rPr lang="en-US" b="true" i="false" strike="noStrike" u="none" sz="11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Promptfoo</a:t>
            </a:r>
            <a:endParaRPr lang="en-US" sz="1100"/>
          </a:p>
        </p:txBody>
      </p:sp>
      <p:sp>
        <p:nvSpPr>
          <p:cNvPr name="AutoShape 61" id="61"/>
          <p:cNvSpPr/>
          <p:nvPr/>
        </p:nvSpPr>
        <p:spPr>
          <a:xfrm rot="0" flipH="false" flipV="false">
            <a:off x="3416300" y="4584700"/>
            <a:ext cx="2527300" cy="1397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b="false" i="false" strike="noStrike" u="none" sz="800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开源 CLI 工具 · 配置友好</a:t>
            </a:r>
            <a:endParaRPr lang="en-US" sz="1100"/>
          </a:p>
        </p:txBody>
      </p:sp>
      <p:sp>
        <p:nvSpPr>
          <p:cNvPr name="AutoShape 62" id="62"/>
          <p:cNvSpPr/>
          <p:nvPr/>
        </p:nvSpPr>
        <p:spPr>
          <a:xfrm rot="0" flipH="false" flipV="false">
            <a:off x="3416300" y="4749800"/>
            <a:ext cx="889000" cy="139700"/>
          </a:xfrm>
          <a:prstGeom prst="roundRect">
            <a:avLst>
              <a:gd name="adj" fmla="val 72727"/>
            </a:avLst>
          </a:prstGeom>
          <a:solidFill>
            <a:srgbClr val="FFF3E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3" id="63"/>
          <p:cNvSpPr/>
          <p:nvPr/>
        </p:nvSpPr>
        <p:spPr>
          <a:xfrm rot="0" flipH="false" flipV="false">
            <a:off x="3492500" y="4762500"/>
            <a:ext cx="762000" cy="1143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700">
                <a:solidFill>
                  <a:srgbClr val="E65100"/>
                </a:solidFill>
                <a:latin typeface="Arial"/>
                <a:ea typeface="Arial"/>
                <a:cs typeface="Arial"/>
                <a:sym typeface="Arial"/>
              </a:rPr>
              <a:t>需自行构建数据集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787400"/>
          </a:xfrm>
          <a:prstGeom prst="roundRect">
            <a:avLst>
              <a:gd name="adj" fmla="val 0"/>
            </a:avLst>
          </a:prstGeom>
          <a:solidFill>
            <a:srgbClr val="1B2A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952500" y="241300"/>
            <a:ext cx="2540000" cy="292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关键发现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04800" y="965200"/>
            <a:ext cx="8534400" cy="901700"/>
          </a:xfrm>
          <a:prstGeom prst="roundRect">
            <a:avLst>
              <a:gd name="adj" fmla="val 845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5" id="5"/>
          <p:cNvCxnSpPr/>
          <p:nvPr/>
        </p:nvCxnSpPr>
        <p:spPr>
          <a:xfrm rot="5303173" flipH="false" flipV="false">
            <a:off x="-114344" y="1409745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2A9D8F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558800" y="1117600"/>
            <a:ext cx="8242300" cy="228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b="true" i="false" strike="noStrike" u="none" sz="11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★ PawBench 拥有最大规模的现成 Agent 数据集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58800" y="1384300"/>
            <a:ext cx="8242300" cy="431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44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内置150个高质量任务，源自6大核心子数据集，全面覆盖办公自动化、软件工程、网络安全、信息检索等真实业务场景，其现成数据的规模与场景丰富度远超同类评测项目，无需额外构建即可快速启动评测。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04800" y="1993900"/>
            <a:ext cx="8534400" cy="8255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9" id="9"/>
          <p:cNvCxnSpPr/>
          <p:nvPr/>
        </p:nvCxnSpPr>
        <p:spPr>
          <a:xfrm rot="5294237" flipH="false" flipV="false">
            <a:off x="-76248" y="2400349"/>
            <a:ext cx="82559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E76F51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558800" y="2146300"/>
            <a:ext cx="8242300" cy="228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b="true" i="false" strike="noStrike" u="none" sz="11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! DeepEval / Promptfoo 虽活跃但无现成数据集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58800" y="2413000"/>
            <a:ext cx="8242300" cy="3683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44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二者属于通用型评测框架，仅提供评测运行环境与指标计算能力，不包含开箱即用的Agent评测任务与配套数据集。更适合已有成熟评测体系的持续集成场景，而非从零开始的选型验证。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04800" y="2946400"/>
            <a:ext cx="8534400" cy="8255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3" id="13"/>
          <p:cNvCxnSpPr/>
          <p:nvPr/>
        </p:nvCxnSpPr>
        <p:spPr>
          <a:xfrm rot="5294237" flipH="false" flipV="false">
            <a:off x="-76248" y="3352849"/>
            <a:ext cx="82559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E76F51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558800" y="3098800"/>
            <a:ext cx="8242300" cy="228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b="true" i="false" strike="noStrike" u="none" sz="11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! 部分项目在内网隔离环境下可用性受限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58800" y="3365500"/>
            <a:ext cx="8242300" cy="3683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44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如WildClawBench需联网下载外部视频素材，BenchClaw依赖远程服务器动态拉取题目资源。在完全物理隔离的内网环境中，这类强依赖外网资源的项目将无法正常运行，部署与使用成本极高。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04800" y="3898900"/>
            <a:ext cx="8534400" cy="8255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7" id="17"/>
          <p:cNvCxnSpPr/>
          <p:nvPr/>
        </p:nvCxnSpPr>
        <p:spPr>
          <a:xfrm rot="5294237" flipH="false" flipV="false">
            <a:off x="-76248" y="4305349"/>
            <a:ext cx="82559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2A9D8F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558800" y="4051300"/>
            <a:ext cx="8242300" cy="228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b="true" i="false" strike="noStrike" u="none" sz="11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★ PawBench 基于 OpenJudge 框架，扩展能力与维护性有保障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58800" y="4318000"/>
            <a:ext cx="8242300" cy="3683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44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深度继承OpenJudge成熟的判题架构，内置50+生产级Grader（自动评判器），支持自定义判题逻辑开发，可无缝对接LangSmith、Langfuse等LLM观测平台，未来扩展新评测任务与适配业务场景的技术门槛极低。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787400"/>
          </a:xfrm>
          <a:prstGeom prst="roundRect">
            <a:avLst>
              <a:gd name="adj" fmla="val 0"/>
            </a:avLst>
          </a:prstGeom>
          <a:solidFill>
            <a:srgbClr val="1B2A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952500" y="241300"/>
            <a:ext cx="7620000" cy="292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落选工具：AgentBench 核心问题剖析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04800" y="965200"/>
            <a:ext cx="8534400" cy="901700"/>
          </a:xfrm>
          <a:prstGeom prst="roundRect">
            <a:avLst>
              <a:gd name="adj" fmla="val 845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5" id="5"/>
          <p:cNvCxnSpPr/>
          <p:nvPr/>
        </p:nvCxnSpPr>
        <p:spPr>
          <a:xfrm rot="5303173" flipH="false" flipV="false">
            <a:off x="-114344" y="1409745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E76F51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558800" y="1117600"/>
            <a:ext cx="8242300" cy="190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b="true" i="false" strike="noStrike" u="none" sz="11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❌ 架构冲突：服务器-客户端模式难适配内网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58800" y="1346200"/>
            <a:ext cx="8242300" cy="3683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44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采用分离式的Task Servers、Agent Servers架构，组件间依赖HTTP通信，在内网隔离环境下网络配置繁琐，安全策略管控难度大，易触发防火墙拦截与跨域权限限制。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04800" y="1993900"/>
            <a:ext cx="8534400" cy="711200"/>
          </a:xfrm>
          <a:prstGeom prst="roundRect">
            <a:avLst>
              <a:gd name="adj" fmla="val 1071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9" id="9"/>
          <p:cNvCxnSpPr/>
          <p:nvPr/>
        </p:nvCxnSpPr>
        <p:spPr>
          <a:xfrm rot="5277246" flipH="false" flipV="false">
            <a:off x="-19106" y="2343207"/>
            <a:ext cx="71131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E76F51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558800" y="2146300"/>
            <a:ext cx="8242300" cy="190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b="true" i="false" strike="noStrike" u="none" sz="11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❌ 部署瓶颈：强依赖Docker增加运维成本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58800" y="2374900"/>
            <a:ext cx="8242300" cy="177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44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虽通过Docker实现环境隔离，但内网环境下镜像拉取受限、容器权限管控严格，资源分配与集群维护难度高，难以满足企业私有化部署的合规与稳定性要求。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04800" y="2832100"/>
            <a:ext cx="8534400" cy="711200"/>
          </a:xfrm>
          <a:prstGeom prst="roundRect">
            <a:avLst>
              <a:gd name="adj" fmla="val 1071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3" id="13"/>
          <p:cNvCxnSpPr/>
          <p:nvPr/>
        </p:nvCxnSpPr>
        <p:spPr>
          <a:xfrm rot="5277246" flipH="false" flipV="false">
            <a:off x="-19106" y="3181407"/>
            <a:ext cx="71131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E76F51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558800" y="2984500"/>
            <a:ext cx="8242300" cy="190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b="true" i="false" strike="noStrike" u="none" sz="11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❌ 定位偏差：侧重通用评测而非企业定制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58800" y="3213100"/>
            <a:ext cx="8242300" cy="177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44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设计目标是建立通用的“AI Agent高考”基准，用于横向比较模型通用能力，而非针对企业内部业务流程、私有数据与专属场景的定制化评测需求设计。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04800" y="3670300"/>
            <a:ext cx="8534400" cy="711200"/>
          </a:xfrm>
          <a:prstGeom prst="roundRect">
            <a:avLst>
              <a:gd name="adj" fmla="val 1071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7" id="17"/>
          <p:cNvCxnSpPr/>
          <p:nvPr/>
        </p:nvCxnSpPr>
        <p:spPr>
          <a:xfrm rot="5279398" flipH="false" flipV="false">
            <a:off x="-25455" y="4025956"/>
            <a:ext cx="7240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E76F51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558800" y="3822700"/>
            <a:ext cx="8242300" cy="190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b="true" i="false" strike="noStrike" u="none" sz="11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❌ 适配困难：本地化改造与扩展门槛高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58800" y="4051300"/>
            <a:ext cx="8242300" cy="177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44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现有开源版本未针对内网环境做适配优化，缺少对接企业私有知识库、内部业务系统的预置能力，二次开发与本地化定制的技术成本与时间成本过高。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2794000" cy="5143500"/>
          </a:xfrm>
          <a:prstGeom prst="roundRect">
            <a:avLst>
              <a:gd name="adj" fmla="val 0"/>
            </a:avLst>
          </a:prstGeom>
          <a:solidFill>
            <a:srgbClr val="1B2A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54000" y="381000"/>
            <a:ext cx="2336800" cy="1041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8159"/>
              </a:lnSpc>
              <a:spcAft>
                <a:spcPts val="400"/>
              </a:spcAft>
              <a:defRPr/>
            </a:pPr>
            <a:r>
              <a:rPr lang="en-US" b="true" i="false" strike="noStrike" u="none" sz="48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54000" y="1473200"/>
            <a:ext cx="23368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2720"/>
              </a:lnSpc>
              <a:spcAft>
                <a:spcPts val="2000"/>
              </a:spcAft>
              <a:defRPr/>
            </a:pPr>
            <a:r>
              <a:rPr lang="en-US" b="true" i="false" strike="noStrike" u="none" sz="1600">
                <a:solidFill>
                  <a:srgbClr val="FFFFFF">
                    <a:alpha val="90196"/>
                  </a:srgbClr>
                </a:solidFill>
                <a:latin typeface="Arial"/>
                <a:ea typeface="Arial"/>
                <a:cs typeface="Arial"/>
                <a:sym typeface="Arial"/>
              </a:rPr>
              <a:t>落选工具剖析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54000" y="2413000"/>
            <a:ext cx="2336800" cy="228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C8C8C8"/>
                </a:solidFill>
                <a:latin typeface="Arial"/>
                <a:ea typeface="Arial"/>
                <a:cs typeface="Arial"/>
                <a:sym typeface="Arial"/>
              </a:rPr>
              <a:t>在 AI Agent 评测选型中，需剔除设计缺陷、结果不可靠或生态封闭的工具。PinchBench 因评测逻辑偏差、结果波动剧烈等硬伤，被排除在候选名单之外。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251200" y="381000"/>
            <a:ext cx="5588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1600"/>
              </a:spcAft>
              <a:defRPr/>
            </a:pPr>
            <a:r>
              <a:rPr lang="en-US" b="true" i="false" strike="noStrike" u="none" sz="24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PinchBench：设计缺陷与结果不可靠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251200" y="977900"/>
            <a:ext cx="635000" cy="38100"/>
          </a:xfrm>
          <a:prstGeom prst="roundRect">
            <a:avLst>
              <a:gd name="adj" fmla="val 66666"/>
            </a:avLst>
          </a:prstGeom>
          <a:solidFill>
            <a:srgbClr val="2A9D8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251200" y="1270000"/>
            <a:ext cx="5588000" cy="698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spcAft>
                <a:spcPts val="800"/>
              </a:spcAft>
              <a:defRPr/>
            </a:pPr>
            <a:r>
              <a:rPr lang="en-US" b="false" i="false" strike="noStrike" u="none" sz="130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该工具虽针对 OpenClaw 设计，但核心机制存在致命偏差：图像生成任务得分异常归零，且结果波动剧烈，叠加单一厂商主导的生态风险，最终被排除在选型名单之外。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52" b="52"/>
          <a:stretch>
            <a:fillRect/>
          </a:stretch>
        </p:blipFill>
        <p:spPr>
          <a:xfrm rot="0" flipH="false" flipV="false">
            <a:off x="3251200" y="2159000"/>
            <a:ext cx="2667000" cy="1498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6045200" y="2159000"/>
            <a:ext cx="2857500" cy="1498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63500" rIns="6350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E76F51"/>
                </a:solidFill>
                <a:latin typeface="Noto Sans SC"/>
                <a:ea typeface="Noto Sans SC"/>
                <a:cs typeface="Noto Sans SC"/>
                <a:sym typeface="Noto Sans SC"/>
              </a:rPr>
              <a:t>榜单数据异常佐证：</a:t>
            </a: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排行榜呈现出明显不符合模型真实能力的分布特征，部分任务得分断层，印证了评测指标设计的不合理性，无法真实反映 Agent 的智能水平。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251200" y="3810000"/>
            <a:ext cx="5588000" cy="711200"/>
          </a:xfrm>
          <a:prstGeom prst="roundRect">
            <a:avLst>
              <a:gd name="adj" fmla="val 10714"/>
            </a:avLst>
          </a:prstGeom>
          <a:solidFill>
            <a:srgbClr val="F8F9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2" id="12"/>
          <p:cNvCxnSpPr/>
          <p:nvPr/>
        </p:nvCxnSpPr>
        <p:spPr>
          <a:xfrm rot="5338618" flipH="false" flipV="false">
            <a:off x="2895600" y="4159307"/>
            <a:ext cx="711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76F5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3454400" y="3886200"/>
            <a:ext cx="53086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B2A4A"/>
                </a:solidFill>
                <a:latin typeface="Noto Sans SC"/>
                <a:ea typeface="Noto Sans SC"/>
                <a:cs typeface="Noto Sans SC"/>
                <a:sym typeface="Noto Sans SC"/>
              </a:rPr>
              <a:t>01 评测逻辑本末倒置：</a:t>
            </a: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图像生成任务所有模型得分近乎为零，实则测试环境配置而非 Agent 智能，指标设计完全脱离实际应用场景。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251200" y="4546600"/>
            <a:ext cx="5588000" cy="711200"/>
          </a:xfrm>
          <a:prstGeom prst="roundRect">
            <a:avLst>
              <a:gd name="adj" fmla="val 10714"/>
            </a:avLst>
          </a:prstGeom>
          <a:solidFill>
            <a:srgbClr val="F8F9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5" id="15"/>
          <p:cNvCxnSpPr/>
          <p:nvPr/>
        </p:nvCxnSpPr>
        <p:spPr>
          <a:xfrm rot="5338618" flipH="false" flipV="false">
            <a:off x="2895600" y="4895907"/>
            <a:ext cx="711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E76F5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3454400" y="4622800"/>
            <a:ext cx="53086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B2A4A"/>
                </a:solidFill>
                <a:latin typeface="Noto Sans SC"/>
                <a:ea typeface="Noto Sans SC"/>
                <a:cs typeface="Noto Sans SC"/>
                <a:sym typeface="Noto Sans SC"/>
              </a:rPr>
              <a:t>02 结果不稳定且有厂商风险：</a:t>
            </a:r>
            <a:r>
              <a:rPr lang="en-US" b="false" i="false" strike="noStrike" u="none" sz="1200">
                <a:solidFill>
                  <a:srgbClr val="4A5568"/>
                </a:solidFill>
                <a:latin typeface="Noto Sans SC"/>
                <a:ea typeface="Noto Sans SC"/>
                <a:cs typeface="Noto Sans SC"/>
                <a:sym typeface="Noto Sans SC"/>
              </a:rPr>
              <a:t>单次与平均得分差距悬殊，结果随机不可靠；由单一商业公司主导，存在利益冲突与技术路线锁定的潜在风险。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2794000" cy="5143500"/>
          </a:xfrm>
          <a:prstGeom prst="roundRect">
            <a:avLst>
              <a:gd name="adj" fmla="val 0"/>
            </a:avLst>
          </a:prstGeom>
          <a:solidFill>
            <a:srgbClr val="1B2A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54000" y="381000"/>
            <a:ext cx="2336800" cy="1041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8159"/>
              </a:lnSpc>
              <a:spcAft>
                <a:spcPts val="400"/>
              </a:spcAft>
              <a:defRPr/>
            </a:pPr>
            <a:r>
              <a:rPr lang="en-US" b="true" i="false" strike="noStrike" u="none" sz="48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54000" y="1473200"/>
            <a:ext cx="2336800" cy="3429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2720"/>
              </a:lnSpc>
              <a:spcAft>
                <a:spcPts val="2000"/>
              </a:spcAft>
              <a:defRPr/>
            </a:pPr>
            <a:r>
              <a:rPr lang="en-US" b="true" i="false" strike="noStrike" u="none" sz="160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落选工具分析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54000" y="2070100"/>
            <a:ext cx="23368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800"/>
              </a:lnSpc>
              <a:defRPr/>
            </a:pPr>
            <a:r>
              <a:rPr lang="en-US" b="false" i="false" strike="noStrike" u="none" sz="1000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从学术研究视角转向工程落地的适配性评估，剖析其与实际开发需求的核心差异。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251200" y="381000"/>
            <a:ext cx="55499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1600"/>
              </a:spcAft>
              <a:defRPr/>
            </a:pPr>
            <a:r>
              <a:rPr lang="en-US" b="true" i="false" strike="noStrike" u="none" sz="24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落选工具剖析：WildClawBench &amp; ClawProBench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251200" y="977900"/>
            <a:ext cx="635000" cy="38100"/>
          </a:xfrm>
          <a:prstGeom prst="roundRect">
            <a:avLst>
              <a:gd name="adj" fmla="val 66666"/>
            </a:avLst>
          </a:prstGeom>
          <a:solidFill>
            <a:srgbClr val="2A9D8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251200" y="1270000"/>
            <a:ext cx="5549900" cy="698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2039"/>
              </a:lnSpc>
              <a:spcAft>
                <a:spcPts val="800"/>
              </a:spcAft>
              <a:defRPr/>
            </a:pPr>
            <a:r>
              <a:rPr lang="en-US" b="false" i="false" strike="noStrike" u="none" sz="120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此类评测基准聚焦于探索AI Agent在极端复杂场景下的极限能力，具有极强的学术研究价值。然而，其设计初衷与工程实践的高效、高频、规模化需求存在显著冲突。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251200" y="2095500"/>
            <a:ext cx="5435600" cy="8255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0" id="10"/>
          <p:cNvCxnSpPr/>
          <p:nvPr/>
        </p:nvCxnSpPr>
        <p:spPr>
          <a:xfrm rot="5294237" flipH="false" flipV="false">
            <a:off x="2870152" y="2501949"/>
            <a:ext cx="82559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2A9D8F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3505200" y="2247900"/>
            <a:ext cx="50800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2039"/>
              </a:lnSpc>
              <a:spcAft>
                <a:spcPts val="400"/>
              </a:spcAft>
              <a:defRPr/>
            </a:pPr>
            <a:r>
              <a:rPr lang="en-US" b="true" i="false" strike="noStrike" u="none" sz="12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任务过于繁重，工程效率低下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505200" y="2565400"/>
            <a:ext cx="5080000" cy="317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7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单任务平均耗时超8分钟，需执行20次以上工具调用，成本高昂，无法适配日常开发的快速迭代与回归测试节奏。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251200" y="3048000"/>
            <a:ext cx="5435600" cy="8255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4" id="14"/>
          <p:cNvCxnSpPr/>
          <p:nvPr/>
        </p:nvCxnSpPr>
        <p:spPr>
          <a:xfrm rot="5294237" flipH="false" flipV="false">
            <a:off x="2870152" y="3454449"/>
            <a:ext cx="82559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2A9D8F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3505200" y="3200400"/>
            <a:ext cx="50800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2039"/>
              </a:lnSpc>
              <a:spcAft>
                <a:spcPts val="400"/>
              </a:spcAft>
              <a:defRPr/>
            </a:pPr>
            <a:r>
              <a:rPr lang="en-US" b="true" i="false" strike="noStrike" u="none" sz="12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样本数量有限，评估维度片面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505200" y="3517900"/>
            <a:ext cx="5080000" cy="317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7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任务集仅包含60个测试案例，规模过小难以覆盖真实业务的多样化场景，无法对Agent的综合能力进行全面、客观的量化评估。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251200" y="4000500"/>
            <a:ext cx="5435600" cy="8255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8" id="18"/>
          <p:cNvCxnSpPr/>
          <p:nvPr/>
        </p:nvCxnSpPr>
        <p:spPr>
          <a:xfrm rot="5294237" flipH="false" flipV="false">
            <a:off x="2870152" y="4406949"/>
            <a:ext cx="82559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2A9D8F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3505200" y="4152900"/>
            <a:ext cx="50800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2039"/>
              </a:lnSpc>
              <a:spcAft>
                <a:spcPts val="400"/>
              </a:spcAft>
              <a:defRPr/>
            </a:pPr>
            <a:r>
              <a:rPr lang="en-US" b="true" i="false" strike="noStrike" u="none" sz="12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定位侧重研究，非工程度量标尺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505200" y="4470400"/>
            <a:ext cx="5080000" cy="317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700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主要用于发现前沿模型在极端场景下的弱点以推动科研，而非作为衡量工程迭代进度、验证产品优化效果的实用标尺。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787400"/>
          </a:xfrm>
          <a:prstGeom prst="roundRect">
            <a:avLst>
              <a:gd name="adj" fmla="val 0"/>
            </a:avLst>
          </a:prstGeom>
          <a:solidFill>
            <a:srgbClr val="1B2A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952500" y="241300"/>
            <a:ext cx="2540000" cy="292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工具局限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04800" y="965200"/>
            <a:ext cx="8534400" cy="901700"/>
          </a:xfrm>
          <a:prstGeom prst="roundRect">
            <a:avLst>
              <a:gd name="adj" fmla="val 845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5" id="5"/>
          <p:cNvCxnSpPr/>
          <p:nvPr/>
        </p:nvCxnSpPr>
        <p:spPr>
          <a:xfrm rot="5303173" flipH="false" flipV="false">
            <a:off x="-114344" y="1409745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2A9D8F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558800" y="1117600"/>
            <a:ext cx="8242300" cy="190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b="true" i="false" strike="noStrike" u="none" sz="11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★ 核心局限：应用场景过度聚焦浏览器交互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58800" y="1346200"/>
            <a:ext cx="8242300" cy="3683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44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其任务集几乎全部围绕真实网站的日常操作（如订餐、订票）构建，仅专注于浏览器层面的自动化能力，对Agent的多维度通用能力缺乏系统性覆盖。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04800" y="1993900"/>
            <a:ext cx="8534400" cy="711200"/>
          </a:xfrm>
          <a:prstGeom prst="roundRect">
            <a:avLst>
              <a:gd name="adj" fmla="val 1071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9" id="9"/>
          <p:cNvCxnSpPr/>
          <p:nvPr/>
        </p:nvCxnSpPr>
        <p:spPr>
          <a:xfrm rot="5277246" flipH="false" flipV="false">
            <a:off x="-19106" y="2343207"/>
            <a:ext cx="71131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E76F51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558800" y="2146300"/>
            <a:ext cx="8242300" cy="190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b="true" i="false" strike="noStrike" u="none" sz="11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! 关键能力缺失：未覆盖代码与逻辑处理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58800" y="2374900"/>
            <a:ext cx="8242300" cy="177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44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评测体系未包含代码执行、数据库操作、知识图谱查询等核心能力，无法衡量Agent在复杂逻辑推理与后端系统交互上的真实表现。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04800" y="2832100"/>
            <a:ext cx="8534400" cy="711200"/>
          </a:xfrm>
          <a:prstGeom prst="roundRect">
            <a:avLst>
              <a:gd name="adj" fmla="val 1071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3" id="13"/>
          <p:cNvCxnSpPr/>
          <p:nvPr/>
        </p:nvCxnSpPr>
        <p:spPr>
          <a:xfrm rot="5277246" flipH="false" flipV="false">
            <a:off x="-19106" y="3181407"/>
            <a:ext cx="71131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E76F51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558800" y="2984500"/>
            <a:ext cx="8242300" cy="190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b="true" i="false" strike="noStrike" u="none" sz="11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! 适用范围狭窄：难以适配多样化场景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58800" y="3213100"/>
            <a:ext cx="8242300" cy="177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44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仅能用于网页端的自动化流程评测，对于后端逻辑处理、本地应用交互、API自主编排等非浏览器Agent场景，完全无法进行有效评估。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04800" y="3670300"/>
            <a:ext cx="8534400" cy="711200"/>
          </a:xfrm>
          <a:prstGeom prst="roundRect">
            <a:avLst>
              <a:gd name="adj" fmla="val 1071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7" id="17"/>
          <p:cNvCxnSpPr/>
          <p:nvPr/>
        </p:nvCxnSpPr>
        <p:spPr>
          <a:xfrm rot="5279398" flipH="false" flipV="false">
            <a:off x="-25455" y="4025956"/>
            <a:ext cx="7240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E76F51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558800" y="3822700"/>
            <a:ext cx="8242300" cy="190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b="true" i="false" strike="noStrike" u="none" sz="11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! 生态适配薄弱：中文与国产模型支持差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58800" y="4051300"/>
            <a:ext cx="8242300" cy="177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44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由国外学术机构主导，评测任务以英文语境为主，对中文语义理解的评测场景较少，且对国产大模型的兼容性与适配性优化明显不足。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787400"/>
          </a:xfrm>
          <a:prstGeom prst="roundRect">
            <a:avLst>
              <a:gd name="adj" fmla="val 0"/>
            </a:avLst>
          </a:prstGeom>
          <a:solidFill>
            <a:srgbClr val="1B2A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952500" y="241300"/>
            <a:ext cx="927100" cy="292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关键发现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04800" y="965200"/>
            <a:ext cx="8534400" cy="901700"/>
          </a:xfrm>
          <a:prstGeom prst="roundRect">
            <a:avLst>
              <a:gd name="adj" fmla="val 845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5" id="5"/>
          <p:cNvCxnSpPr/>
          <p:nvPr/>
        </p:nvCxnSpPr>
        <p:spPr>
          <a:xfrm rot="5303173" flipH="false" flipV="false">
            <a:off x="-114344" y="1409745"/>
            <a:ext cx="901789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2A9D8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558800" y="1117600"/>
            <a:ext cx="8242300" cy="190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b="true" i="false" strike="noStrike" u="none" sz="11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★ 定位：通用 LLM 评估框架，非 Agent 专用套件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58800" y="1346200"/>
            <a:ext cx="8242300" cy="3683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44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DeepEval 与 Promptfoo 是通用型 LLM 评估工具箱，核心聚焦基础模型能力、RAG 召回效果及对话质量验证，并非专为复杂 Agent 任务（如多工具协同、长周期决策）设计的开箱即用方案。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04800" y="1993900"/>
            <a:ext cx="8534400" cy="711200"/>
          </a:xfrm>
          <a:prstGeom prst="roundRect">
            <a:avLst>
              <a:gd name="adj" fmla="val 1071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9" id="9"/>
          <p:cNvCxnSpPr/>
          <p:nvPr/>
        </p:nvCxnSpPr>
        <p:spPr>
          <a:xfrm rot="5277246" flipH="false" flipV="false">
            <a:off x="-19106" y="2343207"/>
            <a:ext cx="71131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E76F51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558800" y="2146300"/>
            <a:ext cx="8242300" cy="190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b="true" i="false" strike="noStrike" u="none" sz="11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! 核心痛点：缺乏标准化的 Agent 评测数据集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58800" y="2374900"/>
            <a:ext cx="8242300" cy="177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44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未内置 Agent 专属任务库，需用户从零设计任务场景、标注测试数据并编写评估逻辑，前期投入成本高，难以快速开展规模化对比评测。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04800" y="2832100"/>
            <a:ext cx="8534400" cy="711200"/>
          </a:xfrm>
          <a:prstGeom prst="roundRect">
            <a:avLst>
              <a:gd name="adj" fmla="val 1071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3" id="13"/>
          <p:cNvCxnSpPr/>
          <p:nvPr/>
        </p:nvCxnSpPr>
        <p:spPr>
          <a:xfrm rot="5277246" flipH="false" flipV="false">
            <a:off x="-19106" y="3181407"/>
            <a:ext cx="71131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E76F51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558800" y="2984500"/>
            <a:ext cx="8242300" cy="190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b="true" i="false" strike="noStrike" u="none" sz="11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! 落地门槛：仅为“组件库”，需深度定制开发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58800" y="3213100"/>
            <a:ext cx="8242300" cy="177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44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仅提供基础评估指标与运行框架，缺乏对 Agent 长周期任务、多工具调用协同、复杂决策链的原生支持，实际落地需结合业务场景二次开发。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04800" y="3670300"/>
            <a:ext cx="8534400" cy="711200"/>
          </a:xfrm>
          <a:prstGeom prst="roundRect">
            <a:avLst>
              <a:gd name="adj" fmla="val 1071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7" id="17"/>
          <p:cNvCxnSpPr/>
          <p:nvPr/>
        </p:nvCxnSpPr>
        <p:spPr>
          <a:xfrm rot="5279398" flipH="false" flipV="false">
            <a:off x="-25455" y="4025956"/>
            <a:ext cx="724011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2A9D8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558800" y="3822700"/>
            <a:ext cx="8242300" cy="190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300"/>
              </a:spcAft>
              <a:defRPr/>
            </a:pPr>
            <a:r>
              <a:rPr lang="en-US" b="true" i="false" strike="noStrike" u="none" sz="11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★ 适用场景：适配成熟技术团队的深度定制需求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58800" y="4051300"/>
            <a:ext cx="8242300" cy="177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44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更适合已具备完整评测基建的团队，用于 RAG 效果迭代、模型微调后的质量验收，或需高度自定义评估逻辑的场景，而非 Agent 选型的快速验证。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1016000"/>
          </a:xfrm>
          <a:prstGeom prst="roundRect">
            <a:avLst>
              <a:gd name="adj" fmla="val 0"/>
            </a:avLst>
          </a:prstGeom>
          <a:solidFill>
            <a:srgbClr val="165D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1016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综合评分对比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81000" y="1206500"/>
            <a:ext cx="11430000" cy="5080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六维加权评分模型（满分10分），权重分布：现成数据集 30% · 易用性 20% · 国产化适配 15% · 系统扩展性 15% · 社区活跃度 10% · 开源程度 10%</a:t>
            </a:r>
            <a:endParaRPr lang="en-US" sz="1100"/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381000" y="1905000"/>
          <a:ext cx="10731500" cy="254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1206500"/>
                <a:gridCol w="1206500"/>
                <a:gridCol w="1206500"/>
                <a:gridCol w="1206500"/>
                <a:gridCol w="1206500"/>
                <a:gridCol w="1206500"/>
                <a:gridCol w="1460500"/>
              </a:tblGrid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65D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测评项目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3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65D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活跃度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3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65D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开源度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3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65D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国产化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3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65D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扩展性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3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65D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易用性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3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65D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3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65D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加权总分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3FF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5803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PawBench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5803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9.55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10000"/>
                      </a:srgbClr>
                    </a:solidFill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OpenJudge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7.90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WildClawBench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7.70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DeepEval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6.45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AgentBench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5.40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6" id="6"/>
          <p:cNvSpPr/>
          <p:nvPr/>
        </p:nvSpPr>
        <p:spPr>
          <a:xfrm rot="0" flipH="false" flipV="false">
            <a:off x="381000" y="5397500"/>
            <a:ext cx="11430000" cy="1079500"/>
          </a:xfrm>
          <a:prstGeom prst="roundRect">
            <a:avLst>
              <a:gd name="adj" fmla="val 0"/>
            </a:avLst>
          </a:prstGeom>
          <a:solidFill>
            <a:srgbClr val="F59E0B">
              <a:alpha val="8000"/>
            </a:srgbClr>
          </a:solidFill>
          <a:ln w="12700" cmpd="sng" cap="flat">
            <a:solidFill>
              <a:srgbClr val="F59E0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35000" y="5676900"/>
            <a:ext cx="508000" cy="508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70000" y="5397500"/>
            <a:ext cx="10160000" cy="1079500"/>
          </a:xfrm>
          <a:prstGeom prst="rect">
            <a:avLst/>
          </a:prstGeom>
          <a:noFill/>
          <a:ln w="9525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推荐选型：PawBench（综合评分 9.55）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该工具在数据集丰富度、国产化适配及易用性上表现卓越，社区活跃度高且扩展性强，是兼顾技术指标与落地实用性的最优选择。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762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0"/>
            <a:ext cx="6400800" cy="76200"/>
          </a:xfrm>
          <a:prstGeom prst="roundRect">
            <a:avLst>
              <a:gd name="adj" fmla="val 0"/>
            </a:avLst>
          </a:prstGeom>
          <a:solidFill>
            <a:srgbClr val="E76F5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622300"/>
            <a:ext cx="876300" cy="279400"/>
          </a:xfrm>
          <a:prstGeom prst="roundRect">
            <a:avLst>
              <a:gd name="adj" fmla="val 90909"/>
            </a:avLst>
          </a:prstGeom>
          <a:noFill/>
          <a:ln w="12700" cmpd="sng" cap="flat">
            <a:solidFill>
              <a:srgbClr val="E76F51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98500" y="685800"/>
            <a:ext cx="5207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FF9A7A"/>
                </a:solidFill>
                <a:latin typeface="Arial"/>
                <a:ea typeface="Arial"/>
                <a:cs typeface="Arial"/>
                <a:sym typeface="Arial"/>
              </a:rPr>
              <a:t>选型结论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1054100"/>
            <a:ext cx="8293100" cy="533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800"/>
              </a:spcAft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选择 PawBench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1689100"/>
            <a:ext cx="8293100" cy="2413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2400"/>
              </a:spcAft>
              <a:defRPr/>
            </a:pPr>
            <a:r>
              <a:rPr lang="en-US" b="false" i="false" strike="noStrike" u="none" sz="1400">
                <a:solidFill>
                  <a:srgbClr val="8FD9D1"/>
                </a:solidFill>
                <a:latin typeface="Arial"/>
                <a:ea typeface="Arial"/>
                <a:cs typeface="Arial"/>
                <a:sym typeface="Arial"/>
              </a:rPr>
              <a:t>基于6维度加权评估，PawBench以9.55/10分的综合评分领跑同类方案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8000" y="2235200"/>
            <a:ext cx="2628900" cy="1054100"/>
          </a:xfrm>
          <a:prstGeom prst="roundRect">
            <a:avLst>
              <a:gd name="adj" fmla="val 9638"/>
            </a:avLst>
          </a:prstGeom>
          <a:solidFill>
            <a:srgbClr val="FFFF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11200" y="2387600"/>
            <a:ext cx="2260600" cy="292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200"/>
              </a:spcAft>
              <a:defRPr/>
            </a:pPr>
            <a:r>
              <a:rPr lang="en-US" b="true" i="false" strike="noStrike" u="none" sz="20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150+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11200" y="2705100"/>
            <a:ext cx="2260600" cy="190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200"/>
              </a:spcAft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开箱即用任务集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11200" y="2921000"/>
            <a:ext cx="2260600" cy="177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350"/>
              </a:lnSpc>
              <a:defRPr/>
            </a:pPr>
            <a:r>
              <a:rPr lang="en-US" b="false" i="false" strike="noStrike" u="none" sz="900">
                <a:solidFill>
                  <a:srgbClr val="AAB7C8"/>
                </a:solidFill>
                <a:latin typeface="Arial"/>
                <a:ea typeface="Arial"/>
                <a:cs typeface="Arial"/>
                <a:sym typeface="Arial"/>
              </a:rPr>
              <a:t>覆盖6大核心子数据集，预置150+高质量评测任务场景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263900" y="2235200"/>
            <a:ext cx="2628900" cy="1054100"/>
          </a:xfrm>
          <a:prstGeom prst="roundRect">
            <a:avLst>
              <a:gd name="adj" fmla="val 9638"/>
            </a:avLst>
          </a:prstGeom>
          <a:solidFill>
            <a:srgbClr val="FFFF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467100" y="2387600"/>
            <a:ext cx="2260600" cy="292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200"/>
              </a:spcAft>
              <a:defRPr/>
            </a:pPr>
            <a:r>
              <a:rPr lang="en-US" b="true" i="false" strike="noStrike" u="none" sz="20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全兼容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467100" y="2705100"/>
            <a:ext cx="2260600" cy="190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200"/>
              </a:spcAft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原生 Harness 支持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467100" y="2921000"/>
            <a:ext cx="2260600" cy="177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350"/>
              </a:lnSpc>
              <a:defRPr/>
            </a:pPr>
            <a:r>
              <a:rPr lang="en-US" b="false" i="false" strike="noStrike" u="none" sz="900">
                <a:solidFill>
                  <a:srgbClr val="AAB7C8"/>
                </a:solidFill>
                <a:latin typeface="Arial"/>
                <a:ea typeface="Arial"/>
                <a:cs typeface="Arial"/>
                <a:sym typeface="Arial"/>
              </a:rPr>
              <a:t>无缝适配 OpenClaw、QwenPaw、Hermes 等主流框架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007100" y="2235200"/>
            <a:ext cx="2628900" cy="1054100"/>
          </a:xfrm>
          <a:prstGeom prst="roundRect">
            <a:avLst>
              <a:gd name="adj" fmla="val 9638"/>
            </a:avLst>
          </a:prstGeom>
          <a:solidFill>
            <a:srgbClr val="FFFF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10300" y="2387600"/>
            <a:ext cx="2260600" cy="330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200"/>
              </a:spcAft>
              <a:defRPr/>
            </a:pPr>
            <a:r>
              <a:rPr lang="en-US" b="true" i="false" strike="noStrike" u="none" sz="20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通义系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10300" y="2743200"/>
            <a:ext cx="2260600" cy="190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200"/>
              </a:spcAft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成熟国产技术方案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10300" y="2959100"/>
            <a:ext cx="2260600" cy="177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350"/>
              </a:lnSpc>
              <a:defRPr/>
            </a:pPr>
            <a:r>
              <a:rPr lang="en-US" b="false" i="false" strike="noStrike" u="none" sz="900">
                <a:solidFill>
                  <a:srgbClr val="AAB7C8"/>
                </a:solidFill>
                <a:latin typeface="Arial"/>
                <a:ea typeface="Arial"/>
                <a:cs typeface="Arial"/>
                <a:sym typeface="Arial"/>
              </a:rPr>
              <a:t>阿里通义实验室主导研发，中文生态完善贴合国内需求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08000" y="3416300"/>
            <a:ext cx="2819400" cy="1054100"/>
          </a:xfrm>
          <a:prstGeom prst="roundRect">
            <a:avLst>
              <a:gd name="adj" fmla="val 9638"/>
            </a:avLst>
          </a:prstGeom>
          <a:solidFill>
            <a:srgbClr val="FFFF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11200" y="3568700"/>
            <a:ext cx="2463800" cy="3429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200"/>
              </a:spcAft>
              <a:defRPr/>
            </a:pPr>
            <a:r>
              <a:rPr lang="en-US" b="true" i="false" strike="noStrike" u="none" sz="20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私有化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11200" y="3937000"/>
            <a:ext cx="2463800" cy="190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200"/>
              </a:spcAft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内网友好与数据安全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11200" y="4152900"/>
            <a:ext cx="2463800" cy="177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350"/>
              </a:lnSpc>
              <a:defRPr/>
            </a:pPr>
            <a:r>
              <a:rPr lang="en-US" b="false" i="false" strike="noStrike" u="none" sz="900">
                <a:solidFill>
                  <a:srgbClr val="AAB7C8"/>
                </a:solidFill>
                <a:latin typeface="Arial"/>
                <a:ea typeface="Arial"/>
                <a:cs typeface="Arial"/>
                <a:sym typeface="Arial"/>
              </a:rPr>
              <a:t>支持完全离线部署与自定义私有API，确保核心数据不出域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3454400" y="3416300"/>
            <a:ext cx="2819400" cy="1054100"/>
          </a:xfrm>
          <a:prstGeom prst="roundRect">
            <a:avLst>
              <a:gd name="adj" fmla="val 9638"/>
            </a:avLst>
          </a:prstGeom>
          <a:solidFill>
            <a:srgbClr val="FFFF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3657600" y="3568700"/>
            <a:ext cx="2463800" cy="292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200"/>
              </a:spcAft>
              <a:defRPr/>
            </a:pPr>
            <a:r>
              <a:rPr lang="en-US" b="true" i="false" strike="noStrike" u="none" sz="2000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高扩展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3657600" y="3886200"/>
            <a:ext cx="2463800" cy="190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200"/>
              </a:spcAft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Grader 评估器灵活继承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3657600" y="4102100"/>
            <a:ext cx="2463800" cy="177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350"/>
              </a:lnSpc>
              <a:defRPr/>
            </a:pPr>
            <a:r>
              <a:rPr lang="en-US" b="false" i="false" strike="noStrike" u="none" sz="900">
                <a:solidFill>
                  <a:srgbClr val="AAB7C8"/>
                </a:solidFill>
                <a:latin typeface="Arial"/>
                <a:ea typeface="Arial"/>
                <a:cs typeface="Arial"/>
                <a:sym typeface="Arial"/>
              </a:rPr>
              <a:t>基于 OpenJudge 架构开发，可直接复用生产级评估逻辑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787400"/>
          </a:xfrm>
          <a:prstGeom prst="roundRect">
            <a:avLst>
              <a:gd name="adj" fmla="val 0"/>
            </a:avLst>
          </a:prstGeom>
          <a:solidFill>
            <a:srgbClr val="1B2A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952500" y="241300"/>
            <a:ext cx="2540000" cy="292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实施路线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81000" y="1041400"/>
            <a:ext cx="4102100" cy="850900"/>
          </a:xfrm>
          <a:prstGeom prst="roundRect">
            <a:avLst>
              <a:gd name="adj" fmla="val 1194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5" id="5"/>
          <p:cNvCxnSpPr/>
          <p:nvPr/>
        </p:nvCxnSpPr>
        <p:spPr>
          <a:xfrm rot="0" flipH="false" flipV="false">
            <a:off x="381000" y="1054100"/>
            <a:ext cx="410212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2A9D8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584200" y="1257300"/>
            <a:ext cx="3771900" cy="203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b="true" i="false" strike="noStrike" u="none" sz="12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01 · 选型确认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84200" y="1524000"/>
            <a:ext cx="3771900" cy="355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44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完成工具调研与对比分析，确定 PawBench 为核心评测框架，明确评测指标体系。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660900" y="1041400"/>
            <a:ext cx="4102100" cy="850900"/>
          </a:xfrm>
          <a:prstGeom prst="roundRect">
            <a:avLst>
              <a:gd name="adj" fmla="val 1194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9" id="9"/>
          <p:cNvCxnSpPr/>
          <p:nvPr/>
        </p:nvCxnSpPr>
        <p:spPr>
          <a:xfrm rot="0" flipH="false" flipV="false">
            <a:off x="4660900" y="1054100"/>
            <a:ext cx="410212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E76F51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4864100" y="1257300"/>
            <a:ext cx="3771900" cy="203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b="true" i="false" strike="noStrike" u="none" sz="12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02 · 环境准备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864100" y="1524000"/>
            <a:ext cx="3771900" cy="355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44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外网环境构建标准 Docker 镜像，封装依赖并生成离线 wheel 包，安全传输至内网服务器部署。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81000" y="2070100"/>
            <a:ext cx="4102100" cy="850900"/>
          </a:xfrm>
          <a:prstGeom prst="roundRect">
            <a:avLst>
              <a:gd name="adj" fmla="val 1194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3" id="13"/>
          <p:cNvCxnSpPr/>
          <p:nvPr/>
        </p:nvCxnSpPr>
        <p:spPr>
          <a:xfrm rot="0" flipH="false" flipV="false">
            <a:off x="381000" y="2082800"/>
            <a:ext cx="410212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D1D5D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584200" y="2286000"/>
            <a:ext cx="3771900" cy="203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b="true" i="false" strike="noStrike" u="none" sz="12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03 · 首次评测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84200" y="2565400"/>
            <a:ext cx="3771900" cy="355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44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配置 .env 文件指向内网私有 LLM 服务，运行基准测试任务，采集数据并获取模型初始性能基线分数。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660900" y="2070100"/>
            <a:ext cx="4102100" cy="850900"/>
          </a:xfrm>
          <a:prstGeom prst="roundRect">
            <a:avLst>
              <a:gd name="adj" fmla="val 1194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17" id="17"/>
          <p:cNvCxnSpPr/>
          <p:nvPr/>
        </p:nvCxnSpPr>
        <p:spPr>
          <a:xfrm rot="0" flipH="false" flipV="false">
            <a:off x="4660900" y="2082800"/>
            <a:ext cx="410212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sq">
            <a:solidFill>
              <a:srgbClr val="D1D5D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4864100" y="2286000"/>
            <a:ext cx="3771900" cy="203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b="true" i="false" strike="noStrike" u="none" sz="1200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04 · 持续迭代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864100" y="2565400"/>
            <a:ext cx="3771900" cy="355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ts val="1440"/>
              </a:lnSpc>
              <a:defRPr/>
            </a:pPr>
            <a:r>
              <a:rPr lang="en-US" b="false" i="false" strike="noStrike" u="none" sz="9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基于评测切片分析定位 Harness 适配问题或模型能力短板，完成针对性优化调优后再次评测验证。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92100" y="3937000"/>
            <a:ext cx="85471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未来扩展方向：可基于该评测体系，横向接入 QwenPaw、Hermes 等主流 Agent Harness 框架进行多维度对比，建立更全面的模型能力评估矩阵，支撑技术选型与优化决策。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733800" y="1066800"/>
            <a:ext cx="1663700" cy="635000"/>
          </a:xfrm>
          <a:prstGeom prst="roundRect">
            <a:avLst>
              <a:gd name="adj" fmla="val 40000"/>
            </a:avLst>
          </a:prstGeom>
          <a:solidFill>
            <a:srgbClr val="2A9D8F">
              <a:alpha val="25000"/>
            </a:srgbClr>
          </a:solidFill>
          <a:ln w="12700" cmpd="sng" cap="flat">
            <a:solidFill>
              <a:srgbClr val="2A9D8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975100" y="1295400"/>
            <a:ext cx="1206500" cy="190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spcBef>
                <a:spcPts val="1100"/>
              </a:spcBef>
              <a:spcAft>
                <a:spcPts val="1100"/>
              </a:spcAft>
              <a:defRPr/>
            </a:pPr>
            <a:r>
              <a:rPr lang="en-US" b="false" i="false" strike="noStrike" u="none" sz="1100">
                <a:solidFill>
                  <a:srgbClr val="8FD9D1"/>
                </a:solidFill>
                <a:latin typeface="Arial"/>
                <a:ea typeface="Arial"/>
                <a:cs typeface="Arial"/>
                <a:sym typeface="Arial"/>
              </a:rPr>
              <a:t>问答环节 · Q&amp;A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155700" y="2019300"/>
            <a:ext cx="6845300" cy="673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 &amp; A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064000" y="28321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2A9D8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358900" y="3263900"/>
            <a:ext cx="6426200" cy="292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spcAft>
                <a:spcPts val="4000"/>
              </a:spcAft>
              <a:defRPr/>
            </a:pPr>
            <a:r>
              <a:rPr lang="en-US" b="false" i="false" strike="noStrike" u="none" sz="1800">
                <a:solidFill>
                  <a:srgbClr val="AAB7C8"/>
                </a:solidFill>
                <a:latin typeface="Arial"/>
                <a:ea typeface="Arial"/>
                <a:cs typeface="Arial"/>
                <a:sym typeface="Arial"/>
              </a:rPr>
              <a:t>感谢聆听，欢迎大家提问与交流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667000" y="4406900"/>
            <a:ext cx="3810000" cy="203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en-US" b="false" i="false" strike="noStrike" u="none" sz="1200">
                <a:solidFill>
                  <a:srgbClr val="8899AA"/>
                </a:solidFill>
                <a:latin typeface="Arial"/>
                <a:ea typeface="Arial"/>
                <a:cs typeface="Arial"/>
                <a:sym typeface="Arial"/>
              </a:rPr>
              <a:t>期待与您深入探讨，碰撞更多思想火花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4642584"/>
            <a:ext cx="1143000" cy="5009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{"Label":"1","ContentProducer":"001191110102MACQD9K64010000","ProduceID":"7661948334144670694","ReservedCode1":"","ContentPropagator":"","PropagateID":"","ReservedCode2":""}</vt:lpwstr>
  </property>
</Properties>
</file>