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70" r:id="rId4"/>
    <p:sldId id="272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528" autoAdjust="0"/>
  </p:normalViewPr>
  <p:slideViewPr>
    <p:cSldViewPr snapToGrid="0" snapToObjects="1">
      <p:cViewPr varScale="1">
        <p:scale>
          <a:sx n="82" d="100"/>
          <a:sy n="82" d="100"/>
        </p:scale>
        <p:origin x="-1112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8E26E-C721-426D-BD0D-694F8F6A3EA7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E754-0B19-490E-A425-E11BEFCC9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1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0E754-0B19-490E-A425-E11BEFCC960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419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33318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E754-0B19-490E-A425-E11BEFCC960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825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package" Target="../embeddings/Microsoft_Excel_Worksheet3.xlsx"/><Relationship Id="rId5" Type="http://schemas.openxmlformats.org/officeDocument/2006/relationships/package" Target="../embeddings/Microsoft_Excel_Worksheet1.xlsx"/><Relationship Id="rId10" Type="http://schemas.openxmlformats.org/officeDocument/2006/relationships/oleObject" Target="../embeddings/oleObject3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02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02976" y="1347584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94317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sz="1350" b="1" dirty="0" smtClean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SWE-bench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/ </a:t>
              </a:r>
              <a:r>
                <a:rPr lang="en-US" sz="1350" b="1" dirty="0" err="1" smtClean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AppWorld</a:t>
              </a:r>
              <a:r>
                <a:rPr lang="en-US" altLang="zh-CN" sz="1350" b="1" dirty="0">
                  <a:solidFill>
                    <a:schemeClr val="accent2"/>
                  </a:solidFill>
                </a:rPr>
                <a:t> / </a:t>
              </a:r>
              <a:r>
                <a:rPr lang="en-US" altLang="zh-CN" sz="1350" b="1" dirty="0" err="1" smtClean="0">
                  <a:solidFill>
                    <a:schemeClr val="accent2"/>
                  </a:solidFill>
                </a:rPr>
                <a:t>PawBench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98676" y="1347584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197490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</a:t>
              </a:r>
              <a:r>
                <a:rPr lang="en-US" sz="1350" b="1" dirty="0" err="1" smtClean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AgentEvals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4376" y="1347584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89474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350" b="1" dirty="0" smtClean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Promptfoo</a:t>
              </a:r>
              <a:r>
                <a:rPr lang="en-US" altLang="zh-CN" sz="1350" b="1" dirty="0">
                  <a:solidFill>
                    <a:schemeClr val="accent2"/>
                  </a:solidFill>
                </a:rPr>
                <a:t> / </a:t>
              </a:r>
              <a:r>
                <a:rPr lang="en-US" altLang="zh-CN" sz="1350" b="1" dirty="0" err="1" smtClean="0">
                  <a:solidFill>
                    <a:schemeClr val="accent2"/>
                  </a:solidFill>
                </a:rPr>
                <a:t>PawBench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976" y="3633584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98676" y="3633584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94376" y="3633584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9221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</a:t>
              </a:r>
              <a:r>
                <a:rPr lang="en-US" sz="1350" b="1" dirty="0" err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WebArena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altLang="zh-CN" sz="1350" b="1" dirty="0" smtClean="0">
                  <a:solidFill>
                    <a:schemeClr val="accent2"/>
                  </a:solidFill>
                </a:rPr>
                <a:t>/ </a:t>
              </a:r>
              <a:r>
                <a:rPr lang="en-US" altLang="zh-CN" sz="1350" b="1" dirty="0" err="1">
                  <a:solidFill>
                    <a:schemeClr val="accent2"/>
                  </a:solidFill>
                </a:rPr>
                <a:t>PawBench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96880" y="6442710"/>
            <a:ext cx="6643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注：六大范式综合公开文献与社区实践归纳，代表工具为典型示例</a:t>
            </a:r>
          </a:p>
        </p:txBody>
      </p:sp>
      <p:sp>
        <p:nvSpPr>
          <p:cNvPr id="6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4"/>
          <p:cNvSpPr txBox="1"/>
          <p:nvPr/>
        </p:nvSpPr>
        <p:spPr>
          <a:xfrm>
            <a:off x="556260" y="438150"/>
            <a:ext cx="361958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Agent 评测</a:t>
            </a:r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9" name="Group 9"/>
          <p:cNvGrpSpPr/>
          <p:nvPr/>
        </p:nvGrpSpPr>
        <p:grpSpPr>
          <a:xfrm>
            <a:off x="622026" y="1009054"/>
            <a:ext cx="7251421" cy="352044"/>
            <a:chOff x="752856" y="1139190"/>
            <a:chExt cx="7251421" cy="352044"/>
          </a:xfrm>
        </p:grpSpPr>
        <p:sp>
          <p:nvSpPr>
            <p:cNvPr id="70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0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04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8164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2033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948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5398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2948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1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Microsoft YaHei"/>
                <a:ea typeface="Microsoft YaHei"/>
              </a:rPr>
              <a:t>5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2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方法与主流范式对比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4398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协议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06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07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166753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</a:t>
            </a:r>
            <a:r>
              <a:rPr lang="zh-CN" sz="900" dirty="0" smtClean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202</a:t>
            </a:r>
            <a:r>
              <a:rPr lang="en-US" altLang="zh-CN" sz="900" dirty="0" smtClean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6</a:t>
            </a:r>
            <a:r>
              <a:rPr lang="zh-CN" sz="900" dirty="0" smtClean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08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09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10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日常任务（下页对照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11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060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888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1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1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创建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T076 / T078 / T085 / T094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编写可复用 SKILL.md（frontmatter+方法）→ 用该 skill 完成实际任务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使用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SkillsBench T126–T140（15）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hybrid（自动/LLM 按任务）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skills/&lt;name&gt;/SKILL.md → 调用其脚本完成专业任务（3D/规划/控制/Excel…）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 / Skill的能力高度对应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63671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11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sz="1050" b="0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12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428750"/>
            <a:ext cx="4003399" cy="367284"/>
            <a:chOff x="6286500" y="1428750"/>
            <a:chExt cx="4003399" cy="367284"/>
          </a:xfrm>
        </p:grpSpPr>
        <p:sp>
          <p:nvSpPr>
            <p:cNvPr id="13" name="Rectangle 13"/>
            <p:cNvSpPr/>
            <p:nvPr/>
          </p:nvSpPr>
          <p:spPr>
            <a:xfrm>
              <a:off x="6286500" y="142875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67856" y="144399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771650"/>
            <a:ext cx="5143500" cy="1143000"/>
            <a:chOff x="762000" y="1771650"/>
            <a:chExt cx="51435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762000" y="1771650"/>
              <a:ext cx="51435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1771650"/>
              <a:ext cx="38100" cy="1143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184" y="2301422"/>
              <a:ext cx="2981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</a:rPr>
                <a:t>68.1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3494" y="2301422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37154" y="2061210"/>
              <a:ext cx="15036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</a:t>
              </a:r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67</a:t>
              </a:r>
              <a:r>
                <a:rPr lang="en-US" alt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74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7154" y="230886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067050"/>
            <a:ext cx="5143500" cy="1143000"/>
            <a:chOff x="762000" y="3067050"/>
            <a:chExt cx="5143500" cy="1143000"/>
          </a:xfrm>
        </p:grpSpPr>
        <p:sp>
          <p:nvSpPr>
            <p:cNvPr id="24" name="Rectangle 24"/>
            <p:cNvSpPr/>
            <p:nvPr/>
          </p:nvSpPr>
          <p:spPr>
            <a:xfrm>
              <a:off x="762000" y="3067050"/>
              <a:ext cx="51435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3067050"/>
              <a:ext cx="38100" cy="1143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0892" y="32070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213" y="3604260"/>
              <a:ext cx="2981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</a:rPr>
                <a:t>60.3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77387" y="36042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37154" y="3356610"/>
              <a:ext cx="15036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</a:t>
              </a:r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61</a:t>
              </a:r>
              <a:r>
                <a:rPr lang="en-US" alt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44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37154" y="360426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362450"/>
            <a:ext cx="5143500" cy="533400"/>
            <a:chOff x="762000" y="4362450"/>
            <a:chExt cx="5143500" cy="533400"/>
          </a:xfrm>
        </p:grpSpPr>
        <p:sp>
          <p:nvSpPr>
            <p:cNvPr id="32" name="Rectangle 32"/>
            <p:cNvSpPr/>
            <p:nvPr/>
          </p:nvSpPr>
          <p:spPr>
            <a:xfrm>
              <a:off x="762000" y="4362450"/>
              <a:ext cx="51435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0130" y="4543425"/>
              <a:ext cx="152766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分下降 6.3 分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762000" y="5048250"/>
            <a:ext cx="5143500" cy="1143000"/>
          </a:xfrm>
          <a:prstGeom prst="rect">
            <a:avLst/>
          </a:prstGeom>
          <a:solidFill>
            <a:schemeClr val="lt1"/>
          </a:solidFill>
          <a:ln w="19050">
            <a:solidFill>
              <a:schemeClr val="accent3"/>
            </a:solidFill>
            <a:custDash>
              <a:ds d="400000" sp="300000"/>
            </a:custDash>
          </a:ln>
        </p:spPr>
      </p:sp>
      <p:sp>
        <p:nvSpPr>
          <p:cNvPr id="36" name="TextBox 36"/>
          <p:cNvSpPr txBox="1"/>
          <p:nvPr/>
        </p:nvSpPr>
        <p:spPr>
          <a:xfrm>
            <a:off x="1040892" y="5188268"/>
            <a:ext cx="1384995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b="1" dirty="0">
                <a:solidFill>
                  <a:schemeClr val="accent1"/>
                </a:solidFill>
              </a:rPr>
              <a:t>评测</a:t>
            </a:r>
            <a:r>
              <a:rPr lang="zh-CN" altLang="en-US" sz="135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得分</a:t>
            </a:r>
            <a:r>
              <a:rPr lang="zh-CN" altLang="en-US" sz="1350" b="1" dirty="0">
                <a:solidFill>
                  <a:schemeClr val="accent1"/>
                </a:solidFill>
              </a:rPr>
              <a:t>详细</a:t>
            </a:r>
            <a:r>
              <a:rPr lang="zh-CN" sz="135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分析</a:t>
            </a:r>
            <a:endParaRPr lang="zh-CN" sz="13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6286500" y="1771650"/>
            <a:ext cx="5143500" cy="1905000"/>
            <a:chOff x="6286500" y="1771650"/>
            <a:chExt cx="5143500" cy="1905000"/>
          </a:xfrm>
        </p:grpSpPr>
        <p:sp>
          <p:nvSpPr>
            <p:cNvPr id="41" name="Rectangle 41"/>
            <p:cNvSpPr/>
            <p:nvPr/>
          </p:nvSpPr>
          <p:spPr>
            <a:xfrm>
              <a:off x="6286500" y="1771650"/>
              <a:ext cx="5143500" cy="190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5392" y="19116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错误恢复机制变化 · 核心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6154" y="2213610"/>
              <a:ext cx="4850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4.14 出错后由模型自发重试：错误 137 次中恢复 107 次（78.1%）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154" y="2461260"/>
              <a:ext cx="157254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5.28 </a:t>
              </a:r>
              <a:r>
                <a:rPr lang="zh-CN" altLang="en-US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出错后</a:t>
              </a:r>
              <a:r>
                <a:rPr lang="zh-CN" altLang="en-US" sz="1200" dirty="0" smtClean="0">
                  <a:solidFill>
                    <a:srgbClr val="FFFFFF"/>
                  </a:solidFill>
                </a:rPr>
                <a:t>不</a:t>
              </a:r>
              <a:r>
                <a:rPr lang="zh-CN" altLang="en-US" sz="1200" dirty="0">
                  <a:solidFill>
                    <a:srgbClr val="FFFFFF"/>
                  </a:solidFill>
                </a:rPr>
                <a:t>进行</a:t>
              </a:r>
              <a:r>
                <a:rPr lang="zh-CN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重试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154" y="2708910"/>
              <a:ext cx="344325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官方 issue</a:t>
              </a:r>
              <a:r>
                <a:rPr lang="zh-CN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</a:t>
              </a:r>
              <a:r>
                <a:rPr lang="zh-CN" altLang="zh-CN" sz="1200" dirty="0">
                  <a:solidFill>
                    <a:srgbClr val="FFFFFF"/>
                  </a:solidFill>
                </a:rPr>
                <a:t> #</a:t>
              </a:r>
              <a:r>
                <a:rPr lang="en-US" altLang="zh-CN" sz="1200" dirty="0">
                  <a:solidFill>
                    <a:srgbClr val="FFFFFF"/>
                  </a:solidFill>
                </a:rPr>
                <a:t>87571</a:t>
              </a:r>
              <a:r>
                <a:rPr lang="zh-CN" altLang="zh-CN" sz="1200" dirty="0">
                  <a:solidFill>
                    <a:srgbClr val="FFFFFF"/>
                  </a:solidFill>
                </a:rPr>
                <a:t> </a:t>
              </a:r>
              <a:r>
                <a:rPr lang="zh-CN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· </a:t>
              </a:r>
              <a:r>
                <a:rPr lang="zh-CN" altLang="zh-CN" sz="1200" dirty="0" smtClean="0">
                  <a:solidFill>
                    <a:srgbClr val="FFFFFF"/>
                  </a:solidFill>
                </a:rPr>
                <a:t>#</a:t>
              </a:r>
              <a:r>
                <a:rPr lang="zh-CN" altLang="zh-CN" sz="1200" dirty="0">
                  <a:solidFill>
                    <a:srgbClr val="FFFFFF"/>
                  </a:solidFill>
                </a:rPr>
                <a:t>97877</a:t>
              </a:r>
              <a:r>
                <a:rPr lang="zh-CN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· #97966 · #100669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3829050"/>
            <a:ext cx="5143500" cy="1905000"/>
            <a:chOff x="6286500" y="3829050"/>
            <a:chExt cx="5143500" cy="1905000"/>
          </a:xfrm>
        </p:grpSpPr>
        <p:sp>
          <p:nvSpPr>
            <p:cNvPr id="47" name="Rectangle 47"/>
            <p:cNvSpPr/>
            <p:nvPr/>
          </p:nvSpPr>
          <p:spPr>
            <a:xfrm>
              <a:off x="6286500" y="3829050"/>
              <a:ext cx="5143500" cy="190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5392" y="396906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LLM 输出提前终止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6154" y="4271010"/>
              <a:ext cx="34945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推测可能原因为：</a:t>
              </a:r>
              <a:r>
                <a:rPr lang="zh-CN" sz="120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 / 流</a:t>
              </a:r>
              <a:r>
                <a:rPr lang="zh-CN" sz="120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中断</a:t>
              </a:r>
              <a:endParaRPr lang="en-US" altLang="zh-CN" sz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20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timeout 2.7–13.1 分钟分散，同一任务时好时坏）</a:t>
              </a:r>
            </a:p>
          </p:txBody>
        </p:sp>
      </p:grpSp>
      <p:sp>
        <p:nvSpPr>
          <p:cNvPr id="56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1</a:t>
            </a:r>
            <a:r>
              <a:rPr lang="en-US"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556260" y="438150"/>
            <a:ext cx="5219378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评测：</a:t>
            </a:r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OpenClaw</a:t>
            </a:r>
            <a:r>
              <a:rPr lang="en-US" alt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4.14 vs 5.28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组合 3"/>
          <p:cNvGrpSpPr/>
          <p:nvPr/>
        </p:nvGrpSpPr>
        <p:grpSpPr>
          <a:xfrm>
            <a:off x="1041654" y="5490210"/>
            <a:ext cx="956993" cy="868906"/>
            <a:chOff x="1041654" y="5490210"/>
            <a:chExt cx="956993" cy="868906"/>
          </a:xfrm>
        </p:grpSpPr>
        <p:sp>
          <p:nvSpPr>
            <p:cNvPr id="37" name="TextBox 37"/>
            <p:cNvSpPr txBox="1"/>
            <p:nvPr/>
          </p:nvSpPr>
          <p:spPr>
            <a:xfrm>
              <a:off x="1041654" y="5490210"/>
              <a:ext cx="95699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.14 得分分析</a:t>
              </a:r>
            </a:p>
          </p:txBody>
        </p:sp>
        <p:graphicFrame>
          <p:nvGraphicFramePr>
            <p:cNvPr id="61" name="对象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9859076"/>
                </p:ext>
              </p:extLst>
            </p:nvPr>
          </p:nvGraphicFramePr>
          <p:xfrm>
            <a:off x="1138235" y="5701373"/>
            <a:ext cx="763830" cy="6577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" name="工作表" showAsIcon="1" r:id="rId5" imgW="914400" imgH="787320" progId="Excel.Sheet.12">
                    <p:embed/>
                  </p:oleObj>
                </mc:Choice>
                <mc:Fallback>
                  <p:oleObj name="工作表" showAsIcon="1" r:id="rId5" imgW="914400" imgH="787320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38235" y="5701373"/>
                          <a:ext cx="763830" cy="6577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2758221" y="5490210"/>
            <a:ext cx="956993" cy="901583"/>
            <a:chOff x="2769975" y="5490210"/>
            <a:chExt cx="956993" cy="901583"/>
          </a:xfrm>
        </p:grpSpPr>
        <p:graphicFrame>
          <p:nvGraphicFramePr>
            <p:cNvPr id="62" name="对象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1184637"/>
                </p:ext>
              </p:extLst>
            </p:nvPr>
          </p:nvGraphicFramePr>
          <p:xfrm>
            <a:off x="2847582" y="5701373"/>
            <a:ext cx="801778" cy="690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" name="工作表" showAsIcon="1" r:id="rId8" imgW="914400" imgH="787320" progId="Excel.Sheet.12">
                    <p:embed/>
                  </p:oleObj>
                </mc:Choice>
                <mc:Fallback>
                  <p:oleObj name="工作表" showAsIcon="1" r:id="rId8" imgW="914400" imgH="787320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847582" y="5701373"/>
                          <a:ext cx="801778" cy="6904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Box 38"/>
            <p:cNvSpPr txBox="1"/>
            <p:nvPr/>
          </p:nvSpPr>
          <p:spPr>
            <a:xfrm>
              <a:off x="2769975" y="5490210"/>
              <a:ext cx="95699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.28 得分分析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474789" y="5490210"/>
            <a:ext cx="923330" cy="850032"/>
            <a:chOff x="4474789" y="5490210"/>
            <a:chExt cx="923330" cy="850032"/>
          </a:xfrm>
        </p:grpSpPr>
        <p:sp>
          <p:nvSpPr>
            <p:cNvPr id="39" name="TextBox 39"/>
            <p:cNvSpPr txBox="1"/>
            <p:nvPr/>
          </p:nvSpPr>
          <p:spPr>
            <a:xfrm>
              <a:off x="4474789" y="5490210"/>
              <a:ext cx="92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得分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对比分析</a:t>
              </a:r>
            </a:p>
          </p:txBody>
        </p:sp>
        <p:graphicFrame>
          <p:nvGraphicFramePr>
            <p:cNvPr id="63" name="对象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241598"/>
                </p:ext>
              </p:extLst>
            </p:nvPr>
          </p:nvGraphicFramePr>
          <p:xfrm>
            <a:off x="4565498" y="5701373"/>
            <a:ext cx="741912" cy="6388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8" name="工作表" showAsIcon="1" r:id="rId11" imgW="914400" imgH="787320" progId="Excel.Sheet.12">
                    <p:embed/>
                  </p:oleObj>
                </mc:Choice>
                <mc:Fallback>
                  <p:oleObj name="工作表" showAsIcon="1" r:id="rId11" imgW="914400" imgH="787320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65498" y="5701373"/>
                          <a:ext cx="741912" cy="6388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3811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13 / 13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3030</Words>
  <Application>Microsoft Office PowerPoint</Application>
  <PresentationFormat>自定义</PresentationFormat>
  <Paragraphs>504</Paragraphs>
  <Slides>14</Slides>
  <Notes>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pawbench_v2</vt:lpstr>
      <vt:lpstr>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chinalife</dc:creator>
  <cp:lastModifiedBy>chinalife</cp:lastModifiedBy>
  <cp:revision>31</cp:revision>
  <dcterms:created xsi:type="dcterms:W3CDTF">2026-07-20T00:49:04Z</dcterms:created>
  <dcterms:modified xsi:type="dcterms:W3CDTF">2026-08-31T02:38:51Z</dcterms:modified>
  <dc:language/>
</cp:coreProperties>
</file>