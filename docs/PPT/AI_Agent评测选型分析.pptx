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0051" y="1071711"/>
            <a:ext cx="1663750" cy="641152"/>
          </a:xfrm>
          <a:prstGeom prst="roundRect">
            <a:avLst>
              <a:gd name="adj" fmla="val 39616"/>
            </a:avLst>
          </a:prstGeom>
          <a:solidFill>
            <a:srgbClr val="2A9D8F">
              <a:alpha val="25000"/>
            </a:srgbClr>
          </a:solidFill>
          <a:ln w="9525">
            <a:solidFill>
              <a:srgbClr val="2A9D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78176" y="1297037"/>
            <a:ext cx="12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8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选型报告 · 2026.07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51842" y="2017663"/>
            <a:ext cx="684016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评测工具选型分析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64050" y="2836813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8750" y="3268563"/>
            <a:ext cx="6426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为私有化部署的 OpenClaw 及未来 AI Agent 选择最佳评测方案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73464" y="4410075"/>
            <a:ext cx="2596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6 维度 11 款工具的交叉对比分析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802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81000"/>
            <a:ext cx="2331720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53901" y="1468041"/>
            <a:ext cx="2331720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背景与目标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3901" y="2067223"/>
            <a:ext cx="2331720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确定评测框架选型方向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51002" y="381000"/>
            <a:ext cx="55445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为什么需要评测选型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51002" y="984200"/>
            <a:ext cx="634901" cy="381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51002" y="1276201"/>
            <a:ext cx="5544514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公司已部署私有化 OpenClaw，未来可能引入更多 AI Agent。</a:t>
            </a:r>
            <a:endParaRPr lang="en-US" sz="1200" dirty="0"/>
          </a:p>
          <a:p>
            <a:pPr algn="l" indent="0" marL="0">
              <a:lnSpc>
                <a:spcPts val="204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需要一个评测框架来量化评估 Agent 表现，指导迭代优化。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1002" y="1946523"/>
            <a:ext cx="5435798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74814" y="1946523"/>
            <a:ext cx="0" cy="8303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1777" y="2098923"/>
            <a:ext cx="508151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核心诉求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1777" y="2408634"/>
            <a:ext cx="5081510" cy="21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有现成可用的 Agent 评测数据集，无需额外开发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1002" y="2878336"/>
            <a:ext cx="5435798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74814" y="2878336"/>
            <a:ext cx="0" cy="8303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1777" y="3030736"/>
            <a:ext cx="508151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扩展需求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1777" y="3340447"/>
            <a:ext cx="5081510" cy="21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OpenClaw，未来可扩展至其他 Agent Harness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1002" y="3810149"/>
            <a:ext cx="5435798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74814" y="3810149"/>
            <a:ext cx="0" cy="8303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1777" y="3962549"/>
            <a:ext cx="508151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约束条件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01777" y="4272260"/>
            <a:ext cx="5081510" cy="21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国产化优先，内网离线环境可用，社区活跃可持续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3026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85391" y="269825"/>
            <a:ext cx="15541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候选工具概览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999976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2951" y="999976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702" y="1126927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702" y="130462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阿里通义实验室 · 150 任务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9702" y="1476077"/>
            <a:ext cx="896392" cy="139601"/>
          </a:xfrm>
          <a:prstGeom prst="roundRect">
            <a:avLst>
              <a:gd name="adj" fmla="val 727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5902" y="1488728"/>
            <a:ext cx="7588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 ★ 最全数据集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102" y="999976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9152" y="999976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5903" y="1126927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OpenJudge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5903" y="130462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阿里通义实验室 · 评测框架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5903" y="1476077"/>
            <a:ext cx="1079450" cy="139601"/>
          </a:xfrm>
          <a:prstGeom prst="roundRect">
            <a:avLst>
              <a:gd name="adj" fmla="val 727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2103" y="1488728"/>
            <a:ext cx="9455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 ★ PawBench 底层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01" y="1818829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72951" y="1818829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702" y="1945779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WildClawBench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702" y="212348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 AI Lab · 60 任务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702" y="2294930"/>
            <a:ext cx="853529" cy="139601"/>
          </a:xfrm>
          <a:prstGeom prst="roundRect">
            <a:avLst>
              <a:gd name="adj" fmla="val 727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5902" y="2307580"/>
            <a:ext cx="7151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 · 需联网素材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102" y="1818829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19152" y="1818829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5903" y="1945779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ClawBench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5903" y="212348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官方 · 19 任务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15903" y="2294930"/>
            <a:ext cx="507950" cy="139601"/>
          </a:xfrm>
          <a:prstGeom prst="roundRect">
            <a:avLst>
              <a:gd name="adj" fmla="val 7277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92103" y="2307580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任务较少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53901" y="2637681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72951" y="2637681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702" y="2764631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BenchClaw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702" y="2942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Antutu · 25 任务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702" y="3113782"/>
            <a:ext cx="774502" cy="139601"/>
          </a:xfrm>
          <a:prstGeom prst="roundRect">
            <a:avLst>
              <a:gd name="adj" fmla="val 727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5902" y="3126432"/>
            <a:ext cx="634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远程拉题不可控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00102" y="2637681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19152" y="2637681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5903" y="2764631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ClawProBench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15903" y="294233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个人维护 · 102+68 任务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15903" y="3113782"/>
            <a:ext cx="507950" cy="139601"/>
          </a:xfrm>
          <a:prstGeom prst="roundRect">
            <a:avLst>
              <a:gd name="adj" fmla="val 7277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92103" y="3126432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个人项目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3901" y="3456533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72951" y="3456533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702" y="3583484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PinchBench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9702" y="376118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 Code · 23 任务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9702" y="3932634"/>
            <a:ext cx="596801" cy="139601"/>
          </a:xfrm>
          <a:prstGeom prst="roundRect">
            <a:avLst>
              <a:gd name="adj" fmla="val 7277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5902" y="3945285"/>
            <a:ext cx="45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更新不频繁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00102" y="3456533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219152" y="3456533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5903" y="3583484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AgentBench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15903" y="376118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多校联合 · ~180 任务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15903" y="3932634"/>
            <a:ext cx="596801" cy="139601"/>
          </a:xfrm>
          <a:prstGeom prst="roundRect">
            <a:avLst>
              <a:gd name="adj" fmla="val 7277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492103" y="3945285"/>
            <a:ext cx="45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场景不匹配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53901" y="4275386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72951" y="4275386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702" y="4402336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69702" y="458003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AI · 框架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9702" y="4751487"/>
            <a:ext cx="596801" cy="139601"/>
          </a:xfrm>
          <a:prstGeom prst="roundRect">
            <a:avLst>
              <a:gd name="adj" fmla="val 727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5902" y="4764137"/>
            <a:ext cx="45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需自建用例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00102" y="4275386"/>
            <a:ext cx="2870002" cy="742652"/>
          </a:xfrm>
          <a:prstGeom prst="roundRect">
            <a:avLst>
              <a:gd name="adj" fmla="val 102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3219152" y="4275386"/>
            <a:ext cx="0" cy="74265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5903" y="4402336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15903" y="458003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CLI · 框架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15903" y="4751487"/>
            <a:ext cx="596801" cy="139601"/>
          </a:xfrm>
          <a:prstGeom prst="roundRect">
            <a:avLst>
              <a:gd name="adj" fmla="val 727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492103" y="4764137"/>
            <a:ext cx="45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需自建用例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3026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85391" y="269825"/>
            <a:ext cx="15541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六维评估体系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1025426"/>
            <a:ext cx="4254550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602" y="1152376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102" y="1217414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4853" y="1152376"/>
            <a:ext cx="3433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现成数据集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30%)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4853" y="1368177"/>
            <a:ext cx="3433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是否具备可直接使用的 Agent 评测任务，无需额外开发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761827"/>
            <a:ext cx="4254550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1602" y="1888778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102" y="1953816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853" y="1888778"/>
            <a:ext cx="3433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易用性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20%)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4853" y="2104579"/>
            <a:ext cx="3433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部署门槛、文档完善度、开箱即用的程度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901" y="2498229"/>
            <a:ext cx="4254550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1602" y="2625179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102" y="2690217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4853" y="2625179"/>
            <a:ext cx="3433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国产化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15%)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853" y="2840980"/>
            <a:ext cx="3433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国产团队维护，中文支持，对国产模型友好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35401" y="1025426"/>
            <a:ext cx="4254698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3102" y="1152376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602" y="1217414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6353" y="1152376"/>
            <a:ext cx="34333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扩展性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15%)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6353" y="1368177"/>
            <a:ext cx="3433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支持自定义任务、对接不同 Harness 和模型的能力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35401" y="1761827"/>
            <a:ext cx="4254698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3102" y="1888778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4602" y="1953816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6353" y="1888778"/>
            <a:ext cx="34333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活跃度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10%)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6353" y="2104579"/>
            <a:ext cx="3433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更新频率、社区活跃度、维护团队背景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35401" y="2498229"/>
            <a:ext cx="4254698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3102" y="2625179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602" y="2690217"/>
            <a:ext cx="2073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6353" y="2625179"/>
            <a:ext cx="34333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开源情况 </a:t>
            </a:r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(权重 10%)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6353" y="2840980"/>
            <a:ext cx="3433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代码是否完全开源，有无商业使用限制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027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7263" y="244376"/>
            <a:ext cx="13990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综合评分对比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936427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六维加权评分（满分 10），权重：现成数据集 30% · 易用性 20% · 国产化 15% · 扩展性 15% · 活跃度 10% · 开源 10%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589437" y="2832497"/>
            <a:ext cx="20042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[评分矩阵表格 — 10 工具 × 7 维度]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4800" y="4738241"/>
            <a:ext cx="8705088" cy="1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推荐方案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190327"/>
          <a:ext cx="8534400" cy="3446413"/>
        </p:xfrm>
        <a:graphic>
          <a:graphicData uri="http://schemas.openxmlformats.org/drawingml/2006/table">
            <a:tbl>
              <a:tblPr/>
              <a:tblGrid>
                <a:gridCol w="1365504"/>
                <a:gridCol w="853440"/>
                <a:gridCol w="682752"/>
                <a:gridCol w="1024128"/>
                <a:gridCol w="1024128"/>
                <a:gridCol w="1024128"/>
                <a:gridCol w="1024128"/>
                <a:gridCol w="853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项目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活跃度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开源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国产化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扩展性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易用性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总分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PawBench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9.55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OpenJudge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7.90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WildClawBench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7.70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ClawProBench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6.70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DeepEval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6.45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BenchClaw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6.35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Promptfoo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6.25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ClawBench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6.15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AgentBench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5.40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PinchBench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4.65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027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7263" y="244376"/>
            <a:ext cx="9326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961727"/>
            <a:ext cx="8534400" cy="898922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961727"/>
            <a:ext cx="0" cy="89892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575" y="1114127"/>
            <a:ext cx="8242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PawBench 拥有最大规模的现成 Agent 数据集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5575" y="1342727"/>
            <a:ext cx="824208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道任务来自 6 个子数据集，覆盖办公、软件工程、安全、信息检索等场景。远超其他项目（WildClawBench 60 题、ClawProBench 102 题）。DeepEval / Promptfoo 则完全没有现成 Agent 任务。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1987600"/>
            <a:ext cx="8534400" cy="716161"/>
          </a:xfrm>
          <a:prstGeom prst="roundRect">
            <a:avLst>
              <a:gd name="adj" fmla="val 10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1987600"/>
            <a:ext cx="0" cy="71616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575" y="2140000"/>
            <a:ext cx="8242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DeepEval / Promptfoo 虽活跃但缺少数据集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5575" y="2368600"/>
            <a:ext cx="82420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两者均为通用评测框架，需自行构建评测用例和数据集。适合已有数据集的持续集成场景，不适合从零开始的 Agent 评测选型。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2830711"/>
            <a:ext cx="8534400" cy="716161"/>
          </a:xfrm>
          <a:prstGeom prst="roundRect">
            <a:avLst>
              <a:gd name="adj" fmla="val 10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2830711"/>
            <a:ext cx="0" cy="71616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575" y="2983111"/>
            <a:ext cx="8242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部分项目内网场景受限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5575" y="3211711"/>
            <a:ext cx="82420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WildClawBench 需联网下载视频素材，BenchClaw 从远程服务器拉题。对于完全隔离的内网环境，这些项目可用性大幅降低。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673822"/>
            <a:ext cx="8534400" cy="716161"/>
          </a:xfrm>
          <a:prstGeom prst="roundRect">
            <a:avLst>
              <a:gd name="adj" fmla="val 10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8613" y="3673822"/>
            <a:ext cx="0" cy="716161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575" y="3826222"/>
            <a:ext cx="8242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PawBench 基于 OpenJudge 框架，扩展性有保障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575" y="4054822"/>
            <a:ext cx="82420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继承 50+ 生产级 Grader，支持自定义评判器、对接 LangSmith/Langfuse，未来扩展自定义评测任务门槛低。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400800" cy="762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621060"/>
            <a:ext cx="882402" cy="282476"/>
          </a:xfrm>
          <a:prstGeom prst="roundRect">
            <a:avLst>
              <a:gd name="adj" fmla="val 89919"/>
            </a:avLst>
          </a:prstGeom>
          <a:noFill/>
          <a:ln w="9525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681335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选型结论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055936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 PawBench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7950" y="169083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400" dirty="0">
                <a:solidFill>
                  <a:srgbClr val="8F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6 维度加权评估，PawBench 以 9.55/10 分领先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233761"/>
            <a:ext cx="2624733" cy="1050727"/>
          </a:xfrm>
          <a:prstGeom prst="roundRect">
            <a:avLst>
              <a:gd name="adj" fmla="val 967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2386161"/>
            <a:ext cx="2262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1101" y="2706737"/>
            <a:ext cx="2262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现成任务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2922538"/>
            <a:ext cx="226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开箱即用，含 6 个子数据集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9634" y="2233761"/>
            <a:ext cx="2624733" cy="1050727"/>
          </a:xfrm>
          <a:prstGeom prst="roundRect">
            <a:avLst>
              <a:gd name="adj" fmla="val 967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62784" y="2386161"/>
            <a:ext cx="2262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62784" y="2706737"/>
            <a:ext cx="2262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 Harness 支持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2784" y="2922538"/>
            <a:ext cx="226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/ QwenPaw / Hermes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11317" y="2233761"/>
            <a:ext cx="2624733" cy="1050727"/>
          </a:xfrm>
          <a:prstGeom prst="roundRect">
            <a:avLst>
              <a:gd name="adj" fmla="val 967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4467" y="2386161"/>
            <a:ext cx="226280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4467" y="2744837"/>
            <a:ext cx="2262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国产方案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4467" y="2960638"/>
            <a:ext cx="226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阿里通义实验室，中文文档完善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411438"/>
            <a:ext cx="2819251" cy="1060252"/>
          </a:xfrm>
          <a:prstGeom prst="roundRect">
            <a:avLst>
              <a:gd name="adj" fmla="val 958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101" y="3563838"/>
            <a:ext cx="2461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1101" y="3932039"/>
            <a:ext cx="2461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内网友好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101" y="4147840"/>
            <a:ext cx="24612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离线可运行，支持自定义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54152" y="3411438"/>
            <a:ext cx="2819251" cy="1060252"/>
          </a:xfrm>
          <a:prstGeom prst="roundRect">
            <a:avLst>
              <a:gd name="adj" fmla="val 958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7302" y="3563838"/>
            <a:ext cx="24612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302" y="3884414"/>
            <a:ext cx="2461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Grader 继承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302" y="4100215"/>
            <a:ext cx="24612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OpenJudge 框架，扩展性强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027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7263" y="244376"/>
            <a:ext cx="9326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实施路线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037927"/>
            <a:ext cx="4102150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56977"/>
            <a:ext cx="410215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1253728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选型确认 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4150" y="1529953"/>
            <a:ext cx="37697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完成工具调研与对比分析，确定 PawBench 为评测框架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0850" y="1037927"/>
            <a:ext cx="4102150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0850" y="1056977"/>
            <a:ext cx="410215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001" y="1253728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环境准备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001" y="1529953"/>
            <a:ext cx="37697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外网构建 Docker 镜像 + 离线 wheel 包，传输到内网服务器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068116"/>
            <a:ext cx="4102150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2087166"/>
            <a:ext cx="410215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150" y="2283916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首次评测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4150" y="2560141"/>
            <a:ext cx="37697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.env 指向内网 LLM，运行基准评测获取基线分数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0850" y="2068116"/>
            <a:ext cx="4102150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0850" y="2087166"/>
            <a:ext cx="410215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001" y="2283916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持续迭代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001" y="2560141"/>
            <a:ext cx="37697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根据切片分析定位 Harness/模型短板，针对性优化后再评测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" y="4622899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5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未来可根据需要扩展至 QwenPaw、Hermes 等 Harness 横向对比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评测工具选型分析</dc:title>
  <dc:subject>PptxGenJS Presentation</dc:subject>
  <dc:creator>AI Agent Eval Selection</dc:creator>
  <cp:lastModifiedBy>AI Agent Eval Selection</cp:lastModifiedBy>
  <cp:revision>1</cp:revision>
  <dcterms:created xsi:type="dcterms:W3CDTF">2026-07-13T09:12:43Z</dcterms:created>
  <dcterms:modified xsi:type="dcterms:W3CDTF">2026-07-13T09:12:43Z</dcterms:modified>
</cp:coreProperties>
</file>