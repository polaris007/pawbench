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70" r:id="rId4"/>
    <p:sldId id="272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4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-60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8E26E-C721-426D-BD0D-694F8F6A3EA7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0E754-0B19-490E-A425-E11BEFCC9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11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13 实战评测案例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这是我们用 PawBench 做的真实评测：同一 LLM（QWen35-397b）下，OpenClaw 框架从 4.14 升级到 5.28，得分从 68.1 / 66.0 / 70.3（平均 0.6774）降到 60.3 / 61.2 / 59.7（平均 0.6144），平均分下降 6.3 分。</a:t>
            </a:r>
          </a:p>
          <a:p>
            <a:r>
              <a:rPr lang="zh-CN" dirty="0"/>
              <a:t>• 关键差异：5.28 的 partialArgs 截断次数高达 2,160（4.14 仅 137，约 15.8 倍）；4.14 错误后能重试恢复 107 次，5.28 恢复 0 次。</a:t>
            </a:r>
          </a:p>
          <a:p>
            <a:r>
              <a:rPr lang="zh-CN" dirty="0"/>
              <a:t>• 根因：5.28 架构调整后，LLM 流截断的 tool call 不重试——官方 PR openclaw/openclaw #87571 确认这是已知架构缺陷（truncated tool call 落入 terminal error，不触发重试级联）。</a:t>
            </a:r>
          </a:p>
          <a:p>
            <a:r>
              <a:rPr lang="zh-CN" dirty="0"/>
              <a:t>• 错误类型：timed out / aborted / Context overflow 各约 30%，其中 Context overflow 在 4.14 从未出现。</a:t>
            </a:r>
          </a:p>
          <a:p>
            <a:r>
              <a:rPr lang="zh-CN" dirty="0"/>
              <a:t>• 结论：版本升级未必带来收益，PawBench 让「Agent 框架迭代」效果可量化、可归因。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这个案例说明，框架升级是好是坏不能凭感觉——最后我们总结一下 PawBench 的核心价值。</a:t>
            </a:r>
          </a:p>
        </p:txBody>
      </p:sp>
    </p:spTree>
    <p:extLst>
      <p:ext uri="{BB962C8B-B14F-4D97-AF65-F5344CB8AC3E}">
        <p14:creationId xmlns:p14="http://schemas.microsoft.com/office/powerpoint/2010/main" val="333318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0E754-0B19-490E-A425-E11BEFCC960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825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3.xlsx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Worksheet2.xlsx"/><Relationship Id="rId5" Type="http://schemas.openxmlformats.org/officeDocument/2006/relationships/image" Target="../media/image2.wmf"/><Relationship Id="rId4" Type="http://schemas.openxmlformats.org/officeDocument/2006/relationships/package" Target="../embeddings/Microsoft_Excel_Worksheet1.xlsx"/><Relationship Id="rId9" Type="http://schemas.openxmlformats.org/officeDocument/2006/relationships/image" Target="../media/image4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42950" y="2099310"/>
            <a:ext cx="818746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基于 PawBench 的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81300"/>
            <a:ext cx="13335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46760" y="3219450"/>
            <a:ext cx="6558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094" y="3847148"/>
            <a:ext cx="515327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三维交叉评测体系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4369118"/>
            <a:ext cx="606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 · 自动评分引擎 · Docker 内网隔离 · 七维原子能力诊断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8191500" y="1866900"/>
            <a:ext cx="3238500" cy="3086100"/>
          </a:xfrm>
          <a:prstGeom prst="roundRect">
            <a:avLst>
              <a:gd name="adj" fmla="val 4938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413242" y="2102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三维交叉评测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420100" y="24955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Ellipse 12"/>
          <p:cNvSpPr/>
          <p:nvPr/>
        </p:nvSpPr>
        <p:spPr>
          <a:xfrm>
            <a:off x="8629650" y="27051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8852154" y="2689860"/>
            <a:ext cx="1621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Model · 决定能力上限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20100" y="31813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Ellipse 15"/>
          <p:cNvSpPr/>
          <p:nvPr/>
        </p:nvSpPr>
        <p:spPr>
          <a:xfrm>
            <a:off x="8629650" y="33909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852154" y="3375660"/>
            <a:ext cx="18035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· 决定稳定落地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420100" y="38671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Ellipse 18"/>
          <p:cNvSpPr/>
          <p:nvPr/>
        </p:nvSpPr>
        <p:spPr>
          <a:xfrm>
            <a:off x="8629650" y="40767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8852154" y="4061460"/>
            <a:ext cx="1544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· 决定任务场景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5147" y="4581049"/>
            <a:ext cx="1724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三者独立评测，定位真实瓶颈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02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602976" y="1347584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873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τ-bench / SWE-bench / AppWorld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98676" y="1347584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2195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AgentEvals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94376" y="1347584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2450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Promptfoo / 通用开放任务评测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2976" y="3633584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298676" y="3633584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994376" y="3633584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WebArena / OSWorld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596880" y="6442710"/>
            <a:ext cx="66439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注：六大范式综合公开文献与社区实践归纳，代表工具为典型示例</a:t>
            </a:r>
          </a:p>
        </p:txBody>
      </p:sp>
      <p:sp>
        <p:nvSpPr>
          <p:cNvPr id="67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3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8" name="TextBox 4"/>
          <p:cNvSpPr txBox="1"/>
          <p:nvPr/>
        </p:nvSpPr>
        <p:spPr>
          <a:xfrm>
            <a:off x="556260" y="438150"/>
            <a:ext cx="361958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 Agent 评测</a:t>
            </a:r>
            <a:r>
              <a:rPr lang="zh-CN" altLang="en-US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69" name="Group 9"/>
          <p:cNvGrpSpPr/>
          <p:nvPr/>
        </p:nvGrpSpPr>
        <p:grpSpPr>
          <a:xfrm>
            <a:off x="622026" y="1009054"/>
            <a:ext cx="7251421" cy="352044"/>
            <a:chOff x="752856" y="1139190"/>
            <a:chExt cx="7251421" cy="352044"/>
          </a:xfrm>
        </p:grpSpPr>
        <p:sp>
          <p:nvSpPr>
            <p:cNvPr id="70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970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04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8164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62033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948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5398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2948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1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dirty="0">
                <a:solidFill>
                  <a:srgbClr val="1E3A8A"/>
                </a:solidFill>
                <a:latin typeface="Microsoft YaHei"/>
                <a:ea typeface="Microsoft YaHei"/>
              </a:rPr>
              <a:t>5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2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altLang="en-US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方法与主流范式对比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4398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8284" y="470535"/>
            <a:ext cx="289124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的 </a:t>
            </a:r>
            <a:r>
              <a:rPr lang="zh-CN" altLang="en-US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优势</a:t>
            </a:r>
            <a:endParaRPr lang="zh-CN" sz="27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762000" y="914400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5523" y="1119664"/>
            <a:ext cx="41343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综合 9 个主流方案对比 + 企业级 Agent 评测落地需求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47625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lipse 8"/>
          <p:cNvSpPr/>
          <p:nvPr/>
        </p:nvSpPr>
        <p:spPr>
          <a:xfrm>
            <a:off x="981075" y="18859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181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5618" y="1984058"/>
            <a:ext cx="17504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完整 Agent 评测</a:t>
            </a:r>
          </a:p>
        </p:txBody>
      </p:sp>
      <p:sp>
        <p:nvSpPr>
          <p:cNvPr id="11" name="Line 11"/>
          <p:cNvSpPr/>
          <p:nvPr/>
        </p:nvSpPr>
        <p:spPr>
          <a:xfrm>
            <a:off x="10001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9951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1279" y="26327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同时评估 Model × Harness × Task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1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2041" y="2982278"/>
            <a:ext cx="21688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LLM 榜单（不测工具调用）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2041" y="3201352"/>
            <a:ext cx="2097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Skill 评测（不测完整流程）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8"/>
          <p:cNvSpPr/>
          <p:nvPr/>
        </p:nvSpPr>
        <p:spPr>
          <a:xfrm>
            <a:off x="6286500" y="161925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lipse 19"/>
          <p:cNvSpPr/>
          <p:nvPr/>
        </p:nvSpPr>
        <p:spPr>
          <a:xfrm>
            <a:off x="6505575" y="18859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6426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0118" y="19840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22" name="Line 22"/>
          <p:cNvSpPr/>
          <p:nvPr/>
        </p:nvSpPr>
        <p:spPr>
          <a:xfrm>
            <a:off x="65246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65196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5779" y="2632710"/>
            <a:ext cx="2229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沙箱隔离，数据不出网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96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76541" y="2982278"/>
            <a:ext cx="2646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区别于 GAIA / AgentBench / PinchBench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76541" y="3201352"/>
            <a:ext cx="15041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等依赖公网 API 的方案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9"/>
          <p:cNvSpPr/>
          <p:nvPr/>
        </p:nvSpPr>
        <p:spPr>
          <a:xfrm>
            <a:off x="762000" y="3810000"/>
            <a:ext cx="47625" cy="1905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981075" y="4076700"/>
            <a:ext cx="419100" cy="4191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1181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5618" y="4174808"/>
            <a:ext cx="28419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Model × Harness 交叉评测</a:t>
            </a:r>
          </a:p>
        </p:txBody>
      </p:sp>
      <p:sp>
        <p:nvSpPr>
          <p:cNvPr id="33" name="Line 33"/>
          <p:cNvSpPr/>
          <p:nvPr/>
        </p:nvSpPr>
        <p:spPr>
          <a:xfrm>
            <a:off x="10001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9951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51279" y="4823460"/>
            <a:ext cx="2670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行业首创 Model × Harness 解耦设计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51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52041" y="51730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独立衡量模型能力与工程稳定性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2041" y="53921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定位真实瓶颈来源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40"/>
          <p:cNvSpPr/>
          <p:nvPr/>
        </p:nvSpPr>
        <p:spPr>
          <a:xfrm>
            <a:off x="6286500" y="381000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lipse 41"/>
          <p:cNvSpPr/>
          <p:nvPr/>
        </p:nvSpPr>
        <p:spPr>
          <a:xfrm>
            <a:off x="6505575" y="4076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66426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0118" y="41748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开源可扩展</a:t>
            </a:r>
          </a:p>
        </p:txBody>
      </p:sp>
      <p:sp>
        <p:nvSpPr>
          <p:cNvPr id="44" name="Line 44"/>
          <p:cNvSpPr/>
          <p:nvPr/>
        </p:nvSpPr>
        <p:spPr>
          <a:xfrm>
            <a:off x="65246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65196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75779" y="482346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96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76541" y="5173028"/>
            <a:ext cx="2386872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基于 OpenJudge 生态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，</a:t>
            </a:r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Apache 2.0 协议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376541" y="5392102"/>
            <a:ext cx="2437516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阿里通义实验室</a:t>
            </a:r>
            <a:r>
              <a:rPr lang="en-US" altLang="zh-CN" sz="1050" dirty="0" err="1">
                <a:solidFill>
                  <a:schemeClr val="accent5"/>
                </a:solidFill>
                <a:latin typeface="Segoe UI"/>
                <a:cs typeface="Segoe UI"/>
              </a:rPr>
              <a:t>AgentScope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团队维护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762000" y="600075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2842184" y="6197918"/>
            <a:ext cx="65076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唯一在「完整 Agent」「内网部署」「可扩展」三项同时 ★★★★★ 的方案</a:t>
            </a:r>
          </a:p>
        </p:txBody>
      </p:sp>
      <p:sp>
        <p:nvSpPr>
          <p:cNvPr id="52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06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07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15416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</a:t>
            </a:r>
            <a:r>
              <a:rPr lang="zh-CN" altLang="en-US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种</a:t>
            </a:r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9808" y="483870"/>
            <a:ext cx="745357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altLang="en-US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官方</a:t>
            </a:r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评测结果 · Model × Harness 评分矩阵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04875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285" y="1116806"/>
            <a:ext cx="5217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全景 150 个任务（文本 + 多模态） · 9 模型 × 3 Harness · Overall 综合得分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57238" y="5964883"/>
            <a:ext cx="6778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数据来源：PawBench OpenJudge 评测引擎 · 截至 2025 年 7 月 · 平均分 = 跨 harness 加权 · 单元格颜色深浅代表分数高低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03" y="1429600"/>
            <a:ext cx="9354792" cy="4374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08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09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577081" cy="1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16390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能力 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10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sz="1050" b="0" dirty="0">
              <a:solidFill>
                <a:srgbClr val="1E3A8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借 T053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看清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PawBench「执行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采集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汇总」的评测链路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——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它同样适用于</a:t>
            </a:r>
            <a:r>
              <a:rPr lang="zh-CN" altLang="en-US"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其它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日常任务（下页对照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16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PawBench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任务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↔ 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日常</a:t>
            </a:r>
            <a:r>
              <a:rPr lang="zh-CN" altLang="en-US"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工作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能力</a:t>
            </a:r>
            <a:endParaRPr sz="3200" b="1" dirty="0">
              <a:solidFill>
                <a:srgbClr val="1E3A8A"/>
              </a:solidFill>
              <a:latin typeface="Microsoft YaHei"/>
              <a:ea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0000" y="980000"/>
            <a:ext cx="116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日常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7 类使用场景中，6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类在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都有强匹配任务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；</a:t>
            </a:r>
            <a:r>
              <a:rPr lang="zh-CN" altLang="en-US"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T053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走完全相同的「执行→采集→评分→汇总」链路</a:t>
            </a:r>
            <a:endParaRPr sz="15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17184"/>
              </p:ext>
            </p:extLst>
          </p:nvPr>
        </p:nvGraphicFramePr>
        <p:xfrm>
          <a:off x="600000" y="1480000"/>
          <a:ext cx="11432974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118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060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8880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日常能力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对应任务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评分方式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考察核心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邮件处理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T016 Email Triage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0.35 / LLM 0.65）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读收件箱 → 分类(需回复/通知/垃圾) → 结构化输出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通讯录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CRM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T026 / T027 CRM Export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从 CRM 导出客户与通讯录数据，并做错误恢复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内部新闻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资讯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T025 Newsletter Curation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多源 RSS 筛选 → 编辑摘要 → 形成技术简报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100" b="1" kern="120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Excel / </a:t>
                      </a:r>
                      <a:r>
                        <a:rPr sz="1100" b="1" kern="120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表格</a:t>
                      </a:r>
                      <a:endParaRPr sz="1300" b="1" kern="1200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  <a:cs typeface="+mn-cs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T140 Xlsx Recover Data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0.6 / LLM 0.4）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nasa_budget_incomplete.xlsx → 修复 15 个 ??? 缺值（跨 4 工作表依赖）→ 存 nasa_budget_recovered.xlsx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文档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(PDF)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T055 合同分析 / T058 论文通俗摘要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llm_judge（纯 LLM 评判）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PDF 合同 → 法律条款与风险评估 → .md；读论文 PDF → 通俗摘要 → .txt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代码处理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T064 Playwright E2E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编写并调试端到端表单测试代码（真实代码操作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创建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T076 / T078 / T085 / T094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编写可复用 SKILL.md（frontmatter+方法）→ 用该 skill 完成实际任务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使用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SkillsBench T126–T140（15）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hybrid（自动/LLM 按任务）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skills/&lt;name&gt;/SKILL.md → 调用其脚本完成专业任务（3D/规划/控制/Excel…）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6322684"/>
            <a:ext cx="116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注：上述任务均为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hybrid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评分（自动检查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+ LLM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评判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），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与日常使用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OpenClaw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处理邮件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表格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文档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代码 / Skill的能力高度对应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420" y="203200"/>
            <a:ext cx="63671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11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sz="1050" b="0" dirty="0">
              <a:solidFill>
                <a:srgbClr val="1E3A8A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12 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55142" y="1092518"/>
            <a:ext cx="6661901" cy="264033"/>
            <a:chOff x="755142" y="1092518"/>
            <a:chExt cx="6661901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755142" y="1092518"/>
              <a:ext cx="6661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 LLM（QWen35-397b）× 同一任务集 — 「Agent 框架迭代」效果可量化验证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2527695" cy="367284"/>
            <a:chOff x="762000" y="1428750"/>
            <a:chExt cx="2527695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4439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评测结果 · 得分对比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0" y="1428750"/>
            <a:ext cx="4003399" cy="367284"/>
            <a:chOff x="6286500" y="1428750"/>
            <a:chExt cx="4003399" cy="367284"/>
          </a:xfrm>
        </p:grpSpPr>
        <p:sp>
          <p:nvSpPr>
            <p:cNvPr id="13" name="Rectangle 13"/>
            <p:cNvSpPr/>
            <p:nvPr/>
          </p:nvSpPr>
          <p:spPr>
            <a:xfrm>
              <a:off x="6286500" y="1428750"/>
              <a:ext cx="381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67856" y="1443990"/>
              <a:ext cx="3822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根因分析 · 为什么 5.28 分数更低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1771650"/>
            <a:ext cx="5143500" cy="1143000"/>
            <a:chOff x="762000" y="1771650"/>
            <a:chExt cx="51435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762000" y="1771650"/>
              <a:ext cx="51435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1771650"/>
              <a:ext cx="38100" cy="1143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089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4.14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9184" y="2301422"/>
              <a:ext cx="2981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</a:rPr>
                <a:t>68.1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93494" y="2301422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66.0 / 70.3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37154" y="2061210"/>
              <a:ext cx="150361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</a:t>
              </a:r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67</a:t>
              </a:r>
              <a:r>
                <a:rPr lang="en-US" alt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.</a:t>
              </a:r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74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37154" y="230886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错误后可恢复：107 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067050"/>
            <a:ext cx="5143500" cy="1143000"/>
            <a:chOff x="762000" y="3067050"/>
            <a:chExt cx="5143500" cy="1143000"/>
          </a:xfrm>
        </p:grpSpPr>
        <p:sp>
          <p:nvSpPr>
            <p:cNvPr id="24" name="Rectangle 24"/>
            <p:cNvSpPr/>
            <p:nvPr/>
          </p:nvSpPr>
          <p:spPr>
            <a:xfrm>
              <a:off x="762000" y="3067050"/>
              <a:ext cx="51435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3067050"/>
              <a:ext cx="38100" cy="1143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0892" y="32070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5.28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8213" y="3604260"/>
              <a:ext cx="2981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</a:rPr>
                <a:t>60.3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77387" y="36042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61.2 / 59.7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37154" y="3356610"/>
              <a:ext cx="150361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</a:t>
              </a:r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61</a:t>
              </a:r>
              <a:r>
                <a:rPr lang="en-US" alt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.</a:t>
              </a:r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44</a:t>
              </a:r>
              <a:endPara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37154" y="360426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错误后可恢复：0 次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4362450"/>
            <a:ext cx="5143500" cy="533400"/>
            <a:chOff x="762000" y="4362450"/>
            <a:chExt cx="5143500" cy="533400"/>
          </a:xfrm>
        </p:grpSpPr>
        <p:sp>
          <p:nvSpPr>
            <p:cNvPr id="32" name="Rectangle 32"/>
            <p:cNvSpPr/>
            <p:nvPr/>
          </p:nvSpPr>
          <p:spPr>
            <a:xfrm>
              <a:off x="762000" y="4362450"/>
              <a:ext cx="51435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40130" y="4543425"/>
              <a:ext cx="152766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 smtClean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分下降 6.3 分</a:t>
              </a:r>
            </a:p>
          </p:txBody>
        </p:sp>
      </p:grpSp>
      <p:sp>
        <p:nvSpPr>
          <p:cNvPr id="35" name="Rectangle 35"/>
          <p:cNvSpPr/>
          <p:nvPr/>
        </p:nvSpPr>
        <p:spPr>
          <a:xfrm>
            <a:off x="762000" y="5048250"/>
            <a:ext cx="5143500" cy="1143000"/>
          </a:xfrm>
          <a:prstGeom prst="rect">
            <a:avLst/>
          </a:prstGeom>
          <a:solidFill>
            <a:schemeClr val="lt1"/>
          </a:solidFill>
          <a:ln w="19050">
            <a:solidFill>
              <a:schemeClr val="accent3"/>
            </a:solidFill>
            <a:custDash>
              <a:ds d="400000" sp="300000"/>
            </a:custDash>
          </a:ln>
        </p:spPr>
      </p:sp>
      <p:sp>
        <p:nvSpPr>
          <p:cNvPr id="36" name="TextBox 36"/>
          <p:cNvSpPr txBox="1"/>
          <p:nvPr/>
        </p:nvSpPr>
        <p:spPr>
          <a:xfrm>
            <a:off x="1040892" y="5188268"/>
            <a:ext cx="1384995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350" b="1" dirty="0">
                <a:solidFill>
                  <a:schemeClr val="accent1"/>
                </a:solidFill>
              </a:rPr>
              <a:t>评测</a:t>
            </a:r>
            <a:r>
              <a:rPr lang="zh-CN" altLang="en-US" sz="135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得分</a:t>
            </a:r>
            <a:r>
              <a:rPr lang="zh-CN" altLang="en-US" sz="1350" b="1" dirty="0">
                <a:solidFill>
                  <a:schemeClr val="accent1"/>
                </a:solidFill>
              </a:rPr>
              <a:t>详细</a:t>
            </a:r>
            <a:r>
              <a:rPr lang="zh-CN" sz="135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分析</a:t>
            </a:r>
            <a:endParaRPr lang="zh-CN" sz="13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6286500" y="1771650"/>
            <a:ext cx="5143500" cy="1905000"/>
            <a:chOff x="6286500" y="1771650"/>
            <a:chExt cx="5143500" cy="1905000"/>
          </a:xfrm>
        </p:grpSpPr>
        <p:sp>
          <p:nvSpPr>
            <p:cNvPr id="41" name="Rectangle 41"/>
            <p:cNvSpPr/>
            <p:nvPr/>
          </p:nvSpPr>
          <p:spPr>
            <a:xfrm>
              <a:off x="6286500" y="1771650"/>
              <a:ext cx="5143500" cy="1905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5392" y="19116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错误恢复机制变化 · 核心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6154" y="2213610"/>
              <a:ext cx="4850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4.14 出错后由模型自发重试：错误 137 次中恢复 107 次（78.1%）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6154" y="2461260"/>
              <a:ext cx="157254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5.28 </a:t>
              </a:r>
              <a:r>
                <a:rPr lang="zh-CN" altLang="en-US" sz="1200" dirty="0" smtClean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出错后</a:t>
              </a:r>
              <a:r>
                <a:rPr lang="zh-CN" altLang="en-US" sz="1200" dirty="0" smtClean="0">
                  <a:solidFill>
                    <a:srgbClr val="FFFFFF"/>
                  </a:solidFill>
                </a:rPr>
                <a:t>不</a:t>
              </a:r>
              <a:r>
                <a:rPr lang="zh-CN" altLang="en-US" sz="1200" dirty="0">
                  <a:solidFill>
                    <a:srgbClr val="FFFFFF"/>
                  </a:solidFill>
                </a:rPr>
                <a:t>进行</a:t>
              </a:r>
              <a:r>
                <a:rPr lang="zh-CN" sz="1200" dirty="0" smtClean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重试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6154" y="2708910"/>
              <a:ext cx="344325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官方 issue</a:t>
              </a:r>
              <a:r>
                <a:rPr lang="zh-CN" sz="1200" dirty="0" smtClean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</a:t>
              </a:r>
              <a:r>
                <a:rPr lang="zh-CN" altLang="zh-CN" sz="1200" dirty="0">
                  <a:solidFill>
                    <a:srgbClr val="FFFFFF"/>
                  </a:solidFill>
                </a:rPr>
                <a:t> #</a:t>
              </a:r>
              <a:r>
                <a:rPr lang="en-US" altLang="zh-CN" sz="1200" dirty="0">
                  <a:solidFill>
                    <a:srgbClr val="FFFFFF"/>
                  </a:solidFill>
                </a:rPr>
                <a:t>87571</a:t>
              </a:r>
              <a:r>
                <a:rPr lang="zh-CN" altLang="zh-CN" sz="1200" dirty="0">
                  <a:solidFill>
                    <a:srgbClr val="FFFFFF"/>
                  </a:solidFill>
                </a:rPr>
                <a:t> </a:t>
              </a:r>
              <a:r>
                <a:rPr lang="zh-CN" sz="1200" dirty="0" smtClean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· </a:t>
              </a:r>
              <a:r>
                <a:rPr lang="zh-CN" altLang="zh-CN" sz="1200" dirty="0" smtClean="0">
                  <a:solidFill>
                    <a:srgbClr val="FFFFFF"/>
                  </a:solidFill>
                </a:rPr>
                <a:t>#</a:t>
              </a:r>
              <a:r>
                <a:rPr lang="zh-CN" altLang="zh-CN" sz="1200" dirty="0">
                  <a:solidFill>
                    <a:srgbClr val="FFFFFF"/>
                  </a:solidFill>
                </a:rPr>
                <a:t>97877</a:t>
              </a:r>
              <a:r>
                <a:rPr lang="zh-CN" sz="1200" dirty="0" smtClean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· #97966 · #100669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0" y="3829050"/>
            <a:ext cx="5143500" cy="1905000"/>
            <a:chOff x="6286500" y="3829050"/>
            <a:chExt cx="5143500" cy="1905000"/>
          </a:xfrm>
        </p:grpSpPr>
        <p:sp>
          <p:nvSpPr>
            <p:cNvPr id="47" name="Rectangle 47"/>
            <p:cNvSpPr/>
            <p:nvPr/>
          </p:nvSpPr>
          <p:spPr>
            <a:xfrm>
              <a:off x="6286500" y="3829050"/>
              <a:ext cx="5143500" cy="1905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5392" y="3969068"/>
              <a:ext cx="1828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LLM 输出提前终止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66154" y="4271010"/>
              <a:ext cx="34945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推测可能原因为：</a:t>
              </a:r>
              <a:r>
                <a:rPr lang="zh-CN" sz="120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慢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响应 / 流</a:t>
              </a:r>
              <a:r>
                <a:rPr lang="zh-CN" sz="120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中断</a:t>
              </a:r>
              <a:endParaRPr lang="en-US" altLang="zh-CN" sz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200" dirty="0" smtClean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timeout 2.7–13.1 分钟分散，同一任务时好时坏）</a:t>
              </a:r>
            </a:p>
          </p:txBody>
        </p:sp>
      </p:grpSp>
      <p:sp>
        <p:nvSpPr>
          <p:cNvPr id="56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1</a:t>
            </a:r>
            <a:r>
              <a:rPr lang="en-US"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3</a:t>
            </a:r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/ 1</a:t>
            </a:r>
            <a:r>
              <a:rPr lang="en-US"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4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556260" y="438150"/>
            <a:ext cx="5219378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评测：</a:t>
            </a:r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OpenClaw</a:t>
            </a:r>
            <a:r>
              <a:rPr lang="en-US" alt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 4.14 vs 5.28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4" name="组合 63"/>
          <p:cNvGrpSpPr/>
          <p:nvPr/>
        </p:nvGrpSpPr>
        <p:grpSpPr>
          <a:xfrm>
            <a:off x="1041654" y="5490210"/>
            <a:ext cx="956993" cy="901583"/>
            <a:chOff x="1041654" y="5490210"/>
            <a:chExt cx="956993" cy="901583"/>
          </a:xfrm>
        </p:grpSpPr>
        <p:sp>
          <p:nvSpPr>
            <p:cNvPr id="37" name="TextBox 37"/>
            <p:cNvSpPr txBox="1"/>
            <p:nvPr/>
          </p:nvSpPr>
          <p:spPr>
            <a:xfrm>
              <a:off x="1041654" y="5490210"/>
              <a:ext cx="95699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</a:t>
              </a: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.14 得分分析</a:t>
              </a:r>
            </a:p>
          </p:txBody>
        </p:sp>
        <p:graphicFrame>
          <p:nvGraphicFramePr>
            <p:cNvPr id="61" name="对象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3376804"/>
                </p:ext>
              </p:extLst>
            </p:nvPr>
          </p:nvGraphicFramePr>
          <p:xfrm>
            <a:off x="1138235" y="5734050"/>
            <a:ext cx="763830" cy="6577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" name="工作表" showAsIcon="1" r:id="rId4" imgW="914400" imgH="787320" progId="Excel.Sheet.12">
                    <p:embed/>
                  </p:oleObj>
                </mc:Choice>
                <mc:Fallback>
                  <p:oleObj name="工作表" showAsIcon="1" r:id="rId4" imgW="914400" imgH="787320" progId="Excel.Shee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138235" y="5734050"/>
                          <a:ext cx="763830" cy="6577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" name="组合 65"/>
          <p:cNvGrpSpPr/>
          <p:nvPr/>
        </p:nvGrpSpPr>
        <p:grpSpPr>
          <a:xfrm>
            <a:off x="4498295" y="5490210"/>
            <a:ext cx="923330" cy="901583"/>
            <a:chOff x="4498295" y="5490210"/>
            <a:chExt cx="923330" cy="901583"/>
          </a:xfrm>
        </p:grpSpPr>
        <p:sp>
          <p:nvSpPr>
            <p:cNvPr id="39" name="TextBox 39"/>
            <p:cNvSpPr txBox="1"/>
            <p:nvPr/>
          </p:nvSpPr>
          <p:spPr>
            <a:xfrm>
              <a:off x="4498295" y="5490210"/>
              <a:ext cx="92333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得分</a:t>
              </a: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对比分析</a:t>
              </a:r>
            </a:p>
          </p:txBody>
        </p:sp>
        <p:graphicFrame>
          <p:nvGraphicFramePr>
            <p:cNvPr id="62" name="对象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2940275"/>
                </p:ext>
              </p:extLst>
            </p:nvPr>
          </p:nvGraphicFramePr>
          <p:xfrm>
            <a:off x="4559071" y="5701373"/>
            <a:ext cx="801778" cy="690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" name="工作表" showAsIcon="1" r:id="rId6" imgW="914400" imgH="787320" progId="Excel.Sheet.12">
                    <p:embed/>
                  </p:oleObj>
                </mc:Choice>
                <mc:Fallback>
                  <p:oleObj name="工作表" showAsIcon="1" r:id="rId6" imgW="914400" imgH="787320" progId="Excel.Shee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559071" y="5701373"/>
                          <a:ext cx="801778" cy="6904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" name="组合 64"/>
          <p:cNvGrpSpPr/>
          <p:nvPr/>
        </p:nvGrpSpPr>
        <p:grpSpPr>
          <a:xfrm>
            <a:off x="2769975" y="5490210"/>
            <a:ext cx="956993" cy="901583"/>
            <a:chOff x="2747931" y="5490210"/>
            <a:chExt cx="956993" cy="901583"/>
          </a:xfrm>
        </p:grpSpPr>
        <p:sp>
          <p:nvSpPr>
            <p:cNvPr id="38" name="TextBox 38"/>
            <p:cNvSpPr txBox="1"/>
            <p:nvPr/>
          </p:nvSpPr>
          <p:spPr>
            <a:xfrm>
              <a:off x="2747931" y="5490210"/>
              <a:ext cx="95699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smtClean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</a:t>
              </a: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.28 得分分析</a:t>
              </a:r>
            </a:p>
          </p:txBody>
        </p:sp>
        <p:graphicFrame>
          <p:nvGraphicFramePr>
            <p:cNvPr id="63" name="对象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9812166"/>
                </p:ext>
              </p:extLst>
            </p:nvPr>
          </p:nvGraphicFramePr>
          <p:xfrm>
            <a:off x="2855471" y="5752924"/>
            <a:ext cx="741912" cy="6388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" name="工作表" showAsIcon="1" r:id="rId8" imgW="914400" imgH="787320" progId="Excel.Sheet.12">
                    <p:embed/>
                  </p:oleObj>
                </mc:Choice>
                <mc:Fallback>
                  <p:oleObj name="工作表" showAsIcon="1" r:id="rId8" imgW="914400" imgH="787320" progId="Excel.Shee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855471" y="5752924"/>
                          <a:ext cx="741912" cy="63886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3811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13 / 13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3300</Words>
  <Application>Microsoft Office PowerPoint</Application>
  <PresentationFormat>自定义</PresentationFormat>
  <Paragraphs>516</Paragraphs>
  <Slides>14</Slides>
  <Notes>4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6" baseType="lpstr">
      <vt:lpstr>pawbench_v2</vt:lpstr>
      <vt:lpstr>Microsoft Excel Worksheet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chinalife</dc:creator>
  <cp:lastModifiedBy>chinalife</cp:lastModifiedBy>
  <cp:revision>26</cp:revision>
  <dcterms:created xsi:type="dcterms:W3CDTF">2026-07-20T00:49:04Z</dcterms:created>
  <dcterms:modified xsi:type="dcterms:W3CDTF">2026-08-07T09:11:22Z</dcterms:modified>
  <dc:language/>
</cp:coreProperties>
</file>