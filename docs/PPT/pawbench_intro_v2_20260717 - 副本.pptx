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1196340"/>
            <a:ext cx="5561734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评测新范式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2000250"/>
            <a:ext cx="1143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2450" y="2436495"/>
            <a:ext cx="852426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832" y="3297555"/>
            <a:ext cx="401650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交叉评测基准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3952875"/>
            <a:ext cx="762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63880" y="4314825"/>
            <a:ext cx="4278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PawBench — 阿里通义实验室 AgentScope 团队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3880" y="4600575"/>
            <a:ext cx="4594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2025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01 /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02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2356" y="1139190"/>
            <a:ext cx="695313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714500"/>
            <a:ext cx="5334000" cy="2286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714500"/>
            <a:ext cx="57150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9011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314575"/>
            <a:ext cx="37626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从模型升级到 Agent 框架迭代，效果好坏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600325"/>
            <a:ext cx="433654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 cherry-pick 案例判定，缺乏客观数据支撑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9630" y="2886075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难以形成可靠的技术决策依据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143250" y="2000250"/>
            <a:ext cx="19050" cy="114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326892" y="194976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27273" y="2262664"/>
            <a:ext cx="22702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27273" y="2510314"/>
            <a:ext cx="173609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跑完出分，可横向对比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27273" y="2757964"/>
            <a:ext cx="190840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数据说话，告别感觉判断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1714500"/>
            <a:ext cx="5334000" cy="2286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286500" y="1714500"/>
            <a:ext cx="57150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563106" y="1901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4630" y="2314575"/>
            <a:ext cx="30982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榜单不测工具调用能力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4630" y="2600325"/>
            <a:ext cx="38252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依赖公网，无法内网部署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4630" y="2886075"/>
            <a:ext cx="38749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自建 Ad-hoc 测试无统一标准，维护成本高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858250" y="2000250"/>
            <a:ext cx="19050" cy="114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041892" y="194976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42273" y="2262664"/>
            <a:ext cx="18828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042273" y="2510314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完全私有化部署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42273" y="2757964"/>
            <a:ext cx="173609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4381500"/>
            <a:ext cx="11049000" cy="57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3352655" y="4565332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2356" y="523494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667375"/>
            <a:ext cx="3429000" cy="762000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54380" y="58197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5523" y="6110764"/>
            <a:ext cx="333527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Agent/LLM 升级后跑一遍，数据说话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191000" y="5667375"/>
            <a:ext cx="3429000" cy="762000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4373880" y="58197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375023" y="6110764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810500" y="5667375"/>
            <a:ext cx="3810000" cy="762000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993380" y="58197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94523" y="6110764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03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4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33412" y="1187291"/>
            <a:ext cx="241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9688" y="1187291"/>
            <a:ext cx="241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76488" y="1187291"/>
            <a:ext cx="4731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67112" y="1195388"/>
            <a:ext cx="51878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完整Agent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52888" y="119538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内网运行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29138" y="119538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依赖公网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05388" y="119538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扩展能力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81638" y="119538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资料生态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95988" y="1187291"/>
            <a:ext cx="241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48638" y="1187291"/>
            <a:ext cx="241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25112" y="1187291"/>
            <a:ext cx="4731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适用场景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1343025"/>
            <a:ext cx="11049000" cy="4381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33412" y="1407795"/>
            <a:ext cx="60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9688" y="1415891"/>
            <a:ext cx="11779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Benchmark 平台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76488" y="1415891"/>
            <a:ext cx="144331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Runtime+Model+Task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62362" y="14239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38612" y="14239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24388" y="1423988"/>
            <a:ext cx="21145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EF4444"/>
                </a:solidFill>
                <a:latin typeface="Segoe UI"/>
                <a:ea typeface="Segoe UI"/>
                <a:cs typeface="Segoe UI"/>
              </a:rPr>
              <a:t>★★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91112" y="14239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76888" y="142398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95988" y="1404938"/>
            <a:ext cx="165346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Task/Judge/Runner解耦；多Agent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995988" y="1557338"/>
            <a:ext cx="122110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企业自定义任务；国产生态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48638" y="1404938"/>
            <a:ext cx="10472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需理解OpenJudge架构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148638" y="1557338"/>
            <a:ext cx="122110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公开标准榜单影响力增长中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425112" y="1423988"/>
            <a:ext cx="9029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企业Agent评测首选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1781175"/>
            <a:ext cx="11049000" cy="4381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33412" y="1845945"/>
            <a:ext cx="8441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09688" y="1854041"/>
            <a:ext cx="12892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Benchmark 数据集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376488" y="1854041"/>
            <a:ext cx="68493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长流程 Agent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62362" y="186213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138612" y="1862138"/>
            <a:ext cx="3124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624388" y="1862138"/>
            <a:ext cx="3124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091112" y="186213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576888" y="186213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995988" y="1843088"/>
            <a:ext cx="122110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任务质量高；长任务能力强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995988" y="1995488"/>
            <a:ext cx="176578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支持OpenClaw/ClaudeCode等Harness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148638" y="1843088"/>
            <a:ext cx="9182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部分任务依赖互联网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148638" y="1995488"/>
            <a:ext cx="61531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需要离线改造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425112" y="1862138"/>
            <a:ext cx="12439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行业Benchmark、能力验证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2219325"/>
            <a:ext cx="11049000" cy="4381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33412" y="2284095"/>
            <a:ext cx="6582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09688" y="2292191"/>
            <a:ext cx="109451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能力 Benchmark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376488" y="2292191"/>
            <a:ext cx="110246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Skill/Memory/知识库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662362" y="230028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138612" y="230028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624388" y="230028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091112" y="23002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576888" y="230028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995988" y="2300288"/>
            <a:ext cx="141718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量化Skill/Memory/知识库价值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148638" y="2300288"/>
            <a:ext cx="125125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不是完整Agent Benchmark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425112" y="2300288"/>
            <a:ext cx="62217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Skill体系评估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71500" y="2657475"/>
            <a:ext cx="11049000" cy="4381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33412" y="2722245"/>
            <a:ext cx="6528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09688" y="2730341"/>
            <a:ext cx="129533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 Benchmark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376488" y="2730341"/>
            <a:ext cx="68982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662362" y="273843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138612" y="273843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624388" y="2738438"/>
            <a:ext cx="3124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091112" y="2738438"/>
            <a:ext cx="3124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576888" y="273843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995988" y="2738438"/>
            <a:ext cx="72804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Coding场景明确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148638" y="273843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范围偏窄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425112" y="2738438"/>
            <a:ext cx="6317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70" name="Rectangle 70"/>
          <p:cNvSpPr/>
          <p:nvPr/>
        </p:nvSpPr>
        <p:spPr>
          <a:xfrm>
            <a:off x="571500" y="3095625"/>
            <a:ext cx="11049000" cy="4381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633412" y="3160395"/>
            <a:ext cx="68343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309688" y="3168491"/>
            <a:ext cx="8370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 Benchmark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376488" y="3168491"/>
            <a:ext cx="7771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LLM-as-Agent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662362" y="3176588"/>
            <a:ext cx="21145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EF4444"/>
                </a:solidFill>
                <a:latin typeface="Segoe UI"/>
                <a:ea typeface="Segoe UI"/>
                <a:cs typeface="Segoe UI"/>
              </a:rPr>
              <a:t>★★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4138612" y="317658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624388" y="317658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091112" y="3176588"/>
            <a:ext cx="3124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576888" y="31765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995988" y="3157538"/>
            <a:ext cx="13220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学术影响力强；环境设计经典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995988" y="3309938"/>
            <a:ext cx="61531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适合模型比较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8148638" y="3157538"/>
            <a:ext cx="82972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偏底层LLM Agent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8148638" y="3309938"/>
            <a:ext cx="10050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不适合完整Agent系统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425112" y="3176588"/>
            <a:ext cx="9182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学术研究、模型比较</a:t>
            </a:r>
          </a:p>
        </p:txBody>
      </p:sp>
      <p:sp>
        <p:nvSpPr>
          <p:cNvPr id="84" name="Rectangle 84"/>
          <p:cNvSpPr/>
          <p:nvPr/>
        </p:nvSpPr>
        <p:spPr>
          <a:xfrm>
            <a:off x="571500" y="3533775"/>
            <a:ext cx="11049000" cy="4381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633412" y="3598545"/>
            <a:ext cx="2591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309688" y="3606641"/>
            <a:ext cx="11779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 Agent Benchmark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376488" y="3606641"/>
            <a:ext cx="5732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 Agent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662362" y="3614738"/>
            <a:ext cx="3124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4138612" y="3614738"/>
            <a:ext cx="21145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EF4444"/>
                </a:solidFill>
                <a:latin typeface="Segoe UI"/>
                <a:ea typeface="Segoe UI"/>
                <a:cs typeface="Segoe UI"/>
              </a:rPr>
              <a:t>★★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4624388" y="3614738"/>
            <a:ext cx="21145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EF4444"/>
                </a:solidFill>
                <a:latin typeface="Segoe UI"/>
                <a:ea typeface="Segoe UI"/>
                <a:cs typeface="Segoe UI"/>
              </a:rPr>
              <a:t>★★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5091112" y="3614738"/>
            <a:ext cx="21145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EF4444"/>
                </a:solidFill>
                <a:latin typeface="Segoe UI"/>
                <a:ea typeface="Segoe UI"/>
                <a:cs typeface="Segoe UI"/>
              </a:rPr>
              <a:t>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5576888" y="361473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5995988" y="3614738"/>
            <a:ext cx="122110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综合任务强，行业认可度高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8148638" y="3614738"/>
            <a:ext cx="112014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数据和外部环境依赖明显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0425112" y="3614738"/>
            <a:ext cx="69875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Agent能力对标</a:t>
            </a:r>
          </a:p>
        </p:txBody>
      </p:sp>
      <p:sp>
        <p:nvSpPr>
          <p:cNvPr id="96" name="Rectangle 96"/>
          <p:cNvSpPr/>
          <p:nvPr/>
        </p:nvSpPr>
        <p:spPr>
          <a:xfrm>
            <a:off x="571500" y="3971925"/>
            <a:ext cx="11049000" cy="4381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97" name="TextBox 97"/>
          <p:cNvSpPr txBox="1"/>
          <p:nvPr/>
        </p:nvSpPr>
        <p:spPr>
          <a:xfrm>
            <a:off x="633412" y="4036695"/>
            <a:ext cx="64673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309688" y="4044791"/>
            <a:ext cx="95490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Benchmark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2376488" y="4044791"/>
            <a:ext cx="79657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软件修复 Agent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3662362" y="4052888"/>
            <a:ext cx="3124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4138612" y="405288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4624388" y="4052888"/>
            <a:ext cx="4133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★★★★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5091112" y="4052888"/>
            <a:ext cx="3124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5576888" y="40528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5995988" y="4052888"/>
            <a:ext cx="83575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Agent标杆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8148638" y="4052888"/>
            <a:ext cx="71628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0425112" y="4052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软件开发 Agent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571500" y="4410075"/>
            <a:ext cx="11049000" cy="4381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9" name="TextBox 109"/>
          <p:cNvSpPr txBox="1"/>
          <p:nvPr/>
        </p:nvSpPr>
        <p:spPr>
          <a:xfrm>
            <a:off x="633412" y="4474845"/>
            <a:ext cx="5194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309688" y="4482941"/>
            <a:ext cx="8593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 Framework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2376488" y="4482941"/>
            <a:ext cx="85010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LLM/RAG/Agent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3662362" y="4491038"/>
            <a:ext cx="3124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★★★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4138612" y="449103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4624388" y="449103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5091112" y="449103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5576888" y="449103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5995988" y="4491038"/>
            <a:ext cx="138036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成熟；支持CI；企业使用广泛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8148638" y="4491038"/>
            <a:ext cx="12092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不提供完整Agent任务体系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0425112" y="4491038"/>
            <a:ext cx="61531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20" name="Rectangle 120"/>
          <p:cNvSpPr/>
          <p:nvPr/>
        </p:nvSpPr>
        <p:spPr>
          <a:xfrm>
            <a:off x="571500" y="4848225"/>
            <a:ext cx="11049000" cy="4381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21" name="TextBox 121"/>
          <p:cNvSpPr txBox="1"/>
          <p:nvPr/>
        </p:nvSpPr>
        <p:spPr>
          <a:xfrm>
            <a:off x="633412" y="4912995"/>
            <a:ext cx="63741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309688" y="4921091"/>
            <a:ext cx="9287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Prompt/LLM Eval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2376488" y="4921091"/>
            <a:ext cx="8292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3662362" y="4929188"/>
            <a:ext cx="21145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EF4444"/>
                </a:solidFill>
                <a:latin typeface="Segoe UI"/>
                <a:ea typeface="Segoe UI"/>
                <a:cs typeface="Segoe UI"/>
              </a:rPr>
              <a:t>★★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4138612" y="49291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4624388" y="49291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5091112" y="49291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576888" y="4929188"/>
            <a:ext cx="5143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★★★★★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995988" y="4872038"/>
            <a:ext cx="173143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简单成熟；适合Prompt/模型A/B测试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8148638" y="4929188"/>
            <a:ext cx="145482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不适合作完整Agent Benchmark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0425112" y="4929188"/>
            <a:ext cx="57007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Prompt调优</a:t>
            </a:r>
          </a:p>
        </p:txBody>
      </p:sp>
      <p:sp>
        <p:nvSpPr>
          <p:cNvPr id="132" name="Rectangle 132"/>
          <p:cNvSpPr/>
          <p:nvPr/>
        </p:nvSpPr>
        <p:spPr>
          <a:xfrm>
            <a:off x="571500" y="5286375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3" name="TextBox 133"/>
          <p:cNvSpPr txBox="1"/>
          <p:nvPr/>
        </p:nvSpPr>
        <p:spPr>
          <a:xfrm>
            <a:off x="566166" y="5458778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518666" y="5458778"/>
            <a:ext cx="3357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 优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2185416" y="5458778"/>
            <a:ext cx="3357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 良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2947416" y="5458778"/>
            <a:ext cx="3357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 弱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566166" y="5744528"/>
            <a:ext cx="91251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注："依赖公网"列：更多 ★ = 更独立于公网（对内网部署更友好）。PawBench 底层复用 OpenJudge 评测引擎，本表不单独对比 OpenJudge。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566547" y="6085999"/>
            <a:ext cx="385422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</a:t>
            </a:r>
          </a:p>
        </p:txBody>
      </p:sp>
      <p:sp>
        <p:nvSpPr>
          <p:cNvPr id="139" name="Rectangle 13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04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平台能力与评测设计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三步入式评测流程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324600" y="16002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408699" y="16692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1404" y="1661160"/>
            <a:ext cx="19700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 Harness 组合</a:t>
            </a:r>
          </a:p>
        </p:txBody>
      </p:sp>
      <p:sp>
        <p:nvSpPr>
          <p:cNvPr id="17" name="Line 17"/>
          <p:cNvSpPr/>
          <p:nvPr/>
        </p:nvSpPr>
        <p:spPr>
          <a:xfrm>
            <a:off x="6457950" y="19050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chemeClr val="accent4">
                <a:alpha val="50000"/>
              </a:schemeClr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905750" y="16002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989849" y="16692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56854" y="1661160"/>
            <a:ext cx="16559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21" name="Line 21"/>
          <p:cNvSpPr/>
          <p:nvPr/>
        </p:nvSpPr>
        <p:spPr>
          <a:xfrm>
            <a:off x="8039100" y="19050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chemeClr val="accent4">
                <a:alpha val="50000"/>
              </a:schemeClr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9715500" y="16002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799599" y="16692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28504" y="1661160"/>
            <a:ext cx="16789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 双重评分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92480" y="25241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七维原子能力诊断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4" name="Rectangle 64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6" name="Rectangle 66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05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评测任务体系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190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812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32791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041" y="2553652"/>
            <a:ext cx="32723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041" y="2725102"/>
            <a:ext cx="24769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994660"/>
            <a:ext cx="169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原子能力 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041" y="3220402"/>
            <a:ext cx="32948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4709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041" y="3696652"/>
            <a:ext cx="31470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9471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041" y="4172902"/>
            <a:ext cx="28235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4234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041" y="4649152"/>
            <a:ext cx="26115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06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应用场景与集成路径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337548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 PawBench 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三阶段集成路径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00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00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18914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Phase 1 — 部署环境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⏱ 预计 2 周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327910"/>
            <a:ext cx="52931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部署，拉取 PawBench 仓库，配置 API 密钥，跑通全量 150 任务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762250"/>
            <a:ext cx="5334000" cy="1000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762250"/>
            <a:ext cx="57150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886075"/>
            <a:ext cx="18914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Phase 2 — 适配内网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042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⏱ 预计 2 周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470910"/>
            <a:ext cx="47535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改造依赖公网的任务为离线可运行，自定义 20-30 道业务相关任务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3905250"/>
            <a:ext cx="5334000" cy="1000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3905250"/>
            <a:ext cx="57150" cy="100012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029075"/>
            <a:ext cx="18914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Phase 3 — 持续优化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347210"/>
            <a:ext cx="8683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♾ 持续进行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613910"/>
            <a:ext cx="48071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迭代流程，每次发布自动评测，切片分析推动持续改进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143500"/>
            <a:ext cx="5334000" cy="38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143500"/>
            <a:ext cx="171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8096250" y="5143500"/>
            <a:ext cx="1714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7" name="Rectangle 67"/>
          <p:cNvSpPr/>
          <p:nvPr/>
        </p:nvSpPr>
        <p:spPr>
          <a:xfrm>
            <a:off x="9906000" y="5143500"/>
            <a:ext cx="171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6281166" y="5268278"/>
            <a:ext cx="5252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Phase 1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090916" y="5268278"/>
            <a:ext cx="5252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Phase 2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900666" y="5268278"/>
            <a:ext cx="5252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Phase 3</a:t>
            </a:r>
          </a:p>
        </p:txBody>
      </p:sp>
      <p:sp>
        <p:nvSpPr>
          <p:cNvPr id="71" name="Rectangle 71"/>
          <p:cNvSpPr/>
          <p:nvPr/>
        </p:nvSpPr>
        <p:spPr>
          <a:xfrm>
            <a:off x="6286500" y="5619750"/>
            <a:ext cx="5334000" cy="523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6844482" y="5745956"/>
            <a:ext cx="42180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python run_bench.py --agents qwenpaw openclaw hermes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639002" y="5963602"/>
            <a:ext cx="26289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3"/>
                </a:solidFill>
                <a:latin typeface="Segoe UI"/>
                <a:ea typeface="Microsoft YaHei"/>
                <a:cs typeface="Segoe UI"/>
              </a:rPr>
              <a:t>支持 OpenAI 兼容 API 和私有化模型接入</a:t>
            </a:r>
          </a:p>
        </p:txBody>
      </p:sp>
      <p:sp>
        <p:nvSpPr>
          <p:cNvPr id="74" name="Rectangle 74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238250"/>
            <a:ext cx="3524250" cy="24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88259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唯一交叉评测平台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51154" y="2366010"/>
            <a:ext cx="2518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 + Harness + Task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6833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适合既自研 Agent 又调优模型的团队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99410"/>
            <a:ext cx="250380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Harness 差距量化 — 发现部署瓶颈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66110"/>
            <a:ext cx="26130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道标准化任务覆盖 7 种原子能力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333875" y="1238250"/>
            <a:ext cx="3524250" cy="24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11243" y="1869758"/>
            <a:ext cx="191758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开源生态 + 可扩展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613529" y="2366010"/>
            <a:ext cx="1934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基于 OpenJudge 评测引擎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13529" y="2632710"/>
            <a:ext cx="2438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完全解耦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13529" y="2899410"/>
            <a:ext cx="23929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可自定义任务、Judge、Harness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31661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阿里通义实验室持续维护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096250" y="1238250"/>
            <a:ext cx="3524250" cy="24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73618" y="18697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企业就绪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375904" y="2366010"/>
            <a:ext cx="25560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沙箱内网部署，数据不出网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75904" y="2632710"/>
            <a:ext cx="17361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可集成到 CI/CD 流水线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5904" y="289941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每次发布自动回归测试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75904" y="3166110"/>
            <a:ext cx="28658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Python 3.11+ / Docker / Node.js 20+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4000500"/>
            <a:ext cx="11049000" cy="7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801368" y="41081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开始使用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03654" y="4423410"/>
            <a:ext cx="29394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3"/>
                </a:solidFill>
                <a:latin typeface="Segoe UI"/>
                <a:ea typeface="Segoe UI"/>
                <a:cs typeface="Segoe UI"/>
              </a:rPr>
              <a:t>github.com/agentscope-ai/PawBench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96250" y="4191000"/>
            <a:ext cx="22860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434105" y="4292918"/>
            <a:ext cx="16102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Star on GitHub ★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504825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65404" y="5299710"/>
            <a:ext cx="5510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PawBench v1.0 · 150 tasks · 6 datasets · 3 Harnesses · 7 capabilities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5404" y="5566410"/>
            <a:ext cx="4245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阿里通义实验室 AgentScope 团队 · License: Apache 2.0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07 / 07</a:t>
            </a:r>
          </a:p>
        </p:txBody>
      </p:sp>
      <p:sp>
        <p:nvSpPr>
          <p:cNvPr id="41" name="Rectangle 41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2026-07-17T08:35:06Z</dcterms:created>
  <dcterms:modified xsi:type="dcterms:W3CDTF">2026-07-17T08:35:06Z</dcterms:modified>
  <cp:category/>
  <cp:contentStatus/>
</cp:coreProperties>
</file>