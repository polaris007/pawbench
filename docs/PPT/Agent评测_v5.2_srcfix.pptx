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70" r:id="rId4"/>
    <p:sldId id="260" r:id="rId5"/>
    <p:sldId id="27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-576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28E26E-C721-426D-BD0D-694F8F6A3EA7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20E754-0B19-490E-A425-E11BEFCC9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9114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awbench_v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wbench_v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742950" y="2099310"/>
            <a:ext cx="8187463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基于 PawBench 的 Agent 评测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2781300"/>
            <a:ext cx="1333500" cy="47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746760" y="3219450"/>
            <a:ext cx="655829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表现 = f(Model, Harness)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2094" y="3847148"/>
            <a:ext cx="5153271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× Harness × Task 三维交叉评测体系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5142" y="4369118"/>
            <a:ext cx="606761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150 道标准化任务 · 自动评分引擎 · Docker 内网隔离 · 七维原子能力诊断</a:t>
            </a:r>
          </a:p>
        </p:txBody>
      </p:sp>
      <p:sp>
        <p:nvSpPr>
          <p:cNvPr id="9" name="Rectangle 9"/>
          <p:cNvSpPr/>
          <p:nvPr/>
        </p:nvSpPr>
        <p:spPr>
          <a:xfrm>
            <a:off x="8191500" y="1866900"/>
            <a:ext cx="3238500" cy="3086100"/>
          </a:xfrm>
          <a:prstGeom prst="roundRect">
            <a:avLst>
              <a:gd name="adj" fmla="val 4938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8413242" y="210216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三维交叉评测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420100" y="2495550"/>
            <a:ext cx="2781300" cy="533400"/>
          </a:xfrm>
          <a:prstGeom prst="roundRect">
            <a:avLst>
              <a:gd name="adj" fmla="val 17857"/>
            </a:avLst>
          </a:prstGeom>
          <a:solidFill>
            <a:schemeClr val="lt1"/>
          </a:solidFill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Ellipse 12"/>
          <p:cNvSpPr/>
          <p:nvPr/>
        </p:nvSpPr>
        <p:spPr>
          <a:xfrm>
            <a:off x="8629650" y="2705100"/>
            <a:ext cx="114300" cy="11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8852154" y="2689860"/>
            <a:ext cx="16214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Model · 决定能力上限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420100" y="3181350"/>
            <a:ext cx="2781300" cy="533400"/>
          </a:xfrm>
          <a:prstGeom prst="roundRect">
            <a:avLst>
              <a:gd name="adj" fmla="val 17857"/>
            </a:avLst>
          </a:prstGeom>
          <a:solidFill>
            <a:schemeClr val="lt1"/>
          </a:solidFill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Ellipse 15"/>
          <p:cNvSpPr/>
          <p:nvPr/>
        </p:nvSpPr>
        <p:spPr>
          <a:xfrm>
            <a:off x="8629650" y="3390900"/>
            <a:ext cx="114300" cy="11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8852154" y="3375660"/>
            <a:ext cx="18035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Harness · 决定稳定落地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420100" y="3867150"/>
            <a:ext cx="2781300" cy="533400"/>
          </a:xfrm>
          <a:prstGeom prst="roundRect">
            <a:avLst>
              <a:gd name="adj" fmla="val 17857"/>
            </a:avLst>
          </a:prstGeom>
          <a:solidFill>
            <a:schemeClr val="lt1"/>
          </a:solidFill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Ellipse 18"/>
          <p:cNvSpPr/>
          <p:nvPr/>
        </p:nvSpPr>
        <p:spPr>
          <a:xfrm>
            <a:off x="8629650" y="4076700"/>
            <a:ext cx="114300" cy="1143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8852154" y="4061460"/>
            <a:ext cx="154400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 · 决定任务场景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15147" y="4581049"/>
            <a:ext cx="17249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三者独立评测，定位真实瓶颈</a:t>
            </a:r>
          </a:p>
        </p:txBody>
      </p:sp>
      <p:sp>
        <p:nvSpPr>
          <p:cNvPr id="21" name="Rectangle 21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02 / 13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46911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为什么需要 Agent 评测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63118" y="1107758"/>
            <a:ext cx="637370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两大核心痛点驱动 Agent 评测需求，PawBench 提供标准化解法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571625"/>
            <a:ext cx="11049000" cy="1381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71625"/>
            <a:ext cx="57150" cy="138112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8106" y="1758315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升级效果无法量化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9630" y="2171700"/>
            <a:ext cx="55699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模型 / Agent 升级后效果好坏，依赖人工挑选少量案例来判定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9630" y="2486025"/>
            <a:ext cx="44577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缺乏客观数据支撑，无法形成可靠的技术决策依据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14436" y="1762125"/>
            <a:ext cx="19050" cy="10001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445703" y="1806892"/>
            <a:ext cx="151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→ PawBench 解法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44941" y="2171700"/>
            <a:ext cx="306438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150 道标准化任务 + 自动评分引擎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44941" y="2486025"/>
            <a:ext cx="38519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跑完即出分，版本间可横向对比，数据说话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3143250"/>
            <a:ext cx="11049000" cy="1381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571500" y="3143250"/>
            <a:ext cx="57150" cy="138112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48106" y="332994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现有方案局限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9630" y="3743325"/>
            <a:ext cx="412661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通用 LLM 榜单不评估工具调用与 Agent 行为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9630" y="4057650"/>
            <a:ext cx="50444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学术 Benchmark 依赖公网服务，无法满足内网部署要求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214436" y="3333750"/>
            <a:ext cx="19050" cy="10001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45703" y="3378518"/>
            <a:ext cx="151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→ PawBench 解法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44941" y="3743325"/>
            <a:ext cx="38371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开源 + Docker 沙箱隔离，完全私有化部署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44941" y="4057650"/>
            <a:ext cx="32461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数据不出网，安全可控，零外部依赖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4762500"/>
            <a:ext cx="11049000" cy="428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3352655" y="4860608"/>
            <a:ext cx="548669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需要一个标准化、可复现、内网可用的 Agent 评测方案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2356" y="5330190"/>
            <a:ext cx="257280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带来的价值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5762625"/>
            <a:ext cx="3429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543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量化升级效果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5523" y="6196489"/>
            <a:ext cx="34415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每次 Agent / LLM 升级后跑一遍，数据说话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191000" y="5762625"/>
            <a:ext cx="3429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43738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精准定位短板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375023" y="6196489"/>
            <a:ext cx="29422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切片分析可定位具体能力和场景的退化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810500" y="5762625"/>
            <a:ext cx="3810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9933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内网安全运行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94523" y="6196489"/>
            <a:ext cx="290034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Docker 隔离，任务数据可改造为离线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67056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8"/>
          <p:cNvGrpSpPr/>
          <p:nvPr/>
        </p:nvGrpSpPr>
        <p:grpSpPr>
          <a:xfrm>
            <a:off x="602976" y="1347584"/>
            <a:ext cx="3467100" cy="2057400"/>
            <a:chOff x="762000" y="1619250"/>
            <a:chExt cx="3467100" cy="2057400"/>
          </a:xfrm>
        </p:grpSpPr>
        <p:sp>
          <p:nvSpPr>
            <p:cNvPr id="10" name="Rectangle 10"/>
            <p:cNvSpPr/>
            <p:nvPr/>
          </p:nvSpPr>
          <p:spPr>
            <a:xfrm>
              <a:off x="762000" y="1619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619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8606" y="1758315"/>
              <a:ext cx="1761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最终状态评估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0892" y="214026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确定性后端 + 最终产物 / 状态比对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0892" y="24069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可复现、有标准答案；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0892" y="26355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但构建确定性环境工程量大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047750" y="3067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55192" y="3054668"/>
              <a:ext cx="28730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τ-bench / τ²-bench / AppWorld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298676" y="1347584"/>
            <a:ext cx="3467100" cy="2057400"/>
            <a:chOff x="4457700" y="1619250"/>
            <a:chExt cx="3467100" cy="2057400"/>
          </a:xfrm>
        </p:grpSpPr>
        <p:sp>
          <p:nvSpPr>
            <p:cNvPr id="19" name="Rectangle 19"/>
            <p:cNvSpPr/>
            <p:nvPr/>
          </p:nvSpPr>
          <p:spPr>
            <a:xfrm>
              <a:off x="4457700" y="1619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457700" y="1619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734306" y="1758315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轨迹评估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36592" y="2140268"/>
              <a:ext cx="30380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黄金轨迹对齐 或 LLM 评判轨迹质量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36592" y="24069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可定位失败步骤；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36592" y="26355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多路径正确性难以定义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743450" y="3067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850892" y="3054668"/>
              <a:ext cx="21957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LangSmith / AgentEvals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994376" y="1347584"/>
            <a:ext cx="3467100" cy="2057400"/>
            <a:chOff x="8153400" y="1619250"/>
            <a:chExt cx="3467100" cy="2057400"/>
          </a:xfrm>
        </p:grpSpPr>
        <p:sp>
          <p:nvSpPr>
            <p:cNvPr id="28" name="Rectangle 28"/>
            <p:cNvSpPr/>
            <p:nvPr/>
          </p:nvSpPr>
          <p:spPr>
            <a:xfrm>
              <a:off x="8153400" y="1619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8153400" y="1619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30006" y="1758315"/>
              <a:ext cx="22903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LLM-as-a-Judge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32292" y="2140268"/>
              <a:ext cx="21234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强模型 + Rubric 细则评分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32292" y="24069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可扩展、适合开放式任务；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32292" y="26355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需验证评判一致性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439150" y="3067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546592" y="305466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通用开放任务评测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2976" y="3633584"/>
            <a:ext cx="3981869" cy="2057400"/>
            <a:chOff x="762000" y="3905250"/>
            <a:chExt cx="3981869" cy="2057400"/>
          </a:xfrm>
        </p:grpSpPr>
        <p:sp>
          <p:nvSpPr>
            <p:cNvPr id="37" name="Rectangle 37"/>
            <p:cNvSpPr/>
            <p:nvPr/>
          </p:nvSpPr>
          <p:spPr>
            <a:xfrm>
              <a:off x="762000" y="3905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62000" y="3905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38606" y="4044315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④ 逐步评估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0892" y="4426268"/>
              <a:ext cx="37029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对每一步独立校验（工具选择 / 参数 / 输出）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40892" y="46929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错误定位精确；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40892" y="49215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忽略步骤间依赖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047750" y="5353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55192" y="5340668"/>
              <a:ext cx="22716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Arize Phoenix / DeepEval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298676" y="3633584"/>
            <a:ext cx="3467100" cy="2057400"/>
            <a:chOff x="4457700" y="3905250"/>
            <a:chExt cx="3467100" cy="2057400"/>
          </a:xfrm>
        </p:grpSpPr>
        <p:sp>
          <p:nvSpPr>
            <p:cNvPr id="46" name="Rectangle 46"/>
            <p:cNvSpPr/>
            <p:nvPr/>
          </p:nvSpPr>
          <p:spPr>
            <a:xfrm>
              <a:off x="4457700" y="3905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4457700" y="3905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734306" y="4044315"/>
              <a:ext cx="16593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⑤ pass@k 采样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736592" y="44262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 次运行的成功率 / 全成功一致性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736592" y="46929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更诚实反映随机性；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736592" y="4921568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评测成本随 k 上升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743450" y="5353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850892" y="5340668"/>
              <a:ext cx="17602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Claw-Eval / CI 实践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7994376" y="3633584"/>
            <a:ext cx="3467100" cy="2057400"/>
            <a:chOff x="8153400" y="3905250"/>
            <a:chExt cx="3467100" cy="2057400"/>
          </a:xfrm>
        </p:grpSpPr>
        <p:sp>
          <p:nvSpPr>
            <p:cNvPr id="55" name="Rectangle 55"/>
            <p:cNvSpPr/>
            <p:nvPr/>
          </p:nvSpPr>
          <p:spPr>
            <a:xfrm>
              <a:off x="8153400" y="3905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8153400" y="3905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430006" y="4044315"/>
              <a:ext cx="1761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⑥ 沙箱环境模拟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432292" y="4426268"/>
              <a:ext cx="25361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Docker 隔离 + 离线快照可复现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432292" y="46929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真实性与可控性的折中；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432292" y="49215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环境构建成本高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439150" y="5353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546592" y="5340668"/>
              <a:ext cx="25315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GAIA / WebArena / OSWorld</a:t>
              </a: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596880" y="6442710"/>
            <a:ext cx="664398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注：六大范式综合公开文献与社区实践归纳，代表工具为典型示例</a:t>
            </a:r>
          </a:p>
        </p:txBody>
      </p:sp>
      <p:sp>
        <p:nvSpPr>
          <p:cNvPr id="67" name="TextBox 3"/>
          <p:cNvSpPr txBox="1"/>
          <p:nvPr/>
        </p:nvSpPr>
        <p:spPr>
          <a:xfrm>
            <a:off x="566166" y="229552"/>
            <a:ext cx="452047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 dirty="0" smtClean="0">
                <a:solidFill>
                  <a:srgbClr val="1E3A8A"/>
                </a:solidFill>
                <a:latin typeface="Microsoft YaHei"/>
                <a:ea typeface="Microsoft YaHei"/>
              </a:rPr>
              <a:t>0</a:t>
            </a:r>
            <a:r>
              <a:rPr lang="en-US" sz="1050" b="0" dirty="0" smtClean="0">
                <a:solidFill>
                  <a:srgbClr val="1E3A8A"/>
                </a:solidFill>
                <a:latin typeface="Microsoft YaHei"/>
                <a:ea typeface="Microsoft YaHei"/>
              </a:rPr>
              <a:t>3</a:t>
            </a:r>
            <a:r>
              <a:rPr sz="1050" b="0" dirty="0" smtClean="0">
                <a:solidFill>
                  <a:srgbClr val="1E3A8A"/>
                </a:solidFill>
                <a:latin typeface="Microsoft YaHei"/>
                <a:ea typeface="Microsoft YaHei"/>
              </a:rPr>
              <a:t> </a:t>
            </a:r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/ 13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68" name="TextBox 4"/>
          <p:cNvSpPr txBox="1"/>
          <p:nvPr/>
        </p:nvSpPr>
        <p:spPr>
          <a:xfrm>
            <a:off x="556260" y="438150"/>
            <a:ext cx="3619581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主流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 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Agent 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评测</a:t>
            </a:r>
            <a:r>
              <a:rPr lang="zh-CN" altLang="en-US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方法</a:t>
            </a:r>
            <a:endParaRPr lang="zh-CN" sz="3000" b="1" dirty="0">
              <a:solidFill>
                <a:schemeClr val="accent1"/>
              </a:solidFill>
              <a:latin typeface="Segoe UI"/>
              <a:ea typeface="Microsoft YaHei"/>
              <a:cs typeface="Segoe UI"/>
            </a:endParaRPr>
          </a:p>
        </p:txBody>
      </p:sp>
      <p:grpSp>
        <p:nvGrpSpPr>
          <p:cNvPr id="69" name="Group 9"/>
          <p:cNvGrpSpPr/>
          <p:nvPr/>
        </p:nvGrpSpPr>
        <p:grpSpPr>
          <a:xfrm>
            <a:off x="622026" y="1009054"/>
            <a:ext cx="7251421" cy="352044"/>
            <a:chOff x="752856" y="1139190"/>
            <a:chExt cx="7251421" cy="352044"/>
          </a:xfrm>
        </p:grpSpPr>
        <p:sp>
          <p:nvSpPr>
            <p:cNvPr id="70" name="TextBox 8"/>
            <p:cNvSpPr txBox="1"/>
            <p:nvPr/>
          </p:nvSpPr>
          <p:spPr>
            <a:xfrm>
              <a:off x="752856" y="1139190"/>
              <a:ext cx="72514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六大范式回答「怎么评」— 主流评测体系普遍是多种范式的混合实践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9703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04 / 13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89796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主流 Agent 评测方案对比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95375"/>
            <a:ext cx="110490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808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工具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71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定位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33497" y="1180624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评测对象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81297" y="1180624"/>
            <a:ext cx="84105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关键维度评分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0529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优势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437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劣势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58297" y="1180624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最佳场景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1362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80847" y="1542574"/>
            <a:ext cx="6561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PawBench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57338" y="1550670"/>
            <a:ext cx="8733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评测平台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833688" y="1550670"/>
            <a:ext cx="136253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Model + Harness + Task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233862" y="13858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233862" y="15097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233862" y="16335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233862" y="175736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786438" y="1492091"/>
            <a:ext cx="209715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Task/Judge/Runner 解耦，支持多 Agent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86438" y="1654016"/>
            <a:ext cx="183697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框架接入；Model×Harness 交叉评测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82038" y="155876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社区规模发展中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758488" y="15587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企业Agent评测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71500" y="1933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80847" y="2114074"/>
            <a:ext cx="91873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WildClawBench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57338" y="2122170"/>
            <a:ext cx="8733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交互评测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833688" y="2122170"/>
            <a:ext cx="81127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System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233862" y="19573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233862" y="20812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233862" y="2205038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233862" y="232886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786438" y="2063591"/>
            <a:ext cx="16394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真实 Linux 桌面交互，覆盖 200+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786438" y="2225516"/>
            <a:ext cx="12237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软件品类；环境复杂度高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682038" y="2130266"/>
            <a:ext cx="144457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环境依赖重，内网部署门槛高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758488" y="21302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桌面Agent研究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71500" y="2505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80847" y="2685574"/>
            <a:ext cx="7163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SkillsBench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57338" y="2693670"/>
            <a:ext cx="53640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 评测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833688" y="2693670"/>
            <a:ext cx="6282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Skill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233862" y="25288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233862" y="26527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233862" y="2776538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扩展能力 ★★★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233862" y="290036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786438" y="2635091"/>
            <a:ext cx="152780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专注 Skill 能力评测，任务设计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786438" y="2797016"/>
            <a:ext cx="152780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精巧；适合验证单一 Skill 效果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682038" y="2701766"/>
            <a:ext cx="1053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不测完整 Agent 流程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758488" y="2701766"/>
            <a:ext cx="4895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 评估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71500" y="3076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80847" y="3257074"/>
            <a:ext cx="71036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PinchBench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557338" y="3265170"/>
            <a:ext cx="95912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多模态Agent评测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833688" y="3265170"/>
            <a:ext cx="104103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Agent+Multimodal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233862" y="3100388"/>
            <a:ext cx="93360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★★★★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233862" y="322421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★★★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233862" y="3348038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扩展能力 ★★★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233862" y="3471862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资料生态 ★★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786438" y="3206591"/>
            <a:ext cx="11649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覆盖多模态 Agent 场景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786438" y="336851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任务含公网依赖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682038" y="327326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任务规模较小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758488" y="3273266"/>
            <a:ext cx="6514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多模态Agent</a:t>
            </a:r>
          </a:p>
        </p:txBody>
      </p:sp>
      <p:sp>
        <p:nvSpPr>
          <p:cNvPr id="63" name="Rectangle 63"/>
          <p:cNvSpPr/>
          <p:nvPr/>
        </p:nvSpPr>
        <p:spPr>
          <a:xfrm>
            <a:off x="571500" y="3648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680847" y="3828574"/>
            <a:ext cx="74372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AgentBench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557338" y="3836670"/>
            <a:ext cx="101105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Benchmark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833688" y="3836670"/>
            <a:ext cx="81127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System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233862" y="36718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233862" y="379571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★★★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233862" y="3919538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233862" y="4043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5786438" y="3778091"/>
            <a:ext cx="153840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学术影响力大，8 大类环境覆盖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786438" y="3940016"/>
            <a:ext cx="137417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广；部分环境依赖公网 API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682038" y="3844766"/>
            <a:ext cx="114090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部分环境依赖公网 API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0758488" y="3844766"/>
            <a:ext cx="4510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学术研究</a:t>
            </a:r>
          </a:p>
        </p:txBody>
      </p:sp>
      <p:sp>
        <p:nvSpPr>
          <p:cNvPr id="75" name="Rectangle 75"/>
          <p:cNvSpPr/>
          <p:nvPr/>
        </p:nvSpPr>
        <p:spPr>
          <a:xfrm>
            <a:off x="571500" y="4219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680847" y="4400074"/>
            <a:ext cx="28172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GAIA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557338" y="4408170"/>
            <a:ext cx="63040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通用AI评测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2833688" y="4408170"/>
            <a:ext cx="72590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LLM + Agent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4233862" y="42433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4233862" y="4367212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4233862" y="4491038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扩展能力 ★★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4233862" y="461486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★★★★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5786438" y="4349591"/>
            <a:ext cx="143129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Meta 出品，概念验证式任务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5786438" y="4511516"/>
            <a:ext cx="12688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设计；公开 Leaderboard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8682038" y="4416266"/>
            <a:ext cx="12237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依赖公网，不能内网部署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0758488" y="44162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通用Agent评测</a:t>
            </a:r>
          </a:p>
        </p:txBody>
      </p:sp>
      <p:sp>
        <p:nvSpPr>
          <p:cNvPr id="87" name="Rectangle 87"/>
          <p:cNvSpPr/>
          <p:nvPr/>
        </p:nvSpPr>
        <p:spPr>
          <a:xfrm>
            <a:off x="571500" y="4791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680847" y="4971574"/>
            <a:ext cx="70375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SWE-bench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557338" y="4979670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代码修复评测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2833688" y="4979670"/>
            <a:ext cx="7561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Coding Agent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4233862" y="4814888"/>
            <a:ext cx="72938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完整Agent ★★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4233862" y="49387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4233862" y="5062538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扩展能力 ★★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4233862" y="5186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5786438" y="4921091"/>
            <a:ext cx="116938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Coding Agent 事实标准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5786438" y="508301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社区活跃度最高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8682038" y="4987766"/>
            <a:ext cx="100302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只覆盖代码修复场景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0758488" y="4987766"/>
            <a:ext cx="53980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代码Agent</a:t>
            </a:r>
          </a:p>
        </p:txBody>
      </p:sp>
      <p:sp>
        <p:nvSpPr>
          <p:cNvPr id="99" name="Rectangle 99"/>
          <p:cNvSpPr/>
          <p:nvPr/>
        </p:nvSpPr>
        <p:spPr>
          <a:xfrm>
            <a:off x="571500" y="5362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0" name="TextBox 100"/>
          <p:cNvSpPr txBox="1"/>
          <p:nvPr/>
        </p:nvSpPr>
        <p:spPr>
          <a:xfrm>
            <a:off x="680847" y="5543074"/>
            <a:ext cx="56515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DeepEval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557338" y="5551170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评测框架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2833688" y="5551170"/>
            <a:ext cx="108274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LLM / RAG / Agent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4233862" y="53863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4233862" y="55102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4233862" y="56340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4233862" y="57578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5786438" y="5492591"/>
            <a:ext cx="119338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框架成熟，CI 集成完善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5786438" y="565451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企业使用广泛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8682038" y="5559266"/>
            <a:ext cx="11649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不提供 Agent 任务体系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0758488" y="555926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企业质量回归</a:t>
            </a:r>
          </a:p>
        </p:txBody>
      </p:sp>
      <p:sp>
        <p:nvSpPr>
          <p:cNvPr id="111" name="Rectangle 111"/>
          <p:cNvSpPr/>
          <p:nvPr/>
        </p:nvSpPr>
        <p:spPr>
          <a:xfrm>
            <a:off x="571500" y="5934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12" name="TextBox 112"/>
          <p:cNvSpPr txBox="1"/>
          <p:nvPr/>
        </p:nvSpPr>
        <p:spPr>
          <a:xfrm>
            <a:off x="680847" y="6114574"/>
            <a:ext cx="6936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Promptfoo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557338" y="6122670"/>
            <a:ext cx="7188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Prompt 评测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2833688" y="6122670"/>
            <a:ext cx="90920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 + Model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4233862" y="5957888"/>
            <a:ext cx="72938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完整Agent ★★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4233862" y="60817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4233862" y="62055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4233862" y="6329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5786438" y="6064091"/>
            <a:ext cx="173431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轻量成熟，Prompt/模型 A/B 测试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5786438" y="622601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快速迭代友好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8682038" y="6130766"/>
            <a:ext cx="1053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不适合作 Agent 评测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0758488" y="6130766"/>
            <a:ext cx="65581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Prompt 调优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566738" y="6551295"/>
            <a:ext cx="6153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评分说明：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1519238" y="6551295"/>
            <a:ext cx="77282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★★★★★ 优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2471738" y="6551295"/>
            <a:ext cx="6516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★★★★ 良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3328988" y="6551295"/>
            <a:ext cx="40934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★★ 弱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4186238" y="6551295"/>
            <a:ext cx="266288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| 内网部署 = 内网可运行 + 公网依赖度的综合评价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566738" y="6711791"/>
            <a:ext cx="541441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数据来源：各项目公开文档及 GitHub 仓库，截至 2025 年 7 月。PawBench 底层复用 OpenJudge 评测引擎。</a:t>
            </a:r>
          </a:p>
        </p:txBody>
      </p:sp>
      <p:sp>
        <p:nvSpPr>
          <p:cNvPr id="129" name="Rectangle 129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620336" y="1139190"/>
            <a:ext cx="9786652" cy="352044"/>
            <a:chOff x="752856" y="1139190"/>
            <a:chExt cx="9786652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97866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PawBench 与主流「同源混合、交叉创新」— 混合采用主流范式，并以交叉矩阵走出差异化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29480" y="1619250"/>
            <a:ext cx="5334000" cy="4000500"/>
            <a:chOff x="762000" y="1619250"/>
            <a:chExt cx="5334000" cy="4000500"/>
          </a:xfrm>
        </p:grpSpPr>
        <p:sp>
          <p:nvSpPr>
            <p:cNvPr id="10" name="Rectangle 10"/>
            <p:cNvSpPr/>
            <p:nvPr/>
          </p:nvSpPr>
          <p:spPr>
            <a:xfrm>
              <a:off x="762000" y="1619250"/>
              <a:ext cx="5334000" cy="400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619250"/>
              <a:ext cx="38100" cy="4000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8606" y="1758315"/>
              <a:ext cx="20919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与主流一致 · 同源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1047750" y="2190750"/>
              <a:ext cx="4762500" cy="704850"/>
              <a:chOff x="1047750" y="2190750"/>
              <a:chExt cx="4762500" cy="7048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047750" y="2190750"/>
                <a:ext cx="4762500" cy="7048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231392" y="2330768"/>
                <a:ext cx="353441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确定性断言检查（automated 自动评分）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31392" y="2597468"/>
                <a:ext cx="14130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= 最终状态评估 ①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047750" y="3048000"/>
              <a:ext cx="4762500" cy="704850"/>
              <a:chOff x="1047750" y="3048000"/>
              <a:chExt cx="4762500" cy="7048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1047750" y="3048000"/>
                <a:ext cx="4762500" cy="7048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31392" y="3188018"/>
                <a:ext cx="24883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LLM 评判 + Rubric 评分细则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31392" y="3454718"/>
                <a:ext cx="179430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= LLM-as-a-Judge ③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047750" y="3905250"/>
              <a:ext cx="4762500" cy="704850"/>
              <a:chOff x="1047750" y="3905250"/>
              <a:chExt cx="4762500" cy="7048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1047750" y="3905250"/>
                <a:ext cx="4762500" cy="7048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231392" y="4045268"/>
                <a:ext cx="26334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Docker 沙箱隔离、离线可复现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231392" y="4311968"/>
                <a:ext cx="14130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= 沙箱环境模拟 ⑥</a:t>
                </a:r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040892" y="4997768"/>
              <a:ext cx="3412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此外以 transcript + 产物双重输入评分，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40892" y="52454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兼顾过程信息与最终结果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153980" y="1619250"/>
            <a:ext cx="5334000" cy="4000500"/>
            <a:chOff x="6286500" y="1619250"/>
            <a:chExt cx="5334000" cy="4000500"/>
          </a:xfrm>
        </p:grpSpPr>
        <p:sp>
          <p:nvSpPr>
            <p:cNvPr id="28" name="Rectangle 28"/>
            <p:cNvSpPr/>
            <p:nvPr/>
          </p:nvSpPr>
          <p:spPr>
            <a:xfrm>
              <a:off x="6286500" y="1619250"/>
              <a:ext cx="5334000" cy="400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86500" y="1619250"/>
              <a:ext cx="38100" cy="400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63106" y="1758315"/>
              <a:ext cx="28695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PawBench 独特 · 差异化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6572250" y="2190750"/>
              <a:ext cx="4762500" cy="990600"/>
              <a:chOff x="6572250" y="2190750"/>
              <a:chExt cx="4762500" cy="9906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6572250" y="2190750"/>
                <a:ext cx="4762500" cy="99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6755892" y="2311718"/>
                <a:ext cx="297395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Model × Harness × Task 交叉矩阵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755892" y="2559368"/>
                <a:ext cx="33312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主流把 Harness 当隐藏变量，PawBench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755892" y="2787968"/>
                <a:ext cx="310324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显式化为独立评测维度，定位真实瓶颈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6572250" y="3333750"/>
              <a:ext cx="4762500" cy="990600"/>
              <a:chOff x="6572250" y="3333750"/>
              <a:chExt cx="4762500" cy="9906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6572250" y="3333750"/>
                <a:ext cx="4762500" cy="99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755892" y="3454718"/>
                <a:ext cx="179791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hybrid 混合惩罚机制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755892" y="3702368"/>
                <a:ext cx="27212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自动分 &lt; 0.75 时 LLM 分清零，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755892" y="3930968"/>
                <a:ext cx="222182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防止跳过任务 / 空文件刷分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572250" y="4476750"/>
              <a:ext cx="4762500" cy="990600"/>
              <a:chOff x="6572250" y="4476750"/>
              <a:chExt cx="4762500" cy="9906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6572250" y="4476750"/>
                <a:ext cx="4762500" cy="99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6755892" y="4597718"/>
                <a:ext cx="268525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评分对框架中立，不做轨迹对齐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755892" y="4845368"/>
                <a:ext cx="353941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刻意区别于轨迹评估 ②：只依赖 transcript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755892" y="5073968"/>
                <a:ext cx="350306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与 workspace_path，多路径正确皆可得分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629480" y="5867400"/>
            <a:ext cx="10858500" cy="495300"/>
            <a:chOff x="762000" y="5867400"/>
            <a:chExt cx="10858500" cy="495300"/>
          </a:xfrm>
        </p:grpSpPr>
        <p:sp>
          <p:nvSpPr>
            <p:cNvPr id="47" name="Rectangle 47"/>
            <p:cNvSpPr/>
            <p:nvPr/>
          </p:nvSpPr>
          <p:spPr>
            <a:xfrm>
              <a:off x="762000" y="5867400"/>
              <a:ext cx="10858500" cy="4953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38606" y="5996940"/>
              <a:ext cx="97356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结论：混合主流范式 + 交叉矩阵设计，使 PawBench 在完整 Agent 评测维度上更全面</a:t>
              </a:r>
            </a:p>
          </p:txBody>
        </p:sp>
      </p:grpSp>
      <p:sp>
        <p:nvSpPr>
          <p:cNvPr id="51" name="TextBox 3"/>
          <p:cNvSpPr txBox="1"/>
          <p:nvPr/>
        </p:nvSpPr>
        <p:spPr>
          <a:xfrm>
            <a:off x="566166" y="229552"/>
            <a:ext cx="452047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 dirty="0" smtClean="0">
                <a:solidFill>
                  <a:srgbClr val="1E3A8A"/>
                </a:solidFill>
                <a:latin typeface="Microsoft YaHei"/>
                <a:ea typeface="Microsoft YaHei"/>
              </a:rPr>
              <a:t>0</a:t>
            </a:r>
            <a:r>
              <a:rPr lang="en-US" sz="1050" dirty="0">
                <a:solidFill>
                  <a:srgbClr val="1E3A8A"/>
                </a:solidFill>
                <a:latin typeface="Microsoft YaHei"/>
                <a:ea typeface="Microsoft YaHei"/>
              </a:rPr>
              <a:t>5</a:t>
            </a:r>
            <a:r>
              <a:rPr sz="1050" b="0" dirty="0" smtClean="0">
                <a:solidFill>
                  <a:srgbClr val="1E3A8A"/>
                </a:solidFill>
                <a:latin typeface="Microsoft YaHei"/>
                <a:ea typeface="Microsoft YaHei"/>
              </a:rPr>
              <a:t> </a:t>
            </a:r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/ 13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52" name="TextBox 4"/>
          <p:cNvSpPr txBox="1"/>
          <p:nvPr/>
        </p:nvSpPr>
        <p:spPr>
          <a:xfrm>
            <a:off x="556260" y="438150"/>
            <a:ext cx="5304401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altLang="en-US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方法与主流范式对比</a:t>
            </a:r>
            <a:endParaRPr lang="zh-CN" sz="3000" b="1" dirty="0">
              <a:solidFill>
                <a:schemeClr val="accent1"/>
              </a:solidFill>
              <a:latin typeface="Segoe UI"/>
              <a:ea typeface="Microsoft YaHe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343984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748284" y="470535"/>
            <a:ext cx="2891241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</a:t>
            </a:r>
            <a:r>
              <a:rPr lang="zh-CN" sz="27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的 </a:t>
            </a:r>
            <a:r>
              <a:rPr lang="zh-CN" altLang="en-US" sz="27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优势</a:t>
            </a:r>
            <a:endParaRPr lang="zh-CN" sz="2700" b="1" dirty="0">
              <a:solidFill>
                <a:schemeClr val="accent1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762000" y="914400"/>
            <a:ext cx="9525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5523" y="1119664"/>
            <a:ext cx="41343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综合 9 个主流方案对比 + 企业级 Agent 评测落地需求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161925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Rectangle 7"/>
          <p:cNvSpPr/>
          <p:nvPr/>
        </p:nvSpPr>
        <p:spPr>
          <a:xfrm>
            <a:off x="762000" y="1619250"/>
            <a:ext cx="47625" cy="190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Ellipse 8"/>
          <p:cNvSpPr/>
          <p:nvPr/>
        </p:nvSpPr>
        <p:spPr>
          <a:xfrm>
            <a:off x="981075" y="1885950"/>
            <a:ext cx="419100" cy="41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118105" y="199358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15618" y="1984058"/>
            <a:ext cx="175040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完整 Agent 评测</a:t>
            </a:r>
          </a:p>
        </p:txBody>
      </p:sp>
      <p:sp>
        <p:nvSpPr>
          <p:cNvPr id="11" name="Line 11"/>
          <p:cNvSpPr/>
          <p:nvPr/>
        </p:nvSpPr>
        <p:spPr>
          <a:xfrm>
            <a:off x="1000125" y="247650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995172" y="265699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51279" y="2632710"/>
            <a:ext cx="25182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同时评估 Model × Harness × Task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5172" y="299037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52041" y="2982278"/>
            <a:ext cx="216880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非纯 LLM 榜单（不测工具调用）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52041" y="3201352"/>
            <a:ext cx="20977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非纯 Skill 评测（不测完整流程）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286500" y="161925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Rectangle 18"/>
          <p:cNvSpPr/>
          <p:nvPr/>
        </p:nvSpPr>
        <p:spPr>
          <a:xfrm>
            <a:off x="6286500" y="1619250"/>
            <a:ext cx="476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Ellipse 19"/>
          <p:cNvSpPr/>
          <p:nvPr/>
        </p:nvSpPr>
        <p:spPr>
          <a:xfrm>
            <a:off x="6505575" y="18859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6642605" y="199358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40118" y="19840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内网安全运行</a:t>
            </a:r>
          </a:p>
        </p:txBody>
      </p:sp>
      <p:sp>
        <p:nvSpPr>
          <p:cNvPr id="22" name="Line 22"/>
          <p:cNvSpPr/>
          <p:nvPr/>
        </p:nvSpPr>
        <p:spPr>
          <a:xfrm>
            <a:off x="6524625" y="247650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6519672" y="265699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75779" y="2632710"/>
            <a:ext cx="22299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沙箱隔离，数据不出网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19672" y="299037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376541" y="2982278"/>
            <a:ext cx="26461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区别于 GAIA / AgentBench / PinchBench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376541" y="3201352"/>
            <a:ext cx="150418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等依赖公网 API 的方案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" y="381000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Rectangle 29"/>
          <p:cNvSpPr/>
          <p:nvPr/>
        </p:nvSpPr>
        <p:spPr>
          <a:xfrm>
            <a:off x="762000" y="3810000"/>
            <a:ext cx="47625" cy="1905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Ellipse 30"/>
          <p:cNvSpPr/>
          <p:nvPr/>
        </p:nvSpPr>
        <p:spPr>
          <a:xfrm>
            <a:off x="981075" y="4076700"/>
            <a:ext cx="419100" cy="4191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extBox 31"/>
          <p:cNvSpPr txBox="1"/>
          <p:nvPr/>
        </p:nvSpPr>
        <p:spPr>
          <a:xfrm>
            <a:off x="1118105" y="418433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15618" y="4174808"/>
            <a:ext cx="284191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Model × Harness 交叉评测</a:t>
            </a:r>
          </a:p>
        </p:txBody>
      </p:sp>
      <p:sp>
        <p:nvSpPr>
          <p:cNvPr id="33" name="Line 33"/>
          <p:cNvSpPr/>
          <p:nvPr/>
        </p:nvSpPr>
        <p:spPr>
          <a:xfrm>
            <a:off x="1000125" y="466725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TextBox 34"/>
          <p:cNvSpPr txBox="1"/>
          <p:nvPr/>
        </p:nvSpPr>
        <p:spPr>
          <a:xfrm>
            <a:off x="995172" y="484774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851279" y="4823460"/>
            <a:ext cx="26702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行业首创 Model × Harness 解耦设计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95172" y="518112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852041" y="51730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独立衡量模型能力与工程稳定性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852041" y="5392102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定位真实瓶颈来源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286500" y="381000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Rectangle 40"/>
          <p:cNvSpPr/>
          <p:nvPr/>
        </p:nvSpPr>
        <p:spPr>
          <a:xfrm>
            <a:off x="6286500" y="3810000"/>
            <a:ext cx="476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Ellipse 41"/>
          <p:cNvSpPr/>
          <p:nvPr/>
        </p:nvSpPr>
        <p:spPr>
          <a:xfrm>
            <a:off x="6505575" y="407670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TextBox 42"/>
          <p:cNvSpPr txBox="1"/>
          <p:nvPr/>
        </p:nvSpPr>
        <p:spPr>
          <a:xfrm>
            <a:off x="6642605" y="418433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040118" y="4174808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开源可扩展</a:t>
            </a:r>
          </a:p>
        </p:txBody>
      </p:sp>
      <p:sp>
        <p:nvSpPr>
          <p:cNvPr id="44" name="Line 44"/>
          <p:cNvSpPr/>
          <p:nvPr/>
        </p:nvSpPr>
        <p:spPr>
          <a:xfrm>
            <a:off x="6524625" y="466725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TextBox 45"/>
          <p:cNvSpPr txBox="1"/>
          <p:nvPr/>
        </p:nvSpPr>
        <p:spPr>
          <a:xfrm>
            <a:off x="6519672" y="484774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375779" y="4823460"/>
            <a:ext cx="24382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 / Judge / Runner 完全解耦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519672" y="518112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376541" y="5173028"/>
            <a:ext cx="2386872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zh-CN" sz="1050" dirty="0">
                <a:solidFill>
                  <a:schemeClr val="accent5"/>
                </a:solidFill>
                <a:latin typeface="Segoe UI"/>
                <a:cs typeface="Segoe UI"/>
              </a:rPr>
              <a:t>基于 OpenJudge 生态</a:t>
            </a:r>
            <a:r>
              <a:rPr lang="zh-CN" altLang="en-US" sz="1050" dirty="0">
                <a:solidFill>
                  <a:schemeClr val="accent5"/>
                </a:solidFill>
                <a:latin typeface="Segoe UI"/>
                <a:cs typeface="Segoe UI"/>
              </a:rPr>
              <a:t>，</a:t>
            </a:r>
            <a:r>
              <a:rPr lang="zh-CN" altLang="zh-CN" sz="1050" dirty="0">
                <a:solidFill>
                  <a:schemeClr val="accent5"/>
                </a:solidFill>
                <a:latin typeface="Segoe UI"/>
                <a:cs typeface="Segoe UI"/>
              </a:rPr>
              <a:t>Apache 2.0 </a:t>
            </a:r>
            <a:r>
              <a:rPr lang="zh-CN" altLang="zh-CN" sz="1050" dirty="0" smtClean="0">
                <a:solidFill>
                  <a:schemeClr val="accent5"/>
                </a:solidFill>
                <a:latin typeface="Segoe UI"/>
                <a:cs typeface="Segoe UI"/>
              </a:rPr>
              <a:t>协议</a:t>
            </a:r>
            <a:endParaRPr lang="zh-CN" altLang="zh-CN" sz="1050" dirty="0">
              <a:solidFill>
                <a:schemeClr val="accent5"/>
              </a:solidFill>
              <a:latin typeface="Segoe UI"/>
              <a:cs typeface="Segoe UI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7376541" y="5392102"/>
            <a:ext cx="2437516" cy="1615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r>
              <a:rPr lang="zh-CN" altLang="en-US" sz="1050" dirty="0">
                <a:solidFill>
                  <a:schemeClr val="accent5"/>
                </a:solidFill>
                <a:latin typeface="Segoe UI"/>
                <a:cs typeface="Segoe UI"/>
              </a:rPr>
              <a:t>阿里通义实验室</a:t>
            </a:r>
            <a:r>
              <a:rPr lang="en-US" altLang="zh-CN" sz="1050" dirty="0" err="1">
                <a:solidFill>
                  <a:schemeClr val="accent5"/>
                </a:solidFill>
                <a:latin typeface="Segoe UI"/>
                <a:cs typeface="Segoe UI"/>
              </a:rPr>
              <a:t>AgentScope</a:t>
            </a:r>
            <a:r>
              <a:rPr lang="zh-CN" altLang="en-US" sz="1050" dirty="0">
                <a:solidFill>
                  <a:schemeClr val="accent5"/>
                </a:solidFill>
                <a:latin typeface="Segoe UI"/>
                <a:cs typeface="Segoe UI"/>
              </a:rPr>
              <a:t>团队维护</a:t>
            </a:r>
            <a:endParaRPr lang="zh-CN" altLang="zh-CN" sz="1050" dirty="0">
              <a:solidFill>
                <a:schemeClr val="accent5"/>
              </a:solidFill>
              <a:latin typeface="Segoe UI"/>
              <a:cs typeface="Segoe UI"/>
            </a:endParaRPr>
          </a:p>
        </p:txBody>
      </p:sp>
      <p:sp>
        <p:nvSpPr>
          <p:cNvPr id="50" name="Rectangle 50"/>
          <p:cNvSpPr/>
          <p:nvPr/>
        </p:nvSpPr>
        <p:spPr>
          <a:xfrm>
            <a:off x="762000" y="6000750"/>
            <a:ext cx="10668000" cy="523875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TextBox 51"/>
          <p:cNvSpPr txBox="1"/>
          <p:nvPr/>
        </p:nvSpPr>
        <p:spPr>
          <a:xfrm>
            <a:off x="2842184" y="6197918"/>
            <a:ext cx="650763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唯一在「完整 Agent」「内网部署」「可扩展」三项同时 ★★★★★ 的方案</a:t>
            </a:r>
          </a:p>
        </p:txBody>
      </p:sp>
      <p:sp>
        <p:nvSpPr>
          <p:cNvPr id="52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06 / 13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07 / 13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534959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能力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与评测设计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143000"/>
            <a:ext cx="5334000" cy="1047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143000"/>
            <a:ext cx="5334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92480" y="12858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核心设计理念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0956" y="1615440"/>
            <a:ext cx="393497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表现 = f(Model, Harness)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4385" y="1955006"/>
            <a:ext cx="540680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决定能力上限 · Harness 决定稳定落地 · 两者独立评测才能发现真实瓶颈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096000" y="1143000"/>
            <a:ext cx="5524500" cy="11049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6096000" y="1143000"/>
            <a:ext cx="5524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316980" y="12858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三步评测流程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038975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123074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95945" y="1886902"/>
            <a:ext cx="7527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选择模型与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06913" y="2058352"/>
            <a:ext cx="9308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Harness 组合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743950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828049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52474" y="1886902"/>
            <a:ext cx="8496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沙箱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75129" y="205835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隔离运行</a:t>
            </a:r>
          </a:p>
        </p:txBody>
      </p:sp>
      <p:sp>
        <p:nvSpPr>
          <p:cNvPr id="22" name="Rectangle 22"/>
          <p:cNvSpPr/>
          <p:nvPr/>
        </p:nvSpPr>
        <p:spPr>
          <a:xfrm>
            <a:off x="10448925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533024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84892" y="1886902"/>
            <a:ext cx="7947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 + LLM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0104" y="205835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双重评分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2381250"/>
            <a:ext cx="533400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571500" y="2381250"/>
            <a:ext cx="53340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92480" y="2524125"/>
            <a:ext cx="1154162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七</a:t>
            </a:r>
            <a:r>
              <a:rPr lang="zh-CN" altLang="en-US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种</a:t>
            </a:r>
            <a:r>
              <a:rPr lang="zh-CN" sz="15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能力</a:t>
            </a:r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诊断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00100" y="28765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09066" y="2963228"/>
            <a:ext cx="6365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Tool_Use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233166" y="29632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工具调用与编排</a:t>
            </a:r>
          </a:p>
        </p:txBody>
      </p:sp>
      <p:sp>
        <p:nvSpPr>
          <p:cNvPr id="32" name="Rectangle 32"/>
          <p:cNvSpPr/>
          <p:nvPr/>
        </p:nvSpPr>
        <p:spPr>
          <a:xfrm>
            <a:off x="800100" y="32194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09066" y="3306128"/>
            <a:ext cx="64284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Skill_Use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233166" y="3306128"/>
            <a:ext cx="10542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Skill 发现与执行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00100" y="35623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909066" y="3649028"/>
            <a:ext cx="132599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Code_Manipulation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233166" y="36490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代码操作与修复</a:t>
            </a:r>
          </a:p>
        </p:txBody>
      </p:sp>
      <p:sp>
        <p:nvSpPr>
          <p:cNvPr id="38" name="Rectangle 38"/>
          <p:cNvSpPr/>
          <p:nvPr/>
        </p:nvSpPr>
        <p:spPr>
          <a:xfrm>
            <a:off x="800100" y="39052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09066" y="3991928"/>
            <a:ext cx="11702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Logic_Reasoning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233166" y="39919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逻辑推理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00100" y="42481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09066" y="4334828"/>
            <a:ext cx="59359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Planning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233166" y="4334828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多步任务规划</a:t>
            </a:r>
          </a:p>
        </p:txBody>
      </p:sp>
      <p:sp>
        <p:nvSpPr>
          <p:cNvPr id="44" name="Rectangle 44"/>
          <p:cNvSpPr/>
          <p:nvPr/>
        </p:nvSpPr>
        <p:spPr>
          <a:xfrm>
            <a:off x="800100" y="45910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909066" y="4677728"/>
            <a:ext cx="13490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Math_Computation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233166" y="46777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数学计算</a:t>
            </a:r>
          </a:p>
        </p:txBody>
      </p:sp>
      <p:sp>
        <p:nvSpPr>
          <p:cNvPr id="47" name="Rectangle 47"/>
          <p:cNvSpPr/>
          <p:nvPr/>
        </p:nvSpPr>
        <p:spPr>
          <a:xfrm>
            <a:off x="800100" y="49339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909066" y="5020628"/>
            <a:ext cx="12587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Self_Verification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233166" y="50206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自我验证与纠错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096000" y="2381250"/>
            <a:ext cx="5524500" cy="1476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6096000" y="2381250"/>
            <a:ext cx="55245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316980" y="25241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平台设计要点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318504" y="2870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评测策略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318885" y="3098006"/>
            <a:ext cx="43312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× Harness × Task 三维交叉设计，独立衡量每个因素贡献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318885" y="3383756"/>
            <a:ext cx="38011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每任务独立 Docker 容器，严格超时与重试，确保可复现</a:t>
            </a:r>
          </a:p>
        </p:txBody>
      </p:sp>
      <p:sp>
        <p:nvSpPr>
          <p:cNvPr id="56" name="Rectangle 56"/>
          <p:cNvSpPr/>
          <p:nvPr/>
        </p:nvSpPr>
        <p:spPr>
          <a:xfrm>
            <a:off x="6096000" y="3524250"/>
            <a:ext cx="9525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6318504" y="3632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评分模式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318885" y="3831431"/>
            <a:ext cx="503221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automated（确定性断言检查）· llm_judge（语义评估）· hybrid（混合）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096000" y="4048125"/>
            <a:ext cx="5524500" cy="1285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6096000" y="4048125"/>
            <a:ext cx="5524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317742" y="42167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覆盖场景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318885" y="4498181"/>
            <a:ext cx="38712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办公协同 · 软件工程 · 数据分析 · 信息检索 · 自动化脚本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317742" y="480726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任务复杂度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318885" y="5069681"/>
            <a:ext cx="514913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L1（1-2步）· L2（3-5步）· L3（5+步含条件分支）— 适配不同评测需求</a:t>
            </a:r>
          </a:p>
        </p:txBody>
      </p:sp>
      <p:sp>
        <p:nvSpPr>
          <p:cNvPr id="65" name="Rectangle 65"/>
          <p:cNvSpPr/>
          <p:nvPr/>
        </p:nvSpPr>
        <p:spPr>
          <a:xfrm>
            <a:off x="571500" y="5524500"/>
            <a:ext cx="11049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3194478" y="5664518"/>
            <a:ext cx="580304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当前已评测 9 个模型 × 3 个 Harness × 150 道任务 = 4,050 个评测单元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68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749808" y="483870"/>
            <a:ext cx="7453579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</a:t>
            </a:r>
            <a:r>
              <a:rPr lang="zh-CN" altLang="en-US" sz="24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官方</a:t>
            </a:r>
            <a:r>
              <a:rPr lang="zh-CN" sz="24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评测</a:t>
            </a:r>
            <a:r>
              <a:rPr lang="zh-CN" sz="24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结果 · Model × Harness 评分矩阵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904875"/>
            <a:ext cx="9525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6285" y="1116806"/>
            <a:ext cx="52172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全景 150 个任务（文本 + 多模态） · 9 模型 × 3 Harness · Overall 综合得分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757238" y="5964883"/>
            <a:ext cx="677888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数据来源：PawBench OpenJudge 评测引擎 · 截至 2025 年 7 月 · 平均分 = 跨 harness 加权 · 单元格颜色深浅代表分数高低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103" y="1429600"/>
            <a:ext cx="9354792" cy="4374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7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08 / 13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09 / 13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150239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评测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任务体系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2356" y="1139190"/>
            <a:ext cx="70696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150 道任务 × 6 个源数据集 × 五维标签体系，支持精细化评测分析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3118" y="16792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任务来源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2047875"/>
            <a:ext cx="68580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09041" y="214407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来源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99666" y="214407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数量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52166" y="2144078"/>
            <a:ext cx="9011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主要覆盖领域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23526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08660" y="2421731"/>
            <a:ext cx="577081" cy="1723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自建任务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99285" y="24217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52166" y="242982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自动化、信息检索、安全对齐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26193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08660" y="2688431"/>
            <a:ext cx="6296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claweval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99285" y="26884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52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52166" y="26965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办公协同、数据分析、内容创作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28860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08660" y="2955131"/>
            <a:ext cx="111208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qwenclawbench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99285" y="29551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852166" y="296322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自动化、软件工程、安全对齐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31527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08660" y="3221831"/>
            <a:ext cx="8029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pinchbench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99285" y="32218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52166" y="32299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办公流程、软件工程、信息检索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34194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08660" y="3488531"/>
            <a:ext cx="81053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skillsbench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899285" y="34885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852166" y="3496628"/>
            <a:ext cx="14830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长程 Skill、领域自动化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36861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08660" y="3755231"/>
            <a:ext cx="10366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wildclawbench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899285" y="37552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852166" y="3763328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办公流程、安全对齐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3952875"/>
            <a:ext cx="6858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7715250" y="1857375"/>
            <a:ext cx="3905250" cy="25908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7715250" y="1857375"/>
            <a:ext cx="390525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945755" y="19526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五维标签体系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47279" y="2232660"/>
            <a:ext cx="14454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应用场景 scenario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948422" y="2428399"/>
            <a:ext cx="305415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Office / Software_Engineering / Data_Analysis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948422" y="2599849"/>
            <a:ext cx="23118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Information_Retrieval / Automation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947279" y="2804160"/>
            <a:ext cx="1163908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 smtClean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能力 </a:t>
            </a:r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capabilities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948422" y="2999899"/>
            <a:ext cx="307513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Logic / Math / Code / Tool / Skill / Plan / Verify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947279" y="3204210"/>
            <a:ext cx="14539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复杂度 complexity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948422" y="3399949"/>
            <a:ext cx="293720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L1（1-2步） / L2（3-5步） / L3（5+含分支）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947279" y="3604260"/>
            <a:ext cx="14370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输入模态 modality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948422" y="3799999"/>
            <a:ext cx="26352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text / multimodal（image, audio, video）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947279" y="4004310"/>
            <a:ext cx="17592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运行环境 environment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948422" y="4200049"/>
            <a:ext cx="24373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closed（离线复现） / open（需联公网）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63118" y="4298632"/>
            <a:ext cx="23490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五维标签如何赋能评测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71500" y="4714875"/>
            <a:ext cx="3429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5715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774573" y="4862989"/>
            <a:ext cx="12794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按场景分类对比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75335" y="5136356"/>
            <a:ext cx="24238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只在办公协同场景下对比模型表现，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75335" y="53459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排除其他场景噪声，结论更聚焦</a:t>
            </a:r>
          </a:p>
        </p:txBody>
      </p:sp>
      <p:sp>
        <p:nvSpPr>
          <p:cNvPr id="57" name="Rectangle 57"/>
          <p:cNvSpPr/>
          <p:nvPr/>
        </p:nvSpPr>
        <p:spPr>
          <a:xfrm>
            <a:off x="4191000" y="4714875"/>
            <a:ext cx="3429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8" name="Rectangle 58"/>
          <p:cNvSpPr/>
          <p:nvPr/>
        </p:nvSpPr>
        <p:spPr>
          <a:xfrm>
            <a:off x="41910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4394073" y="4862989"/>
            <a:ext cx="12794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按能力定向诊断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394835" y="5136356"/>
            <a:ext cx="26417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单独筛选 Tool_Use 或 Planning 任务，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394835" y="5345906"/>
            <a:ext cx="227304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精准定位模型在特定能力上的短板</a:t>
            </a:r>
          </a:p>
        </p:txBody>
      </p:sp>
      <p:sp>
        <p:nvSpPr>
          <p:cNvPr id="62" name="Rectangle 62"/>
          <p:cNvSpPr/>
          <p:nvPr/>
        </p:nvSpPr>
        <p:spPr>
          <a:xfrm>
            <a:off x="7810500" y="4714875"/>
            <a:ext cx="3810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3" name="Rectangle 63"/>
          <p:cNvSpPr/>
          <p:nvPr/>
        </p:nvSpPr>
        <p:spPr>
          <a:xfrm>
            <a:off x="78105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8013573" y="4862989"/>
            <a:ext cx="14603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按复杂度分层评估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014335" y="5136356"/>
            <a:ext cx="303829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对比 L1/L2/L3 不同复杂度下的表现差异，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014335" y="53459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识别模型在多步推理中的退化点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71500" y="5857875"/>
            <a:ext cx="11049000" cy="38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3233425" y="5967889"/>
            <a:ext cx="572515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每道任务 5 维标签可任意组合筛选，灵活构建定制化的评测维度和对比视图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70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420" y="203200"/>
            <a:ext cx="1143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10 / 13</a:t>
            </a:r>
            <a:endParaRPr sz="1050" b="0" dirty="0">
              <a:solidFill>
                <a:srgbClr val="1E3A8A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6260" y="419100"/>
            <a:ext cx="10795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任务执行与评分实战 · 以 T053 为例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14400"/>
            <a:ext cx="762000" cy="304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2610" y="1016000"/>
            <a:ext cx="11049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借 T053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看清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PawBench「执行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采集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评分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汇总」的评测链路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——</a:t>
            </a:r>
            <a:r>
              <a:rPr sz="1400" b="0" dirty="0" err="1" smtClean="0">
                <a:solidFill>
                  <a:srgbClr val="64748B"/>
                </a:solidFill>
                <a:latin typeface="Microsoft YaHei"/>
                <a:ea typeface="Microsoft YaHei"/>
              </a:rPr>
              <a:t>它同样适用于</a:t>
            </a:r>
            <a:r>
              <a:rPr lang="zh-CN" altLang="en-US" sz="1400" b="0" dirty="0" smtClean="0">
                <a:solidFill>
                  <a:srgbClr val="64748B"/>
                </a:solidFill>
                <a:latin typeface="Microsoft YaHei"/>
                <a:ea typeface="Microsoft YaHei"/>
              </a:rPr>
              <a:t>其它</a:t>
            </a:r>
            <a:r>
              <a:rPr sz="1400" b="0" dirty="0" err="1" smtClean="0">
                <a:solidFill>
                  <a:srgbClr val="64748B"/>
                </a:solidFill>
                <a:latin typeface="Microsoft YaHei"/>
                <a:ea typeface="Microsoft YaHei"/>
              </a:rPr>
              <a:t>日常任务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（下页对照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320800"/>
            <a:ext cx="11049000" cy="73660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1320800"/>
            <a:ext cx="50800" cy="736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2000" y="1409700"/>
            <a:ext cx="10795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任务 T053</a:t>
            </a:r>
            <a:r>
              <a:rPr sz="11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   ｜  来源 pinchbench   ｜  类型 内容创作·写作   ｜  复杂度 L1   ｜  环境 closed   ｜  评分 hybrid（自动 0.6 + LLM 0.4）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701800"/>
            <a:ext cx="10795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指令：</a:t>
            </a:r>
            <a:r>
              <a:rPr sz="110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撰写一篇约 500 词《远程办公对软件开发者的好处》博客，并保存为 </a:t>
            </a:r>
            <a:r>
              <a:rPr sz="1100" b="1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blog_post.md</a:t>
            </a:r>
            <a:r>
              <a:rPr sz="110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  （纯文本、无外部依赖）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3100" y="36322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9800" y="36322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6500" y="36322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15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① 沙箱执行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782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782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782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② 结果采集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49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849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849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③ 双重评分 · hybrid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916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916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916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④ 汇总得分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500" y="2667000"/>
            <a:ext cx="2374900" cy="2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Agent 在 Docker 容器中隔离运行，独立执行任务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纯文本创作，无需联网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无外部依赖 / 无预置文件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environment = closed（可离线复现）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超时 300s 内产出 </a:t>
            </a:r>
            <a:r>
              <a:rPr sz="1000" b="1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blog_post.md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5200" y="2667000"/>
            <a:ext cx="2374900" cy="2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harness 采集运行产物与过程：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OpenClaw session → 归一化为 transcript 事件流</a:t>
            </a:r>
          </a:p>
          <a:p>
            <a:pPr algn="l">
              <a:lnSpc>
                <a:spcPct val="112000"/>
              </a:lnSpc>
            </a:pPr>
            <a:r>
              <a:rPr sz="950" b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   (message / toolCall / toolResult)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新生成文件内容注入 transcript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产物落盘 </a:t>
            </a:r>
            <a:r>
              <a:rPr sz="1000" b="1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workspace_path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评分只读这两个输入，对框架中立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1900" y="2667000"/>
            <a:ext cx="2374900" cy="266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自动检查</a:t>
            </a:r>
            <a:r>
              <a:rPr sz="100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  权重 0.6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文件 blog_post.md 是否存在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词数 450–550 → 1.0（区间打分）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标题 + 段落结构（≥3 段）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remote / developer 关键词命中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05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LLM 评判</a:t>
            </a:r>
            <a:r>
              <a:rPr sz="100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  权重 0.4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质量30 · 结构25 · 写作20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词数15 · 完成度10（Rubric）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8600" y="2667000"/>
            <a:ext cx="2374900" cy="266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最终得分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05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score = 0.6 × 自动分</a:t>
            </a:r>
          </a:p>
          <a:p>
            <a:pPr algn="l">
              <a:lnSpc>
                <a:spcPct val="115000"/>
              </a:lnSpc>
            </a:pPr>
            <a:r>
              <a:rPr sz="105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            + 0.4 × LLM 分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050" b="1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混合惩罚机制</a:t>
            </a:r>
          </a:p>
          <a:p>
            <a:pPr algn="l">
              <a:lnSpc>
                <a:spcPct val="115000"/>
              </a:lnSpc>
            </a:pPr>
            <a:r>
              <a:rPr sz="98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自动分 &lt; 0.75 时</a:t>
            </a:r>
          </a:p>
          <a:p>
            <a:pPr algn="l">
              <a:lnSpc>
                <a:spcPct val="115000"/>
              </a:lnSpc>
            </a:pPr>
            <a:r>
              <a:rPr sz="980" b="1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  → LLM 分被置 0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· 防止跳过任务 / 空文件刷分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(API 真实失败时豁免)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" y="5588000"/>
            <a:ext cx="11049000" cy="431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8500" y="5588000"/>
            <a:ext cx="107950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一张任务卡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 = Prompt + Expected Behavior + 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自动检查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(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代码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) + </a:t>
            </a:r>
            <a:r>
              <a:rPr sz="1200" b="1" dirty="0" smtClean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LLM</a:t>
            </a:r>
            <a:r>
              <a:rPr lang="zh-CN" altLang="en-US" sz="1200" b="1" dirty="0">
                <a:solidFill>
                  <a:srgbClr val="FFFFFF"/>
                </a:solidFill>
                <a:latin typeface="Segoe UI"/>
                <a:cs typeface="Segoe UI"/>
              </a:rPr>
              <a:t>评分细则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　｜　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评分仅依赖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 transcript 与 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workspace_path，对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 Agent 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框架保持中立</a:t>
            </a:r>
            <a:endParaRPr sz="120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0000" y="380000"/>
            <a:ext cx="116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 err="1">
                <a:solidFill>
                  <a:srgbClr val="1E3A8A"/>
                </a:solidFill>
                <a:latin typeface="Microsoft YaHei"/>
                <a:ea typeface="Microsoft YaHei"/>
              </a:rPr>
              <a:t>PawBench</a:t>
            </a:r>
            <a:r>
              <a:rPr sz="3200" b="1" dirty="0">
                <a:solidFill>
                  <a:srgbClr val="1E3A8A"/>
                </a:solidFill>
                <a:latin typeface="Microsoft YaHei"/>
                <a:ea typeface="Microsoft YaHei"/>
              </a:rPr>
              <a:t> </a:t>
            </a:r>
            <a:r>
              <a:rPr sz="3200" b="1" dirty="0" err="1">
                <a:solidFill>
                  <a:srgbClr val="1E3A8A"/>
                </a:solidFill>
                <a:latin typeface="Microsoft YaHei"/>
                <a:ea typeface="Microsoft YaHei"/>
              </a:rPr>
              <a:t>任务</a:t>
            </a:r>
            <a:r>
              <a:rPr sz="3200" b="1" dirty="0">
                <a:solidFill>
                  <a:srgbClr val="1E3A8A"/>
                </a:solidFill>
                <a:latin typeface="Microsoft YaHei"/>
                <a:ea typeface="Microsoft YaHei"/>
              </a:rPr>
              <a:t> ↔ </a:t>
            </a:r>
            <a:r>
              <a:rPr sz="3200" b="1" dirty="0" err="1" smtClean="0">
                <a:solidFill>
                  <a:srgbClr val="1E3A8A"/>
                </a:solidFill>
                <a:latin typeface="Microsoft YaHei"/>
                <a:ea typeface="Microsoft YaHei"/>
              </a:rPr>
              <a:t>日常</a:t>
            </a:r>
            <a:r>
              <a:rPr lang="zh-CN" altLang="en-US" sz="3200" b="1" dirty="0" smtClean="0">
                <a:solidFill>
                  <a:srgbClr val="1E3A8A"/>
                </a:solidFill>
                <a:latin typeface="Microsoft YaHei"/>
                <a:ea typeface="Microsoft YaHei"/>
              </a:rPr>
              <a:t>工作</a:t>
            </a:r>
            <a:r>
              <a:rPr sz="3200" b="1" dirty="0" err="1" smtClean="0">
                <a:solidFill>
                  <a:srgbClr val="1E3A8A"/>
                </a:solidFill>
                <a:latin typeface="Microsoft YaHei"/>
                <a:ea typeface="Microsoft YaHei"/>
              </a:rPr>
              <a:t>能力</a:t>
            </a:r>
            <a:endParaRPr sz="3200" b="1" dirty="0">
              <a:solidFill>
                <a:srgbClr val="1E3A8A"/>
              </a:solidFill>
              <a:latin typeface="Microsoft YaHei"/>
              <a:ea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0000" y="980000"/>
            <a:ext cx="1160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日常</a:t>
            </a:r>
            <a:r>
              <a:rPr sz="1500" b="0" dirty="0">
                <a:solidFill>
                  <a:srgbClr val="64748B"/>
                </a:solidFill>
                <a:latin typeface="Microsoft YaHei"/>
                <a:ea typeface="Microsoft YaHei"/>
              </a:rPr>
              <a:t> 7 类使用场景中，6 </a:t>
            </a:r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类在</a:t>
            </a:r>
            <a:r>
              <a:rPr sz="15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PawBench</a:t>
            </a:r>
            <a:r>
              <a:rPr sz="15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都有强匹配任务</a:t>
            </a:r>
            <a:r>
              <a:rPr sz="1500" b="0" dirty="0" smtClean="0">
                <a:solidFill>
                  <a:srgbClr val="64748B"/>
                </a:solidFill>
                <a:latin typeface="Microsoft YaHei"/>
                <a:ea typeface="Microsoft YaHei"/>
              </a:rPr>
              <a:t>；</a:t>
            </a:r>
            <a:r>
              <a:rPr lang="zh-CN" altLang="en-US" sz="1500" b="0" dirty="0" smtClean="0">
                <a:solidFill>
                  <a:srgbClr val="64748B"/>
                </a:solidFill>
                <a:latin typeface="Microsoft YaHei"/>
                <a:ea typeface="Microsoft YaHei"/>
              </a:rPr>
              <a:t>与</a:t>
            </a:r>
            <a:r>
              <a:rPr sz="1500" b="0" dirty="0" smtClean="0">
                <a:solidFill>
                  <a:srgbClr val="64748B"/>
                </a:solidFill>
                <a:latin typeface="Microsoft YaHei"/>
                <a:ea typeface="Microsoft YaHei"/>
              </a:rPr>
              <a:t>T053 </a:t>
            </a:r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走完全相同的「执行→采集→评分→汇总」链路</a:t>
            </a:r>
            <a:endParaRPr sz="1500" b="0" dirty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517184"/>
              </p:ext>
            </p:extLst>
          </p:nvPr>
        </p:nvGraphicFramePr>
        <p:xfrm>
          <a:off x="600000" y="1480000"/>
          <a:ext cx="11432974" cy="4773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242"/>
                <a:gridCol w="2611843"/>
                <a:gridCol w="3006084"/>
                <a:gridCol w="4188805"/>
              </a:tblGrid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日常能力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对应任务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评分方式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考察核心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1E3A8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邮件处理</a:t>
                      </a:r>
                      <a:endParaRPr sz="1300" b="1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T016 Email Triage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0.35 / LLM 0.65）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读收件箱 → 分类(需回复/通知/垃圾) → 结构化输出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通讯录</a:t>
                      </a:r>
                      <a:r>
                        <a:rPr sz="1100" b="1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 / CRM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T026 / T027 CRM Export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0.5 / LLM 0.5）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从 CRM 导出客户与通讯录数据，并做错误恢复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内部新闻</a:t>
                      </a:r>
                      <a:r>
                        <a:rPr sz="1100" b="1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 / </a:t>
                      </a:r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资讯</a:t>
                      </a:r>
                      <a:endParaRPr sz="1300" b="1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T025 Newsletter Curation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0.4 / LLM 0.6）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多源 RSS 筛选 → 编辑摘要 → 形成技术简报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sz="1100" b="1" kern="1200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+mn-cs"/>
                        </a:rPr>
                        <a:t>Excel / </a:t>
                      </a:r>
                      <a:r>
                        <a:rPr sz="1100" b="1" kern="1200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+mn-cs"/>
                        </a:rPr>
                        <a:t>表格</a:t>
                      </a:r>
                      <a:endParaRPr sz="1300" b="1" kern="1200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  <a:cs typeface="+mn-cs"/>
                      </a:endParaRP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T140 Xlsx Recover Data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0.6 / LLM 0.4）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读 nasa_budget_incomplete.xlsx → 修复 15 个 ??? 缺值（跨 4 工作表依赖）→ 存 nasa_budget_recovered.xlsx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文档</a:t>
                      </a:r>
                      <a:r>
                        <a:rPr sz="1100" b="1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 (PDF)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T055 合同分析 / T058 论文通俗摘要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llm_judge（纯 LLM 评判）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读 PDF 合同 → 法律条款与风险评估 → .md；读论文 PDF → 通俗摘要 → .txt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代码处理</a:t>
                      </a:r>
                      <a:endParaRPr sz="1300" b="1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T064 Playwright E2E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0.5 / LLM 0.5）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编写并调试端到端表单测试代码（真实代码操作</a:t>
                      </a:r>
                      <a:r>
                        <a:rPr sz="1100" b="0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Skill 创建</a:t>
                      </a:r>
                      <a:endParaRPr sz="1300" b="1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T076 / T078 / T085 / T094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0.4 / LLM 0.6）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编写可复用 SKILL.md（frontmatter+方法）→ 用该 skill 完成实际任务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Skill 使用</a:t>
                      </a:r>
                      <a:endParaRPr sz="1300" b="1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SkillsBench T126–T140（15）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hybrid（自动/LLM 按任务）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读 skills/&lt;name&gt;/SKILL.md → 调用其脚本完成专业任务（3D/规划/控制/Excel…）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0000" y="6322684"/>
            <a:ext cx="116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注：上述任务均为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hybrid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评分（自动检查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+ LLM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评判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），</a:t>
            </a:r>
            <a:r>
              <a:rPr sz="1200" b="0" dirty="0" err="1" smtClean="0">
                <a:solidFill>
                  <a:srgbClr val="64748B"/>
                </a:solidFill>
                <a:latin typeface="Microsoft YaHei"/>
                <a:ea typeface="Microsoft YaHei"/>
              </a:rPr>
              <a:t>与日常使用</a:t>
            </a:r>
            <a:r>
              <a:rPr sz="1200" b="0" dirty="0" smtClean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OpenClaw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处理邮件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表格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文档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代码 / Skill的能力高度对应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420" y="203200"/>
            <a:ext cx="11430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12 / 13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5304401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应用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场景与集成方式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3118" y="120300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典型应用场景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571625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71625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73811" y="1674971"/>
            <a:ext cx="121878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模型升级评估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5335" y="1955006"/>
            <a:ext cx="383406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固定 Harness，横向跑新旧模型，看整体分和切片分变化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2362200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2362200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73811" y="2465546"/>
            <a:ext cx="144556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框架迭代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5335" y="2745581"/>
            <a:ext cx="39860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固定模型，横向跑不同版本 Harness，验证改动未引入退化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3152775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571500" y="3152775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73811" y="3256121"/>
            <a:ext cx="15572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自定义 Skill 验证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75335" y="3536156"/>
            <a:ext cx="36099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新增业务 Skill 后，在相关切片上验证发现和执行效果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3943350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71500" y="3943350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73811" y="4046696"/>
            <a:ext cx="14195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回归测试流水线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5335" y="4326731"/>
            <a:ext cx="366374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集成到 CI 流程，每次 Agent / 模型发布自动触发评测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3118" y="4822508"/>
            <a:ext cx="211582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企业需求与能力适配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5219700"/>
            <a:ext cx="257175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75716" y="5315902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需求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3143250" y="5219700"/>
            <a:ext cx="26670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347466" y="5315902"/>
            <a:ext cx="10492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PawBench 能力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55245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80847" y="557164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内网私有化部署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143250" y="55245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3252597" y="5571649"/>
            <a:ext cx="19741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开源 + Docker，数据不出内网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5734050"/>
            <a:ext cx="257175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80847" y="5781199"/>
            <a:ext cx="125739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评测完整 Agent 系统</a:t>
            </a:r>
          </a:p>
        </p:txBody>
      </p:sp>
      <p:sp>
        <p:nvSpPr>
          <p:cNvPr id="34" name="Rectangle 34"/>
          <p:cNvSpPr/>
          <p:nvPr/>
        </p:nvSpPr>
        <p:spPr>
          <a:xfrm>
            <a:off x="3143250" y="5734050"/>
            <a:ext cx="266700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3252597" y="5781199"/>
            <a:ext cx="20964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Model × Harness × Task 全覆盖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59436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80847" y="599074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自定义任务扩展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143250" y="59436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252597" y="5990749"/>
            <a:ext cx="19803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OpenJudge 生态，灵活可扩展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6153150"/>
            <a:ext cx="257175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80847" y="6200299"/>
            <a:ext cx="85045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Skill 能力评估</a:t>
            </a:r>
          </a:p>
        </p:txBody>
      </p:sp>
      <p:sp>
        <p:nvSpPr>
          <p:cNvPr id="42" name="Rectangle 42"/>
          <p:cNvSpPr/>
          <p:nvPr/>
        </p:nvSpPr>
        <p:spPr>
          <a:xfrm>
            <a:off x="3143250" y="6153150"/>
            <a:ext cx="266700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3252597" y="6200299"/>
            <a:ext cx="26924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7 大原子能力含 Skill_Use，15 道专项任务</a:t>
            </a:r>
          </a:p>
        </p:txBody>
      </p:sp>
      <p:sp>
        <p:nvSpPr>
          <p:cNvPr id="44" name="Rectangle 44"/>
          <p:cNvSpPr/>
          <p:nvPr/>
        </p:nvSpPr>
        <p:spPr>
          <a:xfrm>
            <a:off x="571500" y="63627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80847" y="6409849"/>
            <a:ext cx="5376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量化回归</a:t>
            </a:r>
          </a:p>
        </p:txBody>
      </p:sp>
      <p:sp>
        <p:nvSpPr>
          <p:cNvPr id="46" name="Rectangle 46"/>
          <p:cNvSpPr/>
          <p:nvPr/>
        </p:nvSpPr>
        <p:spPr>
          <a:xfrm>
            <a:off x="3143250" y="63627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3252597" y="6409849"/>
            <a:ext cx="23238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标准化任务 + 自动评分，CI 可集成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278118" y="120300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集成方式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286500" y="161925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6286500" y="1619250"/>
            <a:ext cx="57150" cy="10953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564630" y="17430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环境部署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566154" y="2061210"/>
            <a:ext cx="442806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一键部署，拉取 PawBench 仓库，配置模型 API 密钥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566154" y="2299335"/>
            <a:ext cx="425272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完成后即可跑通全量 150 道标准化任务，获得基线评测结果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286500" y="285750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6286500" y="2857500"/>
            <a:ext cx="57150" cy="10953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564630" y="29813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内网适配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566154" y="3299460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含公网依赖的任务改造为离线可运行，自定义业务相关任务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566154" y="3537585"/>
            <a:ext cx="46868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支持基于 OpenJudge 自定义 Task / Judge / Runner，灵活扩展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286500" y="409575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6286500" y="4095750"/>
            <a:ext cx="57150" cy="1095375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564630" y="42195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持续迭代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566154" y="4537710"/>
            <a:ext cx="33368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嵌入 Agent 开发迭代流程，每次发布自动评测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566154" y="477583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利用五维标签切片分析，精准定位能力变化，推动持续改进</a:t>
            </a:r>
          </a:p>
        </p:txBody>
      </p:sp>
      <p:sp>
        <p:nvSpPr>
          <p:cNvPr id="64" name="Rectangle 64"/>
          <p:cNvSpPr/>
          <p:nvPr/>
        </p:nvSpPr>
        <p:spPr>
          <a:xfrm>
            <a:off x="6286500" y="5429250"/>
            <a:ext cx="5334000" cy="76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65" name="Rectangle 65"/>
          <p:cNvSpPr/>
          <p:nvPr/>
        </p:nvSpPr>
        <p:spPr>
          <a:xfrm>
            <a:off x="6286500" y="5429250"/>
            <a:ext cx="5334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6566535" y="5574506"/>
            <a:ext cx="6446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技术特点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566916" y="5811202"/>
            <a:ext cx="46171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 OpenAI 兼容 API 和私有化模型接入，纯 Python 实现，无专有依赖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566916" y="6001702"/>
            <a:ext cx="38489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 / Judge / Runner 解耦设计，各组件可独立定制和替换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70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56260" y="438150"/>
            <a:ext cx="87858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总结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Rectangle 5"/>
          <p:cNvSpPr/>
          <p:nvPr/>
        </p:nvSpPr>
        <p:spPr>
          <a:xfrm>
            <a:off x="571500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ectangle 6"/>
          <p:cNvSpPr/>
          <p:nvPr/>
        </p:nvSpPr>
        <p:spPr>
          <a:xfrm>
            <a:off x="571500" y="1238250"/>
            <a:ext cx="352425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838962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8868" y="18697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交叉评测矩阵</a:t>
            </a:r>
          </a:p>
        </p:txBody>
      </p:sp>
      <p:sp>
        <p:nvSpPr>
          <p:cNvPr id="9" name="Rectangle 9"/>
          <p:cNvSpPr/>
          <p:nvPr/>
        </p:nvSpPr>
        <p:spPr>
          <a:xfrm>
            <a:off x="857250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851154" y="2394585"/>
            <a:ext cx="21565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同时评估 Model、Harness 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1154" y="2632710"/>
            <a:ext cx="22238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 三个维度，回答的不只是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1154" y="2870835"/>
            <a:ext cx="20557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"模型好不好"，更是"部署后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1154" y="3108960"/>
            <a:ext cx="14662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的 Agent 好不好用"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1154" y="3442335"/>
            <a:ext cx="22595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9 模型 × 3 Harness × 150 任务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1154" y="3680460"/>
            <a:ext cx="12883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= 4,050 评测单元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333875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Rectangle 17"/>
          <p:cNvSpPr/>
          <p:nvPr/>
        </p:nvSpPr>
        <p:spPr>
          <a:xfrm>
            <a:off x="4333875" y="1238250"/>
            <a:ext cx="352425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4601337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2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11243" y="1869758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灵活可扩展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619625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4613529" y="2394585"/>
            <a:ext cx="238926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Task、Judge、Runner 完全解耦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13529" y="26327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可自定义评测任务和评分规则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13529" y="287083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五维标签体系支持精细化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13529" y="310896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切片分析，定位薄弱环节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13529" y="344233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阿里通义实验室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13529" y="3680460"/>
            <a:ext cx="16132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AgentScope 团队出品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096250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Rectangle 28"/>
          <p:cNvSpPr/>
          <p:nvPr/>
        </p:nvSpPr>
        <p:spPr>
          <a:xfrm>
            <a:off x="8096250" y="1238250"/>
            <a:ext cx="352425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8363712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73618" y="18697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内网安全就绪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382000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8375904" y="2394585"/>
            <a:ext cx="15776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Docker 沙箱隔离运行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75904" y="26327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完全私有化部署，数据不出网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75904" y="2870835"/>
            <a:ext cx="21969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可集成 CI/CD，自动回归测试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75904" y="3108960"/>
            <a:ext cx="1613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 OpenAI 兼容 API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75904" y="3442335"/>
            <a:ext cx="254789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Python 3.11+ / Docker / Node.js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375904" y="3680460"/>
            <a:ext cx="15694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Apache 2.0 开源协议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4457700"/>
            <a:ext cx="11049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9" name="TextBox 39"/>
          <p:cNvSpPr txBox="1"/>
          <p:nvPr/>
        </p:nvSpPr>
        <p:spPr>
          <a:xfrm>
            <a:off x="563880" y="4676775"/>
            <a:ext cx="28135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Agent 评测正处于关键转折期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65023" y="5024914"/>
            <a:ext cx="861289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从手工挑选个别案例做主观判断，转向标准化、自动化、多维度的量化评测，是 Agent 从实验走向生产的前提。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5023" y="5310664"/>
            <a:ext cx="967591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一个完整的评测体系需要同时覆盖模型能力、任务框架和运行环境三个独立变量，才能真正回答"我的 Agent 到底好不好用"。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5023" y="5596414"/>
            <a:ext cx="599893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开源、可扩展、内网安全的评测基础设施，是推动 Agent 工程化的关键一环。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141640" y="65541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13 / 13</a:t>
            </a:r>
          </a:p>
        </p:txBody>
      </p:sp>
      <p:sp>
        <p:nvSpPr>
          <p:cNvPr id="44" name="Rectangle 44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pawbench_v2">
  <a:themeElements>
    <a:clrScheme name="pawbench_v2">
      <a:dk1>
        <a:srgbClr val="1A1A2E"/>
      </a:dk1>
      <a:lt1>
        <a:srgbClr val="FFFFFF"/>
      </a:lt1>
      <a:dk2>
        <a:srgbClr val="1F497D"/>
      </a:dk2>
      <a:lt2>
        <a:srgbClr val="F2F5FA"/>
      </a:lt2>
      <a:accent1>
        <a:srgbClr val="1E3A8A"/>
      </a:accent1>
      <a:accent2>
        <a:srgbClr val="2563EB"/>
      </a:accent2>
      <a:accent3>
        <a:srgbClr val="93C5FD"/>
      </a:accent3>
      <a:accent4>
        <a:srgbClr val="E2E8F0"/>
      </a:accent4>
      <a:accent5>
        <a:srgbClr val="64748B"/>
      </a:accent5>
      <a:accent6>
        <a:srgbClr val="94A3B8"/>
      </a:accent6>
      <a:hlink>
        <a:srgbClr val="2563EB"/>
      </a:hlink>
      <a:folHlink>
        <a:srgbClr val="93C5FD"/>
      </a:folHlink>
    </a:clrScheme>
    <a:fontScheme name="pawbench_v2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wbench_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2804</Words>
  <Application>Microsoft Office PowerPoint</Application>
  <PresentationFormat>自定义</PresentationFormat>
  <Paragraphs>475</Paragraphs>
  <Slides>13</Slides>
  <Notes>2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4" baseType="lpstr">
      <vt:lpstr>pawbench_v2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chinalife</dc:creator>
  <cp:lastModifiedBy>chinalife</cp:lastModifiedBy>
  <cp:revision>17</cp:revision>
  <dcterms:created xsi:type="dcterms:W3CDTF">2026-07-20T00:49:04Z</dcterms:created>
  <dcterms:modified xsi:type="dcterms:W3CDTF">2026-08-06T09:32:33Z</dcterms:modified>
  <dc:language/>
</cp:coreProperties>
</file>