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 PawBench 介绍。今天我们将了解 Agent 评测的新范式：一个同时评估模型和运行框架的交叉评测基准。</a:t>
            </a:r>
          </a:p>
          <a:p>
            <a:endParaRPr lang="en-US" dirty="0"/>
          </a:p>
          <a:p>
            <a:r>
              <a:rPr lang="zh-CN" dirty="0"/>
              <a:t>PawBench 由阿里通义实验室 AgentScope 团队开发，专注于解决企业部署 Agent 系统时遇到的评测难题。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首先我们看为什么需要 Agent 评测。</a:t>
            </a:r>
          </a:p>
          <a:p>
            <a:endParaRPr lang="en-US" dirty="0"/>
          </a:p>
          <a:p>
            <a:r>
              <a:rPr lang="zh-CN" dirty="0"/>
              <a:t>当前有三个核心痛点：第一，升级效果无法量化，每次模型或框架升级后，效果好坏难以客观判断；第二，失败归因困难，任务出问题了很难定位责任方；第三，现有方案有各自的局限，通用榜单不测 Agent 能力，学术 Benchmark 又依赖公网。</a:t>
            </a:r>
          </a:p>
          <a:p>
            <a:endParaRPr lang="en-US" dirty="0"/>
          </a:p>
          <a:p>
            <a:r>
              <a:rPr lang="zh-CN" dirty="0"/>
              <a:t>这三个问题共同指向一个需求：需要一个标准化、可复现、内网可用的 Agent 评测方案。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这是目前主流 Agent 评测方案的对比。</a:t>
            </a:r>
          </a:p>
          <a:p>
            <a:endParaRPr lang="en-US" dirty="0"/>
          </a:p>
          <a:p>
            <a:r>
              <a:rPr lang="zh-CN" dirty="0"/>
              <a:t>PawBench 定位为完整的 Agent Benchmark 平台，评测对象覆盖 Agent 运行时、模型和任务三个层面。相比之下，AgentBench 更偏底层的 LLM 评测，SWE-bench 只覆盖代码修复场景。</a:t>
            </a:r>
          </a:p>
          <a:p>
            <a:endParaRPr lang="en-US" dirty="0"/>
          </a:p>
          <a:p>
            <a:r>
              <a:rPr lang="zh-CN" dirty="0"/>
              <a:t>在完整 Agent 系统评估、内网运行能力和扩展性这三个关键维度上，PawBench 都获得了五星评价。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PawBench 的核心特性体现在三个方面。</a:t>
            </a:r>
          </a:p>
          <a:p>
            <a:endParaRPr lang="en-US" dirty="0"/>
          </a:p>
          <a:p>
            <a:r>
              <a:rPr lang="zh-CN" dirty="0"/>
              <a:t>第一是交叉评测矩阵。9个模型、3个 Harness、150个任务组成 4050 个评测单元，可以精准定位瓶颈到底在模型还是框架。</a:t>
            </a:r>
          </a:p>
          <a:p>
            <a:endParaRPr lang="en-US" dirty="0"/>
          </a:p>
          <a:p>
            <a:r>
              <a:rPr lang="zh-CN" dirty="0"/>
              <a:t>第二是三步入式评测流程。选择模型和 Harness 后，在 Docker 沙箱中隔离运行，然后通过自动化评分和 LLM 评判的双重机制确保评测结果的可靠性。</a:t>
            </a:r>
          </a:p>
          <a:p>
            <a:endParaRPr lang="en-US" dirty="0"/>
          </a:p>
          <a:p>
            <a:r>
              <a:rPr lang="zh-CN" dirty="0"/>
              <a:t>第三是七维原子能力诊断。从 Tool_Use 到 Self_Verification，覆盖 Agent 核心能力的方方面面，支持按场景、模态、复杂度等多维度切片分析。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总结来看，选择 PawBench 的三个理由。</a:t>
            </a:r>
          </a:p>
          <a:p>
            <a:endParaRPr lang="en-US" dirty="0"/>
          </a:p>
          <a:p>
            <a:r>
              <a:rPr lang="zh-CN" dirty="0"/>
              <a:t>第一，它是目前唯一能同时评估模型和 Harness 的评测平台，适合我们既自研 Agent 又调优模型的场景。</a:t>
            </a:r>
          </a:p>
          <a:p>
            <a:endParaRPr lang="en-US" dirty="0"/>
          </a:p>
          <a:p>
            <a:r>
              <a:rPr lang="zh-CN" dirty="0"/>
              <a:t>第二，基于 OpenJudge 开源生态，可扩展性强，可以根据业务需求自定义任务和评判逻辑。</a:t>
            </a:r>
          </a:p>
          <a:p>
            <a:endParaRPr lang="en-US" dirty="0"/>
          </a:p>
          <a:p>
            <a:r>
              <a:rPr lang="zh-CN" dirty="0"/>
              <a:t>第三，企业级就绪，Docker 内网部署保障数据安全，可集成到 CI 流水线实现自动化回归测试。</a:t>
            </a:r>
          </a:p>
          <a:p>
            <a:endParaRPr lang="en-US" dirty="0"/>
          </a:p>
          <a:p>
            <a:r>
              <a:rPr lang="zh-CN" dirty="0"/>
              <a:t>集成路径分为三个阶段：两周部署环境，两周适配内网，后续持续优化。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intr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intr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42950" y="906780"/>
            <a:ext cx="7601757" cy="1637157"/>
            <a:chOff x="742950" y="906780"/>
            <a:chExt cx="7601757" cy="1637157"/>
          </a:xfrm>
        </p:grpSpPr>
        <p:sp>
          <p:nvSpPr>
            <p:cNvPr id="2" name="TextBox 2"/>
            <p:cNvSpPr txBox="1"/>
            <p:nvPr/>
          </p:nvSpPr>
          <p:spPr>
            <a:xfrm>
              <a:off x="742950" y="906780"/>
              <a:ext cx="4676946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spc="3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762000" y="1905000"/>
              <a:ext cx="11430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49808" y="2074545"/>
              <a:ext cx="75948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评测新范式 — Model × Harness 交叉评测基准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55142" y="6236018"/>
            <a:ext cx="33587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|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428750"/>
            <a:ext cx="5143500" cy="1428750"/>
            <a:chOff x="762000" y="1428750"/>
            <a:chExt cx="5143500" cy="1428750"/>
          </a:xfrm>
        </p:grpSpPr>
        <p:sp>
          <p:nvSpPr>
            <p:cNvPr id="8" name="Rectangle 8"/>
            <p:cNvSpPr/>
            <p:nvPr/>
          </p:nvSpPr>
          <p:spPr>
            <a:xfrm>
              <a:off x="762000" y="1428750"/>
              <a:ext cx="5143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428750"/>
              <a:ext cx="381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567815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49768"/>
              <a:ext cx="3386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从模型升级到 Agent 框架迭代，效果好坏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87892"/>
              <a:ext cx="353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依赖 cherry-pick 案例，难以形成决策依据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3048000"/>
            <a:ext cx="5143500" cy="1428750"/>
            <a:chOff x="762000" y="3048000"/>
            <a:chExt cx="5143500" cy="1428750"/>
          </a:xfrm>
        </p:grpSpPr>
        <p:sp>
          <p:nvSpPr>
            <p:cNvPr id="14" name="Rectangle 14"/>
            <p:cNvSpPr/>
            <p:nvPr/>
          </p:nvSpPr>
          <p:spPr>
            <a:xfrm>
              <a:off x="762000" y="3048000"/>
              <a:ext cx="5143500" cy="1428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62000" y="3048000"/>
              <a:ext cx="381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38606" y="31870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失败归因困难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0892" y="35690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任务失败了，不知道是模型能力不足、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0892" y="3807142"/>
              <a:ext cx="29725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调度问题还是工具调用失败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4667250"/>
            <a:ext cx="5143500" cy="1428750"/>
            <a:chOff x="762000" y="4667250"/>
            <a:chExt cx="5143500" cy="1428750"/>
          </a:xfrm>
        </p:grpSpPr>
        <p:sp>
          <p:nvSpPr>
            <p:cNvPr id="20" name="Rectangle 20"/>
            <p:cNvSpPr/>
            <p:nvPr/>
          </p:nvSpPr>
          <p:spPr>
            <a:xfrm>
              <a:off x="762000" y="4667250"/>
              <a:ext cx="514350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2000" y="4667250"/>
              <a:ext cx="3810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38606" y="4806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现有方案局限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0892" y="5188268"/>
              <a:ext cx="3883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榜单不测工具调用；学术 Benchmark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0892" y="542639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依赖公网无法内网部署，自建测试无统一标准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2000" y="1238250"/>
            <a:ext cx="10668000" cy="4381500"/>
            <a:chOff x="762000" y="1238250"/>
            <a:chExt cx="10668000" cy="4381500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10668000" cy="381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6904" y="13563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851404" y="13563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137404" y="1356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42404" y="1356360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71154" y="1356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内网运行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99904" y="13563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619250"/>
              <a:ext cx="106680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6142" y="1854518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1404" y="1870710"/>
              <a:ext cx="1722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 平台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37404" y="1870710"/>
              <a:ext cx="2306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Runtime + Model + Task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42404" y="1870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71154" y="1870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99904" y="18707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62000" y="2286000"/>
              <a:ext cx="10668000" cy="666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136142" y="2521268"/>
              <a:ext cx="1008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OpenJudge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51404" y="2537460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评测框架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37404" y="2537460"/>
              <a:ext cx="18570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Judge / Score / Reward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2404" y="2537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71154" y="2537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99904" y="25374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2952750"/>
              <a:ext cx="106680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136142" y="3188018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51404" y="3204210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长流程 Agent 数据集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37404" y="3204210"/>
              <a:ext cx="10005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长流程 Agent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2404" y="32042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1154" y="32042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899904" y="3204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3619500"/>
              <a:ext cx="10668000" cy="666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136142" y="3854768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51404" y="3870960"/>
              <a:ext cx="1223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学术 Benchmark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137404" y="3870960"/>
              <a:ext cx="11355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LLM-as-Agent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042404" y="3870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71154" y="3870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99904" y="38709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62000" y="4286250"/>
              <a:ext cx="106680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36142" y="4521518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51404" y="4537710"/>
              <a:ext cx="1722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 Agent Benchmark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37404" y="4537710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 Agent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42404" y="45377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471154" y="4537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899904" y="4537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000" y="4953000"/>
              <a:ext cx="10668000" cy="666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36142" y="5188268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851404" y="520446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 Benchmark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137404" y="5204460"/>
              <a:ext cx="8709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 Agent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042404" y="52044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71154" y="5204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899904" y="52044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62000" y="5810250"/>
            <a:ext cx="10668000" cy="476250"/>
            <a:chOff x="762000" y="5810250"/>
            <a:chExt cx="10668000" cy="476250"/>
          </a:xfrm>
        </p:grpSpPr>
        <p:sp>
          <p:nvSpPr>
            <p:cNvPr id="58" name="Rectangle 58"/>
            <p:cNvSpPr/>
            <p:nvPr/>
          </p:nvSpPr>
          <p:spPr>
            <a:xfrm>
              <a:off x="762000" y="5810250"/>
              <a:ext cx="10668000" cy="4762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136142" y="5969318"/>
              <a:ext cx="7909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关键发现：PawBench 是唯一同时评估 Model + Harness + Task 完整 Agent 系统的评测平台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050856" cy="657035"/>
            <a:chOff x="745998" y="571500"/>
            <a:chExt cx="405085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0508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核心特性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428750"/>
            <a:ext cx="3333750" cy="4381500"/>
            <a:chOff x="762000" y="1428750"/>
            <a:chExt cx="3333750" cy="4381500"/>
          </a:xfrm>
        </p:grpSpPr>
        <p:sp>
          <p:nvSpPr>
            <p:cNvPr id="8" name="Rectangle 8"/>
            <p:cNvSpPr/>
            <p:nvPr/>
          </p:nvSpPr>
          <p:spPr>
            <a:xfrm>
              <a:off x="762000" y="1428750"/>
              <a:ext cx="3333750" cy="438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428750"/>
              <a:ext cx="57150" cy="438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9368" y="167925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092642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654" y="2394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= 4,050 个评测单元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77558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精准定位瓶颈在模型还是框架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3156585"/>
              <a:ext cx="1852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3 个主流 Harness：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154" y="3442335"/>
              <a:ext cx="2200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QwenPaw（默认 baseline）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2154" y="3728085"/>
              <a:ext cx="2535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OpenClaw（通用开源 Runtime）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2154" y="4013835"/>
              <a:ext cx="1853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Hermes（社区对照组）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654" y="4394835"/>
              <a:ext cx="2121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极差可达 11.5 分，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4680585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接近一次大模型版本升级的收益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29125" y="1428750"/>
            <a:ext cx="3333750" cy="4381500"/>
            <a:chOff x="4429125" y="1428750"/>
            <a:chExt cx="3333750" cy="4381500"/>
          </a:xfrm>
        </p:grpSpPr>
        <p:sp>
          <p:nvSpPr>
            <p:cNvPr id="21" name="Rectangle 21"/>
            <p:cNvSpPr/>
            <p:nvPr/>
          </p:nvSpPr>
          <p:spPr>
            <a:xfrm>
              <a:off x="4429125" y="1428750"/>
              <a:ext cx="3333750" cy="4381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29125" y="1428750"/>
              <a:ext cx="57150" cy="438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706493" y="167925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三步入式评测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08779" y="2108835"/>
              <a:ext cx="21420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1: 选择模型与 Harness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08779" y="2489835"/>
              <a:ext cx="2217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2: Docker 沙箱隔离运行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00041" y="2791778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每个任务在独立容器中执行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00041" y="3029902"/>
              <a:ext cx="16291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workspace 文件按需挂载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00041" y="326802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严格超时与重试机制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708779" y="3632835"/>
              <a:ext cx="22135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3: 自动 + LLM 双重评分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00041" y="3934778"/>
              <a:ext cx="2533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Automated: Python grade() 断言检查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00041" y="4172902"/>
              <a:ext cx="14278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LLM Judge: 语义评估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00041" y="4411028"/>
              <a:ext cx="1944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Hybrid: 自动分 &lt; 0.75 时清零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96250" y="1428750"/>
            <a:ext cx="3333750" cy="4381500"/>
            <a:chOff x="8096250" y="1428750"/>
            <a:chExt cx="3333750" cy="4381500"/>
          </a:xfrm>
        </p:grpSpPr>
        <p:sp>
          <p:nvSpPr>
            <p:cNvPr id="34" name="Rectangle 34"/>
            <p:cNvSpPr/>
            <p:nvPr/>
          </p:nvSpPr>
          <p:spPr>
            <a:xfrm>
              <a:off x="8096250" y="1428750"/>
              <a:ext cx="3333750" cy="438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96250" y="1428750"/>
              <a:ext cx="57150" cy="438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73618" y="1679258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七维能力诊断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75904" y="2108835"/>
              <a:ext cx="16034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大原子能力切片分析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66404" y="2489835"/>
              <a:ext cx="1668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Tool_Use — 工具调用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66404" y="2823210"/>
              <a:ext cx="22119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Skill_Use — Skill 发现与执行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66404" y="3156585"/>
              <a:ext cx="2411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Code_Manipulation — 代码操作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66404" y="3489960"/>
              <a:ext cx="22425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Logic_Reasoning — 逻辑推理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66404" y="3823335"/>
              <a:ext cx="16140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Planning — 任务规划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66404" y="4156710"/>
              <a:ext cx="2436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Math_Computation — 数学计算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66404" y="4490085"/>
              <a:ext cx="23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Self_Verification — 自我验证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75904" y="4918710"/>
              <a:ext cx="1280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 大应用场景打标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75904" y="5204460"/>
              <a:ext cx="1889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 个复杂度等级 (L1-L3)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502413" cy="657035"/>
            <a:chOff x="745998" y="571500"/>
            <a:chExt cx="450241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5024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为什么选择 PawBench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428750"/>
            <a:ext cx="5631289" cy="3810000"/>
            <a:chOff x="762000" y="1428750"/>
            <a:chExt cx="5631289" cy="3810000"/>
          </a:xfrm>
        </p:grpSpPr>
        <p:sp>
          <p:nvSpPr>
            <p:cNvPr id="8" name="Rectangle 8"/>
            <p:cNvSpPr/>
            <p:nvPr/>
          </p:nvSpPr>
          <p:spPr>
            <a:xfrm>
              <a:off x="762000" y="1428750"/>
              <a:ext cx="49530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428750"/>
              <a:ext cx="381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130" y="1600200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唯一交叉评测平台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1654" y="1918335"/>
              <a:ext cx="53516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+ Harness + Task，适合既自研 Agent 又调优模型的团队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654" y="2156460"/>
              <a:ext cx="3155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差距量化 — 发现实际部署中的瓶颈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2762250"/>
              <a:ext cx="49530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276225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130" y="2933700"/>
              <a:ext cx="17432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开源生态 + 可扩展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1654" y="3251835"/>
              <a:ext cx="34130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生态，可自定义任务和 Judge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1654" y="34899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阿里通义实验室持续维护，社区活跃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095750"/>
              <a:ext cx="4953000" cy="1143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" y="4095750"/>
              <a:ext cx="3810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0130" y="4267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企业就绪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4585335"/>
              <a:ext cx="22299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内网部署，数据不出网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4823460"/>
              <a:ext cx="299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可集成到 CI 流水线，每次发布自动回归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428750"/>
            <a:ext cx="5143500" cy="3810000"/>
            <a:chOff x="6286500" y="1428750"/>
            <a:chExt cx="5143500" cy="3810000"/>
          </a:xfrm>
        </p:grpSpPr>
        <p:sp>
          <p:nvSpPr>
            <p:cNvPr id="24" name="Rectangle 24"/>
            <p:cNvSpPr/>
            <p:nvPr/>
          </p:nvSpPr>
          <p:spPr>
            <a:xfrm>
              <a:off x="6286500" y="1428750"/>
              <a:ext cx="5143500" cy="3810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59880" y="1600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集成路径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667500" y="2000250"/>
              <a:ext cx="4381500" cy="285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6667500" y="22860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41642" y="2292668"/>
              <a:ext cx="2387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Phase 1 — 部署环境（2周）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42785" y="2545556"/>
              <a:ext cx="227155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部署，跑通全量 150 任务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734175" y="2476500"/>
              <a:ext cx="57150" cy="476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667500" y="314325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41642" y="3149918"/>
              <a:ext cx="23874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Phase 2 — 适配内网（2周）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42785" y="3402806"/>
              <a:ext cx="2627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改造依赖公网的任务，自定义 20-30 道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34175" y="3333750"/>
              <a:ext cx="57150" cy="476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667500" y="40005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041642" y="4007168"/>
              <a:ext cx="17023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Phase 3 — 持续优化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42785" y="4260056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嵌入迭代流程，切片分析推动持续改进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0" y="6191250"/>
            <a:ext cx="12192000" cy="666750"/>
            <a:chOff x="0" y="6191250"/>
            <a:chExt cx="12192000" cy="666750"/>
          </a:xfrm>
        </p:grpSpPr>
        <p:sp>
          <p:nvSpPr>
            <p:cNvPr id="39" name="Rectangle 39"/>
            <p:cNvSpPr/>
            <p:nvPr/>
          </p:nvSpPr>
          <p:spPr>
            <a:xfrm>
              <a:off x="0" y="6191250"/>
              <a:ext cx="12192000" cy="666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167371" y="6429375"/>
              <a:ext cx="38572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github.com/agentscope-ai/PawBench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intro">
  <a:themeElements>
    <a:clrScheme name="pawbench_intro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intro">
  <a:themeElements>
    <a:clrScheme name="pawbench_intro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intro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intr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2026-07-17T03:28:23Z</dcterms:created>
  <dcterms:modified xsi:type="dcterms:W3CDTF">2026-07-17T03:28:23Z</dcterms:modified>
  <cp:category/>
  <cp:contentStatus/>
</cp:coreProperties>
</file>