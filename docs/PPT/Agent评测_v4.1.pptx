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7" r:id="rId3"/>
    <p:sldId id="258" r:id="rId4"/>
    <p:sldId id="265" r:id="rId5"/>
    <p:sldId id="259" r:id="rId6"/>
    <p:sldId id="266" r:id="rId7"/>
    <p:sldId id="260" r:id="rId8"/>
    <p:sldId id="263" r:id="rId9"/>
    <p:sldId id="267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-57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awbench_v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wbench_v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742950" y="2099310"/>
            <a:ext cx="818746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基于 PawBench 的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2781300"/>
            <a:ext cx="1333500" cy="476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746760" y="3219450"/>
            <a:ext cx="655829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2094" y="3847148"/>
            <a:ext cx="5153271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三维交叉评测体系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5142" y="4369118"/>
            <a:ext cx="60676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道标准化任务 · 自动评分引擎 · Docker 内网隔离 · 七维原子能力诊断</a:t>
            </a:r>
          </a:p>
        </p:txBody>
      </p:sp>
      <p:sp>
        <p:nvSpPr>
          <p:cNvPr id="9" name="Rectangle 9"/>
          <p:cNvSpPr/>
          <p:nvPr/>
        </p:nvSpPr>
        <p:spPr>
          <a:xfrm>
            <a:off x="8191500" y="1866900"/>
            <a:ext cx="3238500" cy="3086100"/>
          </a:xfrm>
          <a:prstGeom prst="roundRect">
            <a:avLst>
              <a:gd name="adj" fmla="val 4938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8413242" y="210216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三维交叉评测</a:t>
            </a:r>
          </a:p>
        </p:txBody>
      </p:sp>
      <p:sp>
        <p:nvSpPr>
          <p:cNvPr id="11" name="Rectangle 11"/>
          <p:cNvSpPr/>
          <p:nvPr/>
        </p:nvSpPr>
        <p:spPr>
          <a:xfrm>
            <a:off x="8420100" y="24955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Ellipse 12"/>
          <p:cNvSpPr/>
          <p:nvPr/>
        </p:nvSpPr>
        <p:spPr>
          <a:xfrm>
            <a:off x="8629650" y="2705100"/>
            <a:ext cx="114300" cy="11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8852154" y="2689860"/>
            <a:ext cx="16214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Model · 决定能力上限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420100" y="31813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Ellipse 15"/>
          <p:cNvSpPr/>
          <p:nvPr/>
        </p:nvSpPr>
        <p:spPr>
          <a:xfrm>
            <a:off x="8629650" y="3390900"/>
            <a:ext cx="114300" cy="11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8852154" y="3375660"/>
            <a:ext cx="18035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· 决定稳定落地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420100" y="3867150"/>
            <a:ext cx="2781300" cy="533400"/>
          </a:xfrm>
          <a:prstGeom prst="roundRect">
            <a:avLst>
              <a:gd name="adj" fmla="val 17857"/>
            </a:avLst>
          </a:prstGeom>
          <a:solidFill>
            <a:schemeClr val="lt1"/>
          </a:solidFill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Ellipse 18"/>
          <p:cNvSpPr/>
          <p:nvPr/>
        </p:nvSpPr>
        <p:spPr>
          <a:xfrm>
            <a:off x="8629650" y="4076700"/>
            <a:ext cx="114300" cy="1143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8852154" y="4061460"/>
            <a:ext cx="154400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 · 决定任务场景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15147" y="4581049"/>
            <a:ext cx="17249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三者独立评测，定位真实瓶颈</a:t>
            </a:r>
          </a:p>
        </p:txBody>
      </p:sp>
      <p:sp>
        <p:nvSpPr>
          <p:cNvPr id="21" name="Rectangle 21"/>
          <p:cNvSpPr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02 / 11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46911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为什么需要 Agent 评测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63118" y="1107758"/>
            <a:ext cx="63737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两大核心痛点驱动 Agent 评测需求，PawBench 提供标准化解法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8106" y="1758315"/>
            <a:ext cx="2053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升级效果无法量化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49630" y="2171700"/>
            <a:ext cx="55699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模型 / Agent 升级后效果好坏，依赖人工挑选少量案例来判定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49630" y="2486025"/>
            <a:ext cx="44577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缺乏客观数据支撑，无法形成可靠的技术决策依据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14436" y="1762125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445703" y="1806892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44941" y="2171700"/>
            <a:ext cx="306438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150 道标准化任务 + 自动评分引擎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44941" y="2486025"/>
            <a:ext cx="38519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跑完即出分，版本间可横向对比，数据说话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3143250"/>
            <a:ext cx="11049000" cy="138112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571500" y="3143250"/>
            <a:ext cx="57150" cy="13811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48106" y="3329940"/>
            <a:ext cx="154487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现有方案局限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9630" y="3743325"/>
            <a:ext cx="412661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通用 LLM 榜单不评估工具调用与 Agent 行为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9630" y="4057650"/>
            <a:ext cx="50444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学术 Benchmark 依赖公网服务，无法满足内网部署要求</a:t>
            </a:r>
          </a:p>
        </p:txBody>
      </p:sp>
      <p:sp>
        <p:nvSpPr>
          <p:cNvPr id="21" name="Rectangle 21"/>
          <p:cNvSpPr/>
          <p:nvPr/>
        </p:nvSpPr>
        <p:spPr>
          <a:xfrm>
            <a:off x="6214436" y="3333750"/>
            <a:ext cx="19050" cy="10001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445703" y="3378518"/>
            <a:ext cx="15135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→ PawBench 解法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44941" y="3743325"/>
            <a:ext cx="38371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开源 + Docker 沙箱隔离，完全私有化部署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44941" y="4057650"/>
            <a:ext cx="32461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数据不出网，安全可控，零外部依赖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4762500"/>
            <a:ext cx="11049000" cy="428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3352655" y="4860608"/>
            <a:ext cx="548669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需要一个标准化、可复现、内网可用的 Agent 评测方案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2356" y="5330190"/>
            <a:ext cx="25728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带来的价值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29" name="TextBox 29"/>
          <p:cNvSpPr txBox="1"/>
          <p:nvPr/>
        </p:nvSpPr>
        <p:spPr>
          <a:xfrm>
            <a:off x="754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量化升级效果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5523" y="6196489"/>
            <a:ext cx="34415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每次 Agent / LLM 升级后跑一遍，数据说话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191000" y="5762625"/>
            <a:ext cx="3429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43738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精准定位短板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75023" y="6196489"/>
            <a:ext cx="294228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切片分析可定位具体能力和场景的退化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810500" y="5762625"/>
            <a:ext cx="3810000" cy="714375"/>
          </a:xfrm>
          <a:prstGeom prst="rect">
            <a:avLst/>
          </a:prstGeom>
          <a:solidFill>
            <a:schemeClr val="lt1"/>
          </a:solidFill>
          <a:ln w="9525">
            <a:solidFill>
              <a:schemeClr val="accent4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7993380" y="590550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94523" y="6196489"/>
            <a:ext cx="290034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隔离，任务数据可改造为离线</a:t>
            </a:r>
          </a:p>
        </p:txBody>
      </p:sp>
      <p:sp>
        <p:nvSpPr>
          <p:cNvPr id="37" name="Rectangle 37"/>
          <p:cNvSpPr/>
          <p:nvPr/>
        </p:nvSpPr>
        <p:spPr>
          <a:xfrm>
            <a:off x="571500" y="67056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03 / 11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897968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主流 Agent 评测方案对比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571500" y="1095375"/>
            <a:ext cx="110490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6808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工具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71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定位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334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评测对象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81297" y="1180624"/>
            <a:ext cx="84105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关键维度评分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0529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优势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643747" y="1180624"/>
            <a:ext cx="28695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劣势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58297" y="1180624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最佳场景</a:t>
            </a:r>
          </a:p>
        </p:txBody>
      </p:sp>
      <p:sp>
        <p:nvSpPr>
          <p:cNvPr id="14" name="Rectangle 14"/>
          <p:cNvSpPr/>
          <p:nvPr/>
        </p:nvSpPr>
        <p:spPr>
          <a:xfrm>
            <a:off x="571500" y="1362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80847" y="1542574"/>
            <a:ext cx="65613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PawBench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7338" y="15506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评测平台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833688" y="1550670"/>
            <a:ext cx="136253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Model + Harness + Task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33862" y="1385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33862" y="1509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233862" y="1633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233862" y="17573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786438" y="1492091"/>
            <a:ext cx="209715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Task/Judge/Runner 解耦，支持多 Agent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86438" y="1654016"/>
            <a:ext cx="18369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框架接入；Model×Harness 交叉评测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82038" y="155876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社区规模发展中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758488" y="15587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企业Agent评测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1933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80847" y="2114074"/>
            <a:ext cx="91873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57338" y="2122170"/>
            <a:ext cx="87335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交互评测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833688" y="21221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233862" y="19573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233862" y="20812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33862" y="22050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233862" y="23288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86438" y="2063591"/>
            <a:ext cx="16394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真实 Linux 桌面交互，覆盖 200+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786438" y="222551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软件品类；环境复杂度高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82038" y="2130266"/>
            <a:ext cx="144457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环境依赖重，内网部署门槛高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758488" y="2130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桌面Agent研究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2505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80847" y="2685574"/>
            <a:ext cx="7163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557338" y="2693670"/>
            <a:ext cx="53640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评测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833688" y="2693670"/>
            <a:ext cx="6282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Skill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233862" y="25288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233862" y="2652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233862" y="27765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33862" y="290036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786438" y="2635091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专注 Skill 能力评测，任务设计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786438" y="2797016"/>
            <a:ext cx="15278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精巧；适合验证单一 Skill 效果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682038" y="2701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不测完整 Agent 流程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758488" y="2701766"/>
            <a:ext cx="48956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Skill 评估</a:t>
            </a:r>
          </a:p>
        </p:txBody>
      </p:sp>
      <p:sp>
        <p:nvSpPr>
          <p:cNvPr id="51" name="Rectangle 51"/>
          <p:cNvSpPr/>
          <p:nvPr/>
        </p:nvSpPr>
        <p:spPr>
          <a:xfrm>
            <a:off x="571500" y="3076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80847" y="3257074"/>
            <a:ext cx="71036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557338" y="3265170"/>
            <a:ext cx="95912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多模态Agent评测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2833688" y="3265170"/>
            <a:ext cx="104103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Agent+Multimodal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233862" y="3100388"/>
            <a:ext cx="933602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★★★★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233862" y="32242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233862" y="3348038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扩展能力 ★★★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233862" y="347186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资料生态 ★★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786438" y="3206591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覆盖多模态 Agent 场景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786438" y="33685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任务含公网依赖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682038" y="3273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任务规模较小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758488" y="3273266"/>
            <a:ext cx="6514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多模态Agent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71500" y="3648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80847" y="3828574"/>
            <a:ext cx="74372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AgentBench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557338" y="3836670"/>
            <a:ext cx="101105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Benchmark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833688" y="3836670"/>
            <a:ext cx="81127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Agent System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233862" y="3671888"/>
            <a:ext cx="103571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完整Agent ★★★★★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233862" y="3795712"/>
            <a:ext cx="74657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★★★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4233862" y="3919538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233862" y="4043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5786438" y="3778091"/>
            <a:ext cx="153840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学术影响力大，8 大类环境覆盖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5786438" y="3940016"/>
            <a:ext cx="137417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广；部分环境依赖公网 API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8682038" y="3844766"/>
            <a:ext cx="114090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部分环境依赖公网 API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0758488" y="3844766"/>
            <a:ext cx="4510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学术研究</a:t>
            </a:r>
          </a:p>
        </p:txBody>
      </p:sp>
      <p:sp>
        <p:nvSpPr>
          <p:cNvPr id="75" name="Rectangle 75"/>
          <p:cNvSpPr/>
          <p:nvPr/>
        </p:nvSpPr>
        <p:spPr>
          <a:xfrm>
            <a:off x="571500" y="4219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680847" y="4400074"/>
            <a:ext cx="28172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GAIA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557338" y="4408170"/>
            <a:ext cx="63040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通用AI评测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2833688" y="4408170"/>
            <a:ext cx="72590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+ Agent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233862" y="4243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233862" y="4367212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内网部署 ★★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4233862" y="44910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233862" y="461486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资料生态 ★★★★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5786438" y="4349591"/>
            <a:ext cx="143129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Meta 出品，概念验证式任务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786438" y="4511516"/>
            <a:ext cx="126888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设计；公开 Leaderboard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8682038" y="4416266"/>
            <a:ext cx="1223797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依赖公网，不能内网部署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758488" y="4416266"/>
            <a:ext cx="76308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通用Agent评测</a:t>
            </a:r>
          </a:p>
        </p:txBody>
      </p:sp>
      <p:sp>
        <p:nvSpPr>
          <p:cNvPr id="87" name="Rectangle 87"/>
          <p:cNvSpPr/>
          <p:nvPr/>
        </p:nvSpPr>
        <p:spPr>
          <a:xfrm>
            <a:off x="571500" y="4791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88" name="TextBox 88"/>
          <p:cNvSpPr txBox="1"/>
          <p:nvPr/>
        </p:nvSpPr>
        <p:spPr>
          <a:xfrm>
            <a:off x="680847" y="4971574"/>
            <a:ext cx="70375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SWE-bench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557338" y="4979670"/>
            <a:ext cx="736473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代码修复评测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833688" y="4979670"/>
            <a:ext cx="75619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Coding Agent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233862" y="4814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233862" y="4938712"/>
            <a:ext cx="84753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内网部署 ★★★★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4233862" y="5062538"/>
            <a:ext cx="64560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扩展能力 ★★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4233862" y="5186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5786438" y="4921091"/>
            <a:ext cx="1169380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Coding Agent 事实标准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5786438" y="5083016"/>
            <a:ext cx="78224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社区活跃度最高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8682038" y="4987766"/>
            <a:ext cx="100302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只覆盖代码修复场景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0758488" y="4987766"/>
            <a:ext cx="53980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代码Agent</a:t>
            </a:r>
          </a:p>
        </p:txBody>
      </p:sp>
      <p:sp>
        <p:nvSpPr>
          <p:cNvPr id="99" name="Rectangle 99"/>
          <p:cNvSpPr/>
          <p:nvPr/>
        </p:nvSpPr>
        <p:spPr>
          <a:xfrm>
            <a:off x="571500" y="5362575"/>
            <a:ext cx="11049000" cy="5715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00" name="TextBox 100"/>
          <p:cNvSpPr txBox="1"/>
          <p:nvPr/>
        </p:nvSpPr>
        <p:spPr>
          <a:xfrm>
            <a:off x="680847" y="5543074"/>
            <a:ext cx="56515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DeepEval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557338" y="5551170"/>
            <a:ext cx="49415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评测框架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2833688" y="5551170"/>
            <a:ext cx="108274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LLM / RAG / Agent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4233862" y="5386388"/>
            <a:ext cx="831494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完整Agent ★★★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4233862" y="55102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4233862" y="56340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4233862" y="57578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5786438" y="5492591"/>
            <a:ext cx="119338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框架成熟，CI 集成完善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5786438" y="56545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企业使用广泛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8682038" y="5559266"/>
            <a:ext cx="116497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不提供 Agent 任务体系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10758488" y="555926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企业质量回归</a:t>
            </a:r>
          </a:p>
        </p:txBody>
      </p:sp>
      <p:sp>
        <p:nvSpPr>
          <p:cNvPr id="111" name="Rectangle 111"/>
          <p:cNvSpPr/>
          <p:nvPr/>
        </p:nvSpPr>
        <p:spPr>
          <a:xfrm>
            <a:off x="571500" y="5934075"/>
            <a:ext cx="11049000" cy="5715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12" name="TextBox 112"/>
          <p:cNvSpPr txBox="1"/>
          <p:nvPr/>
        </p:nvSpPr>
        <p:spPr>
          <a:xfrm>
            <a:off x="680847" y="6114574"/>
            <a:ext cx="6936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Promptfoo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557338" y="6122670"/>
            <a:ext cx="71887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评测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2833688" y="6122670"/>
            <a:ext cx="90920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Prompt + Model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4233862" y="5957888"/>
            <a:ext cx="729386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完整Agent ★★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4233862" y="608171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内网部署 ★★★★★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4233862" y="6205538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扩展能力 ★★★★★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4233862" y="6329362"/>
            <a:ext cx="948500" cy="1476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资料生态 ★★★★★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5786438" y="6064091"/>
            <a:ext cx="17343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轻量成熟，Prompt/模型 A/B 测试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5786438" y="6226016"/>
            <a:ext cx="67185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快速迭代友好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8682038" y="6130766"/>
            <a:ext cx="105334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不适合作 Agent 评测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10758488" y="6130766"/>
            <a:ext cx="6558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Prompt 调优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566738" y="6551295"/>
            <a:ext cx="61531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评分说明：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1519238" y="6551295"/>
            <a:ext cx="772820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★★★★★ 优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2471738" y="6551295"/>
            <a:ext cx="6516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★★★★ 良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3328988" y="6551295"/>
            <a:ext cx="409346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★★ 弱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186238" y="6551295"/>
            <a:ext cx="2662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| 内网部署 = 内网可运行 + 公网依赖度的综合评价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566738" y="6711791"/>
            <a:ext cx="54144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数据来源：各项目公开文档及 GitHub 仓库，截至 2025 年 7 月。PawBench 底层复用 OpenJudge 评测引擎。</a:t>
            </a:r>
          </a:p>
        </p:txBody>
      </p:sp>
      <p:sp>
        <p:nvSpPr>
          <p:cNvPr id="129" name="Rectangle 129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48284" y="470535"/>
            <a:ext cx="2891241" cy="4154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</a:t>
            </a:r>
            <a:r>
              <a:rPr lang="zh-CN" sz="27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的 </a:t>
            </a:r>
            <a:r>
              <a:rPr lang="zh-CN" altLang="en-US" sz="27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优势</a:t>
            </a:r>
            <a:endParaRPr lang="zh-CN" sz="2700" b="1" dirty="0">
              <a:solidFill>
                <a:schemeClr val="accent1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762000" y="914400"/>
            <a:ext cx="9525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5523" y="1119664"/>
            <a:ext cx="413430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综合 9 个主流方案对比 + 企业级 Agent 评测落地需求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161925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Rectangle 7"/>
          <p:cNvSpPr/>
          <p:nvPr/>
        </p:nvSpPr>
        <p:spPr>
          <a:xfrm>
            <a:off x="762000" y="1619250"/>
            <a:ext cx="47625" cy="190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Ellipse 8"/>
          <p:cNvSpPr/>
          <p:nvPr/>
        </p:nvSpPr>
        <p:spPr>
          <a:xfrm>
            <a:off x="981075" y="1885950"/>
            <a:ext cx="419100" cy="419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118105" y="199358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15618" y="1984058"/>
            <a:ext cx="175040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完整 Agent 评测</a:t>
            </a:r>
          </a:p>
        </p:txBody>
      </p:sp>
      <p:sp>
        <p:nvSpPr>
          <p:cNvPr id="11" name="Line 11"/>
          <p:cNvSpPr/>
          <p:nvPr/>
        </p:nvSpPr>
        <p:spPr>
          <a:xfrm>
            <a:off x="1000125" y="24765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995172" y="265699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51279" y="2632710"/>
            <a:ext cx="2518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同时评估 Model × Harness × Task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5172" y="299037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52041" y="2982278"/>
            <a:ext cx="21688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非纯 LLM 榜单（不测工具调用）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52041" y="3201352"/>
            <a:ext cx="209775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非纯 Skill 评测（不测完整流程）</a:t>
            </a:r>
          </a:p>
        </p:txBody>
      </p:sp>
      <p:sp>
        <p:nvSpPr>
          <p:cNvPr id="17" name="Rectangle 17"/>
          <p:cNvSpPr/>
          <p:nvPr/>
        </p:nvSpPr>
        <p:spPr>
          <a:xfrm>
            <a:off x="6286500" y="161925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Rectangle 18"/>
          <p:cNvSpPr/>
          <p:nvPr/>
        </p:nvSpPr>
        <p:spPr>
          <a:xfrm>
            <a:off x="6286500" y="1619250"/>
            <a:ext cx="476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Ellipse 19"/>
          <p:cNvSpPr/>
          <p:nvPr/>
        </p:nvSpPr>
        <p:spPr>
          <a:xfrm>
            <a:off x="6505575" y="188595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6642605" y="199358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40118" y="19840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内网安全运行</a:t>
            </a:r>
          </a:p>
        </p:txBody>
      </p:sp>
      <p:sp>
        <p:nvSpPr>
          <p:cNvPr id="22" name="Line 22"/>
          <p:cNvSpPr/>
          <p:nvPr/>
        </p:nvSpPr>
        <p:spPr>
          <a:xfrm>
            <a:off x="6524625" y="247650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6519672" y="265699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75779" y="2632710"/>
            <a:ext cx="22299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沙箱隔离，数据不出网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19672" y="299037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376541" y="2982278"/>
            <a:ext cx="264619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区别于 GAIA / AgentBench / PinchBench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76541" y="3201352"/>
            <a:ext cx="150418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等依赖公网 API 的方案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381000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Rectangle 29"/>
          <p:cNvSpPr/>
          <p:nvPr/>
        </p:nvSpPr>
        <p:spPr>
          <a:xfrm>
            <a:off x="762000" y="3810000"/>
            <a:ext cx="47625" cy="1905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Ellipse 30"/>
          <p:cNvSpPr/>
          <p:nvPr/>
        </p:nvSpPr>
        <p:spPr>
          <a:xfrm>
            <a:off x="981075" y="4076700"/>
            <a:ext cx="419100" cy="4191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1118105" y="41843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15618" y="4174808"/>
            <a:ext cx="284191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Model × Harness 交叉评测</a:t>
            </a:r>
          </a:p>
        </p:txBody>
      </p:sp>
      <p:sp>
        <p:nvSpPr>
          <p:cNvPr id="33" name="Line 33"/>
          <p:cNvSpPr/>
          <p:nvPr/>
        </p:nvSpPr>
        <p:spPr>
          <a:xfrm>
            <a:off x="1000125" y="466725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TextBox 34"/>
          <p:cNvSpPr txBox="1"/>
          <p:nvPr/>
        </p:nvSpPr>
        <p:spPr>
          <a:xfrm>
            <a:off x="995172" y="484774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851279" y="4823460"/>
            <a:ext cx="26702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行业首创 Model × Harness 解耦设计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95172" y="518112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852041" y="51730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独立衡量模型能力与工程稳定性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852041" y="5392102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定位真实瓶颈来源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286500" y="3810000"/>
            <a:ext cx="5143500" cy="1905000"/>
          </a:xfrm>
          <a:prstGeom prst="roundRect">
            <a:avLst>
              <a:gd name="adj" fmla="val 6000"/>
            </a:avLst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Rectangle 40"/>
          <p:cNvSpPr/>
          <p:nvPr/>
        </p:nvSpPr>
        <p:spPr>
          <a:xfrm>
            <a:off x="6286500" y="3810000"/>
            <a:ext cx="476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Ellipse 41"/>
          <p:cNvSpPr/>
          <p:nvPr/>
        </p:nvSpPr>
        <p:spPr>
          <a:xfrm>
            <a:off x="6505575" y="4076700"/>
            <a:ext cx="419100" cy="419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TextBox 42"/>
          <p:cNvSpPr txBox="1"/>
          <p:nvPr/>
        </p:nvSpPr>
        <p:spPr>
          <a:xfrm>
            <a:off x="6642605" y="4184332"/>
            <a:ext cx="1450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040118" y="417480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开源可扩展</a:t>
            </a:r>
          </a:p>
        </p:txBody>
      </p:sp>
      <p:sp>
        <p:nvSpPr>
          <p:cNvPr id="44" name="Line 44"/>
          <p:cNvSpPr/>
          <p:nvPr/>
        </p:nvSpPr>
        <p:spPr>
          <a:xfrm>
            <a:off x="6524625" y="4667250"/>
            <a:ext cx="4667250" cy="9525"/>
          </a:xfrm>
          <a:custGeom>
            <a:avLst/>
            <a:gdLst/>
            <a:ahLst/>
            <a:cxnLst/>
            <a:rect l="l" t="t" r="r" b="b"/>
            <a:pathLst>
              <a:path w="4667250" h="9525">
                <a:moveTo>
                  <a:pt x="0" y="0"/>
                </a:moveTo>
                <a:lnTo>
                  <a:pt x="4667250" y="0"/>
                </a:lnTo>
              </a:path>
            </a:pathLst>
          </a:custGeom>
          <a:noFill/>
          <a:ln w="9525">
            <a:solidFill>
              <a:schemeClr val="accent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6519672" y="4847749"/>
            <a:ext cx="564002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核心优势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375779" y="4823460"/>
            <a:ext cx="243827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Task / Judge / Runner 完全解耦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519672" y="5181124"/>
            <a:ext cx="42547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b="1" dirty="0">
                <a:solidFill>
                  <a:schemeClr val="accent2"/>
                </a:solidFill>
                <a:latin typeface="Segoe UI"/>
                <a:ea typeface="Microsoft YaHei"/>
                <a:cs typeface="Segoe UI"/>
              </a:rPr>
              <a:t>差异化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376541" y="5173028"/>
            <a:ext cx="2386872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zh-CN" sz="1050" dirty="0">
                <a:solidFill>
                  <a:schemeClr val="accent5"/>
                </a:solidFill>
                <a:latin typeface="Segoe UI"/>
                <a:cs typeface="Segoe UI"/>
              </a:rPr>
              <a:t>基于 OpenJudge 生态</a:t>
            </a:r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，</a:t>
            </a:r>
            <a:r>
              <a:rPr lang="zh-CN" altLang="zh-CN" sz="1050" dirty="0">
                <a:solidFill>
                  <a:schemeClr val="accent5"/>
                </a:solidFill>
                <a:latin typeface="Segoe UI"/>
                <a:cs typeface="Segoe UI"/>
              </a:rPr>
              <a:t>Apache 2.0 </a:t>
            </a:r>
            <a:r>
              <a:rPr lang="zh-CN" altLang="zh-CN" sz="1050" dirty="0" smtClean="0">
                <a:solidFill>
                  <a:schemeClr val="accent5"/>
                </a:solidFill>
                <a:latin typeface="Segoe UI"/>
                <a:cs typeface="Segoe UI"/>
              </a:rPr>
              <a:t>协议</a:t>
            </a:r>
            <a:endParaRPr lang="zh-CN" altLang="zh-CN" sz="1050" dirty="0">
              <a:solidFill>
                <a:schemeClr val="accent5"/>
              </a:solidFill>
              <a:latin typeface="Segoe UI"/>
              <a:cs typeface="Segoe UI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7376541" y="5392102"/>
            <a:ext cx="2437516" cy="16158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阿里通义实验室</a:t>
            </a:r>
            <a:r>
              <a:rPr lang="en-US" altLang="zh-CN" sz="1050" dirty="0" err="1">
                <a:solidFill>
                  <a:schemeClr val="accent5"/>
                </a:solidFill>
                <a:latin typeface="Segoe UI"/>
                <a:cs typeface="Segoe UI"/>
              </a:rPr>
              <a:t>AgentScope</a:t>
            </a:r>
            <a:r>
              <a:rPr lang="zh-CN" altLang="en-US" sz="1050" dirty="0">
                <a:solidFill>
                  <a:schemeClr val="accent5"/>
                </a:solidFill>
                <a:latin typeface="Segoe UI"/>
                <a:cs typeface="Segoe UI"/>
              </a:rPr>
              <a:t>团队维护</a:t>
            </a:r>
            <a:endParaRPr lang="zh-CN" altLang="zh-CN" sz="1050" dirty="0">
              <a:solidFill>
                <a:schemeClr val="accent5"/>
              </a:solidFill>
              <a:latin typeface="Segoe UI"/>
              <a:cs typeface="Segoe UI"/>
            </a:endParaRPr>
          </a:p>
        </p:txBody>
      </p:sp>
      <p:sp>
        <p:nvSpPr>
          <p:cNvPr id="50" name="Rectangle 50"/>
          <p:cNvSpPr/>
          <p:nvPr/>
        </p:nvSpPr>
        <p:spPr>
          <a:xfrm>
            <a:off x="762000" y="6000750"/>
            <a:ext cx="10668000" cy="523875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TextBox 51"/>
          <p:cNvSpPr txBox="1"/>
          <p:nvPr/>
        </p:nvSpPr>
        <p:spPr>
          <a:xfrm>
            <a:off x="2842184" y="6197918"/>
            <a:ext cx="650763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唯一在「完整 Agent」「内网部署」「可扩展」三项同时 ★★★★★ 的方案</a:t>
            </a:r>
          </a:p>
        </p:txBody>
      </p:sp>
      <p:sp>
        <p:nvSpPr>
          <p:cNvPr id="52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04 / 11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05 / 11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53495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能力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与评测设计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143000"/>
            <a:ext cx="5334000" cy="1047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571500" y="1143000"/>
            <a:ext cx="5334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924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核心设计理念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956" y="1615440"/>
            <a:ext cx="393497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表现 = f(Model, Harness)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4385" y="1955006"/>
            <a:ext cx="540680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决定能力上限 · Harness 决定稳定落地 · 两者独立评测才能发现真实瓶颈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096000" y="1143000"/>
            <a:ext cx="5524500" cy="11049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6096000" y="1143000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6316980" y="128587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三步评测流程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03897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12307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95945" y="1886902"/>
            <a:ext cx="75276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选择模型与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06913" y="2058352"/>
            <a:ext cx="9308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Harness 组合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743950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828049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452474" y="1886902"/>
            <a:ext cx="84965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沙箱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75129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隔离运行</a:t>
            </a:r>
          </a:p>
        </p:txBody>
      </p:sp>
      <p:sp>
        <p:nvSpPr>
          <p:cNvPr id="22" name="Rectangle 22"/>
          <p:cNvSpPr/>
          <p:nvPr/>
        </p:nvSpPr>
        <p:spPr>
          <a:xfrm>
            <a:off x="10448925" y="1562100"/>
            <a:ext cx="266700" cy="266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533024" y="1631156"/>
            <a:ext cx="985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84892" y="1886902"/>
            <a:ext cx="7947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 + LLM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280104" y="2058352"/>
            <a:ext cx="60434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双重评分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2381250"/>
            <a:ext cx="533400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2381250"/>
            <a:ext cx="5334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792480" y="2524125"/>
            <a:ext cx="1154162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七</a:t>
            </a:r>
            <a:r>
              <a:rPr lang="zh-CN" altLang="en-US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种</a:t>
            </a:r>
            <a:r>
              <a:rPr lang="zh-CN" sz="15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能力</a:t>
            </a:r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诊断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00100" y="28765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909066" y="2963228"/>
            <a:ext cx="6365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Tool_Use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33166" y="29632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工具调用与编排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00100" y="32194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909066" y="3306128"/>
            <a:ext cx="64284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Skill_Use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33166" y="3306128"/>
            <a:ext cx="10542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发现与执行</a:t>
            </a:r>
          </a:p>
        </p:txBody>
      </p:sp>
      <p:sp>
        <p:nvSpPr>
          <p:cNvPr id="35" name="Rectangle 35"/>
          <p:cNvSpPr/>
          <p:nvPr/>
        </p:nvSpPr>
        <p:spPr>
          <a:xfrm>
            <a:off x="800100" y="35623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909066" y="3649028"/>
            <a:ext cx="132599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Code_Manipulation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233166" y="36490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代码操作与修复</a:t>
            </a:r>
          </a:p>
        </p:txBody>
      </p:sp>
      <p:sp>
        <p:nvSpPr>
          <p:cNvPr id="38" name="Rectangle 38"/>
          <p:cNvSpPr/>
          <p:nvPr/>
        </p:nvSpPr>
        <p:spPr>
          <a:xfrm>
            <a:off x="800100" y="39052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09066" y="3991928"/>
            <a:ext cx="11702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Logic_Reasoning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233166" y="39919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逻辑推理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00100" y="42481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909066" y="4334828"/>
            <a:ext cx="5935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Planning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233166" y="433482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多步任务规划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00100" y="4591050"/>
            <a:ext cx="2286000" cy="2857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909066" y="4677728"/>
            <a:ext cx="13490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Math_Computation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233166" y="46777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数学计算</a:t>
            </a:r>
          </a:p>
        </p:txBody>
      </p:sp>
      <p:sp>
        <p:nvSpPr>
          <p:cNvPr id="47" name="Rectangle 47"/>
          <p:cNvSpPr/>
          <p:nvPr/>
        </p:nvSpPr>
        <p:spPr>
          <a:xfrm>
            <a:off x="800100" y="4933950"/>
            <a:ext cx="2286000" cy="28575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909066" y="5020628"/>
            <a:ext cx="12587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Self_Verification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233166" y="502062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自我验证与纠错</a:t>
            </a:r>
          </a:p>
        </p:txBody>
      </p:sp>
      <p:sp>
        <p:nvSpPr>
          <p:cNvPr id="50" name="Rectangle 50"/>
          <p:cNvSpPr/>
          <p:nvPr/>
        </p:nvSpPr>
        <p:spPr>
          <a:xfrm>
            <a:off x="6096000" y="2381250"/>
            <a:ext cx="5524500" cy="1476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6096000" y="2381250"/>
            <a:ext cx="55245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316980" y="25241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平台设计要点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318504" y="2870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评测策略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318885" y="3098006"/>
            <a:ext cx="433125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Model × Harness × Task 三维交叉设计，独立衡量每个因素贡献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318885" y="3383756"/>
            <a:ext cx="380113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每任务独立 Docker 容器，严格超时与重试，确保可复现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096000" y="3524250"/>
            <a:ext cx="9525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318504" y="3632835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评分模式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318885" y="3831431"/>
            <a:ext cx="503221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automated（确定性断言检查）· llm_judge（语义评估）· hybrid（混合）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096000" y="4048125"/>
            <a:ext cx="5524500" cy="1285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096000" y="4048125"/>
            <a:ext cx="552450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317742" y="42167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覆盖场景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318885" y="4498181"/>
            <a:ext cx="387125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 · 软件工程 · 数据分析 · 信息检索 · 自动化脚本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317742" y="480726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任务复杂度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318885" y="5069681"/>
            <a:ext cx="514913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L1（1-2步）· L2（3-5步）· L3（5+步含条件分支）— 适配不同评测需求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71500" y="5524500"/>
            <a:ext cx="11049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3194478" y="5664518"/>
            <a:ext cx="580304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当前已评测 9 个模型 × 3 个 Harness × 150 道任务 = 4,050 个评测单元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8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749808" y="483870"/>
            <a:ext cx="7453579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 </a:t>
            </a:r>
            <a:r>
              <a:rPr lang="zh-CN" altLang="en-US" sz="24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官方</a:t>
            </a:r>
            <a:r>
              <a:rPr lang="zh-CN" sz="24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</a:t>
            </a:r>
            <a:r>
              <a:rPr lang="zh-CN" sz="24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结果 · Model × Harness 评分矩阵</a:t>
            </a:r>
          </a:p>
        </p:txBody>
      </p:sp>
      <p:sp>
        <p:nvSpPr>
          <p:cNvPr id="4" name="Rectangle 4"/>
          <p:cNvSpPr/>
          <p:nvPr/>
        </p:nvSpPr>
        <p:spPr>
          <a:xfrm>
            <a:off x="762000" y="904875"/>
            <a:ext cx="9525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756285" y="1116806"/>
            <a:ext cx="521721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全景 150 个任务（文本 + 多模态） · 9 模型 × 3 Harness · Overall 综合得分</a:t>
            </a:r>
          </a:p>
        </p:txBody>
      </p:sp>
      <p:sp>
        <p:nvSpPr>
          <p:cNvPr id="155" name="TextBox 155"/>
          <p:cNvSpPr txBox="1"/>
          <p:nvPr/>
        </p:nvSpPr>
        <p:spPr>
          <a:xfrm>
            <a:off x="757238" y="5964883"/>
            <a:ext cx="6778885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数据来源：PawBench OpenJudge 评测引擎 · 截至 2025 年 7 月 · 平均分 = 跨 harness 加权 · 单元格颜色深浅代表分数高低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103" y="1429600"/>
            <a:ext cx="9354792" cy="4374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7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06 / 11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07 / 11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4150239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评测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任务体系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2356" y="1139190"/>
            <a:ext cx="7069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150 道任务 × 6 个源数据集 × 五维标签体系，支持精细化评测分析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3118" y="1679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任务来源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2047875"/>
            <a:ext cx="6858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09041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来源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99666" y="2144078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数量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52166" y="2144078"/>
            <a:ext cx="9011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主要覆盖领域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71500" y="23526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08660" y="2421731"/>
            <a:ext cx="577081" cy="1723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自建任务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99285" y="24217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852166" y="24298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自动化、信息检索、安全对齐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6193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08660" y="2688431"/>
            <a:ext cx="62960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claweval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99285" y="26884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52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852166" y="26965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办公协同、数据分析、内容创作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8860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08660" y="2955131"/>
            <a:ext cx="111208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qwenclawbench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99285" y="29551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52166" y="2963228"/>
            <a:ext cx="184823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自动化、软件工程、安全对齐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1527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08660" y="3221831"/>
            <a:ext cx="8029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pinchbench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99285" y="32218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23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852166" y="3229928"/>
            <a:ext cx="198958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办公流程、软件工程、信息检索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3419475"/>
            <a:ext cx="6858000" cy="266700"/>
          </a:xfrm>
          <a:prstGeom prst="rect">
            <a:avLst/>
          </a:prstGeom>
          <a:solidFill>
            <a:srgbClr val="E8F0FE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708660" y="3488531"/>
            <a:ext cx="81053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skillsbench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99285" y="34885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52166" y="3496628"/>
            <a:ext cx="148306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长程 Skill、领域自动化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3686175"/>
            <a:ext cx="6858000" cy="2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08660" y="3755231"/>
            <a:ext cx="103669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dk1"/>
                </a:solidFill>
                <a:latin typeface="Segoe UI"/>
                <a:ea typeface="Segoe UI"/>
                <a:cs typeface="Segoe UI"/>
              </a:rPr>
              <a:t>wildclawbench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99285" y="3755231"/>
            <a:ext cx="1772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52166" y="3763328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办公流程、安全对齐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3952875"/>
            <a:ext cx="6858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7715250" y="1857375"/>
            <a:ext cx="3905250" cy="25908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7715250" y="1857375"/>
            <a:ext cx="3905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945755" y="1952625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五维标签体系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47279" y="2232660"/>
            <a:ext cx="1445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应用场景 scenario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48422" y="2428399"/>
            <a:ext cx="305415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Office / Software_Engineering / Data_Analysis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48422" y="2599849"/>
            <a:ext cx="23118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Information_Retrieval / Automation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47279" y="2804160"/>
            <a:ext cx="1163908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 smtClean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能力 </a:t>
            </a:r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capabilities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948422" y="2999899"/>
            <a:ext cx="307513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chemeClr val="accent5"/>
                </a:solidFill>
                <a:latin typeface="Segoe UI"/>
                <a:ea typeface="Segoe UI"/>
                <a:cs typeface="Segoe UI"/>
              </a:rPr>
              <a:t>Logic / Math / Code / Tool / Skill / Plan / Verify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947279" y="3204210"/>
            <a:ext cx="14539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复杂度 complexity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948422" y="3399949"/>
            <a:ext cx="293720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L1（1-2步） / L2（3-5步） / L3（5+含分支）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7947279" y="3604260"/>
            <a:ext cx="14370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输入模态 modality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948422" y="3799999"/>
            <a:ext cx="263526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text / multimodal（image, audio, video）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947279" y="4004310"/>
            <a:ext cx="17592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运行环境 environment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948422" y="4200049"/>
            <a:ext cx="2437374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closed（离线复现） / open（需联公网）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63118" y="4298632"/>
            <a:ext cx="23490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五维标签如何赋能评测</a:t>
            </a:r>
          </a:p>
        </p:txBody>
      </p:sp>
      <p:sp>
        <p:nvSpPr>
          <p:cNvPr id="52" name="Rectangle 52"/>
          <p:cNvSpPr/>
          <p:nvPr/>
        </p:nvSpPr>
        <p:spPr>
          <a:xfrm>
            <a:off x="5715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571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745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按场景分类对比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75335" y="5136356"/>
            <a:ext cx="24238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只在办公协同场景下对比模型表现，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75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排除其他场景噪声，结论更聚焦</a:t>
            </a:r>
          </a:p>
        </p:txBody>
      </p:sp>
      <p:sp>
        <p:nvSpPr>
          <p:cNvPr id="57" name="Rectangle 57"/>
          <p:cNvSpPr/>
          <p:nvPr/>
        </p:nvSpPr>
        <p:spPr>
          <a:xfrm>
            <a:off x="4191000" y="4714875"/>
            <a:ext cx="3429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8" name="Rectangle 58"/>
          <p:cNvSpPr/>
          <p:nvPr/>
        </p:nvSpPr>
        <p:spPr>
          <a:xfrm>
            <a:off x="41910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394073" y="4862989"/>
            <a:ext cx="127945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按能力定向诊断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394835" y="5136356"/>
            <a:ext cx="264173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单独筛选 Tool_Use 或 Planning 任务，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394835" y="5345906"/>
            <a:ext cx="227304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精准定位模型在特定能力上的短板</a:t>
            </a:r>
          </a:p>
        </p:txBody>
      </p:sp>
      <p:sp>
        <p:nvSpPr>
          <p:cNvPr id="62" name="Rectangle 62"/>
          <p:cNvSpPr/>
          <p:nvPr/>
        </p:nvSpPr>
        <p:spPr>
          <a:xfrm>
            <a:off x="7810500" y="4714875"/>
            <a:ext cx="3810000" cy="9048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7810500" y="4714875"/>
            <a:ext cx="38100" cy="9048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8013573" y="4862989"/>
            <a:ext cx="146038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按复杂度分层评估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8014335" y="5136356"/>
            <a:ext cx="303829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对比 L1/L2/L3 不同复杂度下的表现差异，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014335" y="5345906"/>
            <a:ext cx="212227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识别模型在多步推理中的退化点</a:t>
            </a:r>
          </a:p>
        </p:txBody>
      </p:sp>
      <p:sp>
        <p:nvSpPr>
          <p:cNvPr id="67" name="Rectangle 67"/>
          <p:cNvSpPr/>
          <p:nvPr/>
        </p:nvSpPr>
        <p:spPr>
          <a:xfrm>
            <a:off x="571500" y="5857875"/>
            <a:ext cx="11049000" cy="38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3233425" y="5967889"/>
            <a:ext cx="572515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8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每道任务 5 维标签可任意组合筛选，灵活构建定制化的评测维度和对比视图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420" y="203200"/>
            <a:ext cx="114300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08 / 11</a:t>
            </a:r>
            <a:endParaRPr sz="1050" b="0" dirty="0">
              <a:solidFill>
                <a:srgbClr val="1E3A8A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6260" y="419100"/>
            <a:ext cx="107950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任务执行与评分实战 · 以 T053 为例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914400"/>
            <a:ext cx="762000" cy="3048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2610" y="1016000"/>
            <a:ext cx="11049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Microsoft YaHei"/>
                <a:ea typeface="Microsoft YaHei"/>
              </a:rPr>
              <a:t>借 T053 看清 PawBench「执行 → 采集 → 评分 → 汇总」的评测链路——它同样适用于我们的日常任务（下页对照）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320800"/>
            <a:ext cx="11049000" cy="736600"/>
          </a:xfrm>
          <a:prstGeom prst="rect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1320800"/>
            <a:ext cx="50800" cy="7366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2000" y="1409700"/>
            <a:ext cx="107950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任务 T053</a:t>
            </a:r>
            <a:r>
              <a:rPr sz="11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   ｜  来源 pinchbench   ｜  类型 内容创作·写作   ｜  复杂度 L1   ｜  环境 closed   ｜  评分 hybrid（自动 0.6 + LLM 0.4）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701800"/>
            <a:ext cx="10795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指令：</a:t>
            </a:r>
            <a:r>
              <a:rPr sz="110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撰写一篇约 500 词《远程办公对软件开发者的好处》博客，并保存为 </a:t>
            </a:r>
            <a:r>
              <a:rPr sz="11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blog_post.md</a:t>
            </a:r>
            <a:r>
              <a:rPr sz="11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  （纯文本、无外部依赖）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31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98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6500" y="3632200"/>
            <a:ext cx="2540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15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① 沙箱执行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782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782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782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② 结果采集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49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849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849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③ 双重评分 · hybrid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91600" y="2235200"/>
            <a:ext cx="26289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991600" y="2235200"/>
            <a:ext cx="2628900" cy="3302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91600" y="2286000"/>
            <a:ext cx="2628900" cy="254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④ 汇总得分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500" y="2667000"/>
            <a:ext cx="23749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Agent 在 Docker 容器中隔离运行，独立执行任务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纯文本创作，无需联网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无外部依赖 / 无预置文件</a:t>
            </a:r>
          </a:p>
          <a:p>
            <a:pPr algn="l">
              <a:lnSpc>
                <a:spcPct val="115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environment = closed（可离线复现）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超时 300s 内产出 </a:t>
            </a:r>
            <a:r>
              <a:rPr sz="10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blog_post.md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5200" y="2667000"/>
            <a:ext cx="2374900" cy="254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harness 采集运行产物与过程：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OpenClaw session → 归一化为 transcript 事件流</a:t>
            </a:r>
          </a:p>
          <a:p>
            <a:pPr algn="l">
              <a:lnSpc>
                <a:spcPct val="112000"/>
              </a:lnSpc>
            </a:pPr>
            <a:r>
              <a:rPr sz="950" b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   (message / toolCall / toolResult)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新生成文件内容注入 transcript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0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产物落盘 </a:t>
            </a:r>
            <a:r>
              <a:rPr sz="1000" b="1">
                <a:solidFill>
                  <a:srgbClr val="2563EB"/>
                </a:solidFill>
                <a:latin typeface="Consolas"/>
                <a:ea typeface="Microsoft YaHei"/>
                <a:cs typeface="Consolas"/>
              </a:rPr>
              <a:t>workspace_path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评分只读这两个输入，对框架中立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1900" y="2667000"/>
            <a:ext cx="2374900" cy="266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自动检查</a:t>
            </a:r>
            <a:r>
              <a:rPr sz="1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 权重 0.6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文件 blog_post.md 是否存在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词数 450–550 → 1.0（区间打分）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标题 + 段落结构（≥3 段）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remote / developer 关键词命中</a:t>
            </a:r>
          </a:p>
          <a:p>
            <a:pPr algn="l">
              <a:lnSpc>
                <a:spcPct val="110000"/>
              </a:lnSpc>
              <a:spcBef>
                <a:spcPts val="800"/>
              </a:spcBef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LLM 评判</a:t>
            </a:r>
            <a:r>
              <a:rPr sz="1000" b="1">
                <a:solidFill>
                  <a:srgbClr val="1E3A8A"/>
                </a:solidFill>
                <a:latin typeface="Segoe UI"/>
                <a:ea typeface="Microsoft YaHei"/>
                <a:cs typeface="Segoe UI"/>
              </a:rPr>
              <a:t>  权重 0.4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质量30 · 结构25 · 写作20</a:t>
            </a:r>
          </a:p>
          <a:p>
            <a:pPr algn="l">
              <a:lnSpc>
                <a:spcPct val="110000"/>
              </a:lnSpc>
            </a:pPr>
            <a:r>
              <a:rPr sz="95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词数15 · 完成度10（Rubric）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8600" y="2667000"/>
            <a:ext cx="2374900" cy="266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最终得分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05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score = 0.6 × 自动分</a:t>
            </a:r>
          </a:p>
          <a:p>
            <a:pPr algn="l">
              <a:lnSpc>
                <a:spcPct val="115000"/>
              </a:lnSpc>
            </a:pPr>
            <a:r>
              <a:rPr sz="105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            + 0.4 × LLM 分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050" b="1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混合惩罚机制</a:t>
            </a:r>
          </a:p>
          <a:p>
            <a:pPr algn="l">
              <a:lnSpc>
                <a:spcPct val="115000"/>
              </a:lnSpc>
            </a:pPr>
            <a:r>
              <a:rPr sz="980" b="0">
                <a:solidFill>
                  <a:srgbClr val="1A1A2E"/>
                </a:solidFill>
                <a:latin typeface="Segoe UI"/>
                <a:ea typeface="Microsoft YaHei"/>
                <a:cs typeface="Segoe UI"/>
              </a:rPr>
              <a:t>· 自动分 &lt; 0.75 时</a:t>
            </a:r>
          </a:p>
          <a:p>
            <a:pPr algn="l">
              <a:lnSpc>
                <a:spcPct val="115000"/>
              </a:lnSpc>
            </a:pPr>
            <a:r>
              <a:rPr sz="980" b="1">
                <a:solidFill>
                  <a:srgbClr val="EF4444"/>
                </a:solidFill>
                <a:latin typeface="Segoe UI"/>
                <a:ea typeface="Microsoft YaHei"/>
                <a:cs typeface="Segoe UI"/>
              </a:rPr>
              <a:t>  → LLM 分被置 0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· 防止跳过任务 / 空文件刷分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900" b="0">
                <a:solidFill>
                  <a:srgbClr val="64748B"/>
                </a:solidFill>
                <a:latin typeface="Segoe UI"/>
                <a:ea typeface="Microsoft YaHei"/>
                <a:cs typeface="Segoe UI"/>
              </a:rPr>
              <a:t>(API 真实失败时豁免)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" y="5588000"/>
            <a:ext cx="11049000" cy="4318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8500" y="5588000"/>
            <a:ext cx="10795000" cy="431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一张任务卡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= Prompt + Expected Behavior +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自动检查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(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代码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) + </a:t>
            </a:r>
            <a:r>
              <a:rPr sz="1200" b="1" dirty="0" smtClean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LLM</a:t>
            </a:r>
            <a:r>
              <a:rPr lang="zh-CN" altLang="en-US" sz="1200" b="1" dirty="0">
                <a:solidFill>
                  <a:srgbClr val="FFFFFF"/>
                </a:solidFill>
                <a:latin typeface="Segoe UI"/>
                <a:cs typeface="Segoe UI"/>
              </a:rPr>
              <a:t>评分细则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　｜　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评分仅依赖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transcript 与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workspace_path，对</a:t>
            </a:r>
            <a:r>
              <a:rPr sz="12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 Agent </a:t>
            </a:r>
            <a:r>
              <a:rPr sz="1200" b="1" dirty="0" err="1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框架保持中立</a:t>
            </a:r>
            <a:endParaRPr sz="1200" b="1" dirty="0">
              <a:solidFill>
                <a:srgbClr val="FFFFFF"/>
              </a:solidFill>
              <a:latin typeface="Segoe UI"/>
              <a:ea typeface="Microsoft YaHei"/>
              <a:cs typeface="Segoe U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60000" y="6700000"/>
            <a:ext cx="3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2563EB"/>
                </a:solidFill>
                <a:latin typeface="Microsoft YaHei"/>
                <a:ea typeface="Microsoft YaHei"/>
              </a:rPr>
              <a:t>↓ 下一页：PawBench 任务 ↔ 我们的 7 类日常能力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0000" y="380000"/>
            <a:ext cx="116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 err="1">
                <a:solidFill>
                  <a:srgbClr val="1E3A8A"/>
                </a:solidFill>
                <a:latin typeface="Microsoft YaHei"/>
                <a:ea typeface="Microsoft YaHei"/>
              </a:rPr>
              <a:t>PawBench</a:t>
            </a:r>
            <a:r>
              <a:rPr sz="3200" b="1" dirty="0">
                <a:solidFill>
                  <a:srgbClr val="1E3A8A"/>
                </a:solidFill>
                <a:latin typeface="Microsoft YaHei"/>
                <a:ea typeface="Microsoft YaHei"/>
              </a:rPr>
              <a:t> </a:t>
            </a:r>
            <a:r>
              <a:rPr sz="3200" b="1" dirty="0" err="1">
                <a:solidFill>
                  <a:srgbClr val="1E3A8A"/>
                </a:solidFill>
                <a:latin typeface="Microsoft YaHei"/>
                <a:ea typeface="Microsoft YaHei"/>
              </a:rPr>
              <a:t>任务</a:t>
            </a:r>
            <a:r>
              <a:rPr sz="3200" b="1" dirty="0">
                <a:solidFill>
                  <a:srgbClr val="1E3A8A"/>
                </a:solidFill>
                <a:latin typeface="Microsoft YaHei"/>
                <a:ea typeface="Microsoft YaHei"/>
              </a:rPr>
              <a:t> ↔ </a:t>
            </a:r>
            <a:r>
              <a:rPr sz="3200" b="1" dirty="0" err="1" smtClean="0">
                <a:solidFill>
                  <a:srgbClr val="1E3A8A"/>
                </a:solidFill>
                <a:latin typeface="Microsoft YaHei"/>
                <a:ea typeface="Microsoft YaHei"/>
              </a:rPr>
              <a:t>日常</a:t>
            </a:r>
            <a:r>
              <a:rPr lang="zh-CN" altLang="en-US" sz="3200" b="1" dirty="0" smtClean="0">
                <a:solidFill>
                  <a:srgbClr val="1E3A8A"/>
                </a:solidFill>
                <a:latin typeface="Microsoft YaHei"/>
                <a:ea typeface="Microsoft YaHei"/>
              </a:rPr>
              <a:t>工作</a:t>
            </a:r>
            <a:r>
              <a:rPr sz="3200" b="1" dirty="0" err="1" smtClean="0">
                <a:solidFill>
                  <a:srgbClr val="1E3A8A"/>
                </a:solidFill>
                <a:latin typeface="Microsoft YaHei"/>
                <a:ea typeface="Microsoft YaHei"/>
              </a:rPr>
              <a:t>能力</a:t>
            </a:r>
            <a:endParaRPr sz="3200" b="1" dirty="0">
              <a:solidFill>
                <a:srgbClr val="1E3A8A"/>
              </a:solidFill>
              <a:latin typeface="Microsoft YaHei"/>
              <a:ea typeface="Microsoft YaHe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0000" y="980000"/>
            <a:ext cx="11600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日常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7 类使用场景中，6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类在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PawBench</a:t>
            </a:r>
            <a:r>
              <a:rPr sz="15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都有强匹配任务</a:t>
            </a:r>
            <a:r>
              <a:rPr sz="15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；</a:t>
            </a:r>
            <a:r>
              <a:rPr lang="zh-CN" altLang="en-US" sz="15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与</a:t>
            </a:r>
            <a:r>
              <a:rPr sz="1500" b="0" dirty="0" smtClean="0">
                <a:solidFill>
                  <a:srgbClr val="64748B"/>
                </a:solidFill>
                <a:latin typeface="Microsoft YaHei"/>
                <a:ea typeface="Microsoft YaHei"/>
              </a:rPr>
              <a:t>T053 </a:t>
            </a:r>
            <a:r>
              <a:rPr sz="15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走完全相同的「执行→采集→评分→汇总」链路</a:t>
            </a:r>
            <a:endParaRPr sz="1500" b="0" dirty="0">
              <a:solidFill>
                <a:srgbClr val="64748B"/>
              </a:solidFill>
              <a:latin typeface="Microsoft YaHei"/>
              <a:ea typeface="Microsoft YaHei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702970"/>
              </p:ext>
            </p:extLst>
          </p:nvPr>
        </p:nvGraphicFramePr>
        <p:xfrm>
          <a:off x="600000" y="1480000"/>
          <a:ext cx="11432974" cy="4532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6242"/>
                <a:gridCol w="2611843"/>
                <a:gridCol w="3006084"/>
                <a:gridCol w="4188805"/>
              </a:tblGrid>
              <a:tr h="647500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日常能力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对应任务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评分方式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考察核心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YaHei"/>
                        <a:ea typeface="Microsoft YaHei"/>
                      </a:endParaRPr>
                    </a:p>
                  </a:txBody>
                  <a:tcPr marL="120000" marR="120000" marT="60000" marB="60000">
                    <a:solidFill>
                      <a:srgbClr val="1E3A8A"/>
                    </a:solidFill>
                  </a:tcPr>
                </a:tc>
              </a:tr>
              <a:tr h="647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邮件处理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T016 Email Triage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0.35 / LLM 0.65）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读收件箱 → 分类(需回复/通知/垃圾) → 结构化输出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647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通讯录 / CRM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T026 / T027 CRM Export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0.5 / LLM 0.5）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从 CRM 导出客户与通讯录数据，并做错误恢复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  <a:tr h="647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内部新闻 / 资讯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T025 Newsletter Curation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0.4 / LLM 0.6）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多源 RSS 筛选 → 编辑摘要 → 形成技术简报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647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Excel / 表格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T019 / T020 Expense Report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0.45 / LLM 0.55）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原始交易 → 分类汇总 → 生成报销报告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  <a:tr h="647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文档 (Doc)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T040 / T041 会议 &amp; 进度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0.2 / LLM 0.8）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提取会议行动项 / 并行生成多项目进度报告</a:t>
                      </a:r>
                    </a:p>
                  </a:txBody>
                  <a:tcPr marL="120000" marR="120000" marT="60000" marB="60000">
                    <a:solidFill>
                      <a:srgbClr val="FFFFFF"/>
                    </a:solidFill>
                  </a:tcPr>
                </a:tc>
              </a:tr>
              <a:tr h="6475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代码处理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T064 Playwright E2E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hybrid（自动 0.5 / LLM 0.5）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编写并调试端到端表单测试代码（真实代码操作</a:t>
                      </a:r>
                      <a:r>
                        <a:rPr sz="1300" b="0" dirty="0">
                          <a:solidFill>
                            <a:srgbClr val="1A1A2E"/>
                          </a:solidFill>
                          <a:latin typeface="Microsoft YaHei"/>
                          <a:ea typeface="Microsoft YaHei"/>
                        </a:rPr>
                        <a:t>）</a:t>
                      </a:r>
                    </a:p>
                  </a:txBody>
                  <a:tcPr marL="120000" marR="120000" marT="60000" marB="60000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0000" y="6322684"/>
            <a:ext cx="11600000" cy="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注：上述任务均为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hybrid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评分（自动检查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+ LLM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评判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），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与你们日常使用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OpenClaw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处理邮件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表格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文档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 / </a:t>
            </a:r>
            <a:r>
              <a:rPr sz="1200" b="0" dirty="0" err="1">
                <a:solidFill>
                  <a:srgbClr val="64748B"/>
                </a:solidFill>
                <a:latin typeface="Microsoft YaHei"/>
                <a:ea typeface="Microsoft YaHei"/>
              </a:rPr>
              <a:t>代码的能力高度对应</a:t>
            </a:r>
            <a:r>
              <a:rPr sz="1200" b="0" dirty="0">
                <a:solidFill>
                  <a:srgbClr val="64748B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420" y="203200"/>
            <a:ext cx="1143000" cy="20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66166" y="229552"/>
            <a:ext cx="415178" cy="1615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10 / 11</a:t>
            </a:r>
            <a:endParaRPr lang="en-US" sz="1050" dirty="0">
              <a:solidFill>
                <a:schemeClr val="accent6"/>
              </a:solidFill>
              <a:latin typeface="Segoe UI"/>
              <a:ea typeface="Segoe UI"/>
              <a:cs typeface="Segoe UI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56260" y="438150"/>
            <a:ext cx="5304401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3000" b="1" dirty="0" err="1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PawBench</a:t>
            </a:r>
            <a:r>
              <a:rPr lang="zh-CN" sz="3000" b="1" dirty="0" smtClean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应用</a:t>
            </a:r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场景与集成方式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3118" y="120300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典型应用场景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57162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71500" y="157162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73811" y="1674971"/>
            <a:ext cx="121878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模型升级评估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5335" y="1955006"/>
            <a:ext cx="383406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 Harness，横向跑新旧模型，看整体分和切片分变化</a:t>
            </a:r>
          </a:p>
        </p:txBody>
      </p:sp>
      <p:sp>
        <p:nvSpPr>
          <p:cNvPr id="11" name="Rectangle 11"/>
          <p:cNvSpPr/>
          <p:nvPr/>
        </p:nvSpPr>
        <p:spPr>
          <a:xfrm>
            <a:off x="571500" y="236220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571500" y="236220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73811" y="2465546"/>
            <a:ext cx="1445562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Agent 框架迭代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5335" y="2745581"/>
            <a:ext cx="398606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固定模型，横向跑不同版本 Harness，验证改动未引入退化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71500" y="3152775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571500" y="3152775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73811" y="3256121"/>
            <a:ext cx="15572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自定义 Skill 验证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75335" y="3536156"/>
            <a:ext cx="36099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新增业务 Skill 后，在相关切片上验证发现和执行效果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943350"/>
            <a:ext cx="5238750" cy="6667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571500" y="3943350"/>
            <a:ext cx="38100" cy="6667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773811" y="4046696"/>
            <a:ext cx="1419507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回归测试流水线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5335" y="4326731"/>
            <a:ext cx="366374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集成到 CI 流程，每次 Agent / 模型发布自动触发评测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3118" y="4822508"/>
            <a:ext cx="211582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企业需求与能力适配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5219700"/>
            <a:ext cx="257175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775716" y="5315902"/>
            <a:ext cx="3075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需求</a:t>
            </a:r>
          </a:p>
        </p:txBody>
      </p:sp>
      <p:sp>
        <p:nvSpPr>
          <p:cNvPr id="26" name="Rectangle 26"/>
          <p:cNvSpPr/>
          <p:nvPr/>
        </p:nvSpPr>
        <p:spPr>
          <a:xfrm>
            <a:off x="3143250" y="5219700"/>
            <a:ext cx="2667000" cy="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3347466" y="5315902"/>
            <a:ext cx="10492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PawBench 能力</a:t>
            </a:r>
          </a:p>
        </p:txBody>
      </p:sp>
      <p:sp>
        <p:nvSpPr>
          <p:cNvPr id="28" name="Rectangle 28"/>
          <p:cNvSpPr/>
          <p:nvPr/>
        </p:nvSpPr>
        <p:spPr>
          <a:xfrm>
            <a:off x="571500" y="55245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80847" y="55716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内网私有化部署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143250" y="55245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3252597" y="5571649"/>
            <a:ext cx="197419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开源 + Docker，数据不出内网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71500" y="57340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80847" y="5781199"/>
            <a:ext cx="125739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评测完整 Agent 系统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143250" y="57340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252597" y="5781199"/>
            <a:ext cx="2096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Model × Harness × Task 全覆盖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59436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80847" y="5990749"/>
            <a:ext cx="93339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自定义任务扩展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143250" y="59436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3252597" y="5990749"/>
            <a:ext cx="198031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OpenJudge 生态，灵活可扩展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6153150"/>
            <a:ext cx="257175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80847" y="6200299"/>
            <a:ext cx="85045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Skill 能力评估</a:t>
            </a:r>
          </a:p>
        </p:txBody>
      </p:sp>
      <p:sp>
        <p:nvSpPr>
          <p:cNvPr id="42" name="Rectangle 42"/>
          <p:cNvSpPr/>
          <p:nvPr/>
        </p:nvSpPr>
        <p:spPr>
          <a:xfrm>
            <a:off x="3143250" y="6153150"/>
            <a:ext cx="2667000" cy="2095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3252597" y="6200299"/>
            <a:ext cx="26924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7 大原子能力含 Skill_Use，15 道专项任务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71500" y="6362700"/>
            <a:ext cx="257175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80847" y="6409849"/>
            <a:ext cx="53761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量化回归</a:t>
            </a:r>
          </a:p>
        </p:txBody>
      </p:sp>
      <p:sp>
        <p:nvSpPr>
          <p:cNvPr id="46" name="Rectangle 46"/>
          <p:cNvSpPr/>
          <p:nvPr/>
        </p:nvSpPr>
        <p:spPr>
          <a:xfrm>
            <a:off x="3143250" y="6362700"/>
            <a:ext cx="2667000" cy="20955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3252597" y="6409849"/>
            <a:ext cx="23238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10B981"/>
                </a:solidFill>
                <a:latin typeface="Segoe UI"/>
                <a:ea typeface="Microsoft YaHei"/>
                <a:cs typeface="Segoe UI"/>
              </a:rPr>
              <a:t>✓ 标准化任务 + 自动评分，CI 可集成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78118" y="12030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集成方式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286500" y="16192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6286500" y="1619250"/>
            <a:ext cx="57150" cy="1095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564630" y="17430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环境部署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566154" y="2061210"/>
            <a:ext cx="442806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Docker 一键部署，拉取 PawBench 仓库，配置模型 API 密钥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566154" y="2299335"/>
            <a:ext cx="42527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完成后即可跑通全量 150 道标准化任务，获得基线评测结果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286500" y="285750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55" name="Rectangle 55"/>
          <p:cNvSpPr/>
          <p:nvPr/>
        </p:nvSpPr>
        <p:spPr>
          <a:xfrm>
            <a:off x="6286500" y="2857500"/>
            <a:ext cx="57150" cy="109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6564630" y="298132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内网适配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566154" y="3299460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含公网依赖的任务改造为离线可运行，自定义业务相关任务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566154" y="3537585"/>
            <a:ext cx="468683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支持基于 OpenJudge 自定义 Task / Judge / Runner，灵活扩展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286500" y="4095750"/>
            <a:ext cx="5334000" cy="1095375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6286500" y="4095750"/>
            <a:ext cx="57150" cy="109537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6564630" y="42195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持续迭代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6566154" y="4537710"/>
            <a:ext cx="333682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嵌入 Agent 开发迭代流程，每次发布自动评测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566154" y="477583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利用五维标签切片分析，精准定位能力变化，推动持续改进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286500" y="5429250"/>
            <a:ext cx="5334000" cy="76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6286500" y="5429250"/>
            <a:ext cx="5334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6566535" y="5574506"/>
            <a:ext cx="6446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技术特点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566916" y="5811202"/>
            <a:ext cx="46171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 和私有化模型接入，纯 Python 实现，无专有依赖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6566916" y="6001702"/>
            <a:ext cx="38489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/ Judge / Runner 解耦设计，各组件可独立定制和替换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6667500"/>
            <a:ext cx="11049000" cy="95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70" name="Rectangle 5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556260" y="438150"/>
            <a:ext cx="878586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0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总结</a:t>
            </a:r>
          </a:p>
        </p:txBody>
      </p:sp>
      <p:sp>
        <p:nvSpPr>
          <p:cNvPr id="4" name="Rectangle 4"/>
          <p:cNvSpPr/>
          <p:nvPr/>
        </p:nvSpPr>
        <p:spPr>
          <a:xfrm>
            <a:off x="571500" y="914400"/>
            <a:ext cx="762000" cy="285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ectangle 5"/>
          <p:cNvSpPr/>
          <p:nvPr/>
        </p:nvSpPr>
        <p:spPr>
          <a:xfrm>
            <a:off x="57150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Rectangle 6"/>
          <p:cNvSpPr/>
          <p:nvPr/>
        </p:nvSpPr>
        <p:spPr>
          <a:xfrm>
            <a:off x="571500" y="1238250"/>
            <a:ext cx="352425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83896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1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886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交叉评测矩阵</a:t>
            </a:r>
          </a:p>
        </p:txBody>
      </p:sp>
      <p:sp>
        <p:nvSpPr>
          <p:cNvPr id="9" name="Rectangle 9"/>
          <p:cNvSpPr/>
          <p:nvPr/>
        </p:nvSpPr>
        <p:spPr>
          <a:xfrm>
            <a:off x="85725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851154" y="2394585"/>
            <a:ext cx="21565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同时评估 Model、Harness 和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154" y="2632710"/>
            <a:ext cx="22238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 三个维度，回答的不只是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1154" y="2870835"/>
            <a:ext cx="20557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"模型好不好"，更是"部署后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51154" y="3108960"/>
            <a:ext cx="14662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的 Agent 好不好用"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1154" y="3442335"/>
            <a:ext cx="22595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9 模型 × 3 Harness × 150 任务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51154" y="3680460"/>
            <a:ext cx="12883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= 4,050 评测单元</a:t>
            </a:r>
          </a:p>
        </p:txBody>
      </p:sp>
      <p:sp>
        <p:nvSpPr>
          <p:cNvPr id="16" name="Rectangle 16"/>
          <p:cNvSpPr/>
          <p:nvPr/>
        </p:nvSpPr>
        <p:spPr>
          <a:xfrm>
            <a:off x="4333875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ectangle 17"/>
          <p:cNvSpPr/>
          <p:nvPr/>
        </p:nvSpPr>
        <p:spPr>
          <a:xfrm>
            <a:off x="4333875" y="1238250"/>
            <a:ext cx="352425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4601337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chemeClr val="accent2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11243" y="186975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灵活可扩展</a:t>
            </a:r>
          </a:p>
        </p:txBody>
      </p:sp>
      <p:sp>
        <p:nvSpPr>
          <p:cNvPr id="20" name="Rectangle 20"/>
          <p:cNvSpPr/>
          <p:nvPr/>
        </p:nvSpPr>
        <p:spPr>
          <a:xfrm>
            <a:off x="4619625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4613529" y="2394585"/>
            <a:ext cx="23892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Task、Judge、Runner 完全解耦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13529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可自定义评测任务和评分规则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13529" y="287083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五维标签体系支持精细化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613529" y="3108960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切片分析，定位薄弱环节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13529" y="3442335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阿里通义实验室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13529" y="3680460"/>
            <a:ext cx="16132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AgentScope 团队出品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96250" y="1238250"/>
            <a:ext cx="3524250" cy="295275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Rectangle 28"/>
          <p:cNvSpPr/>
          <p:nvPr/>
        </p:nvSpPr>
        <p:spPr>
          <a:xfrm>
            <a:off x="8096250" y="1238250"/>
            <a:ext cx="3524250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8363712" y="1278255"/>
            <a:ext cx="596326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600" b="1" dirty="0">
                <a:solidFill>
                  <a:srgbClr val="10B981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73618" y="1869758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Segoe UI"/>
                <a:ea typeface="Microsoft YaHei"/>
                <a:cs typeface="Segoe UI"/>
              </a:rPr>
              <a:t>内网安全就绪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382000" y="2190750"/>
            <a:ext cx="381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8375904" y="2394585"/>
            <a:ext cx="157764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Docker 沙箱隔离运行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75904" y="2632710"/>
            <a:ext cx="21122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完全私有化部署，数据不出网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75904" y="2870835"/>
            <a:ext cx="21969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可集成 CI/CD，自动回归测试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75904" y="3108960"/>
            <a:ext cx="16131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支持 OpenAI 兼容 API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75904" y="3442335"/>
            <a:ext cx="25478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accent6"/>
                </a:solidFill>
                <a:latin typeface="Segoe UI"/>
                <a:ea typeface="Segoe UI"/>
                <a:cs typeface="Segoe UI"/>
              </a:rPr>
              <a:t>Python 3.11+ / Docker / Node.js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375904" y="3680460"/>
            <a:ext cx="156949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6"/>
                </a:solidFill>
                <a:latin typeface="Segoe UI"/>
                <a:ea typeface="Microsoft YaHei"/>
                <a:cs typeface="Segoe UI"/>
              </a:rPr>
              <a:t>Apache 2.0 开源协议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4457700"/>
            <a:ext cx="11049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563880" y="4676775"/>
            <a:ext cx="28135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accent1"/>
                </a:solidFill>
                <a:latin typeface="Segoe UI"/>
                <a:ea typeface="Microsoft YaHei"/>
                <a:cs typeface="Segoe UI"/>
              </a:rPr>
              <a:t>Agent 评测正处于关键转折期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65023" y="5024914"/>
            <a:ext cx="861289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从手工挑选个别案例做主观判断，转向标准化、自动化、多维度的量化评测，是 Agent 从实验走向生产的前提。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5023" y="5310664"/>
            <a:ext cx="967591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一个完整的评测体系需要同时覆盖模型能力、任务框架和运行环境三个独立变量，才能真正回答"我的 Agent 到底好不好用"。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5023" y="5596414"/>
            <a:ext cx="599893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chemeClr val="accent5"/>
                </a:solidFill>
                <a:latin typeface="Segoe UI"/>
                <a:ea typeface="Microsoft YaHei"/>
                <a:cs typeface="Segoe UI"/>
              </a:rPr>
              <a:t>开源、可扩展、内网安全的评测基础设施，是推动 Agent 工程化的关键一环。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141640" y="65541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sz="1050" b="0">
                <a:solidFill>
                  <a:srgbClr val="1E3A8A"/>
                </a:solidFill>
                <a:latin typeface="Microsoft YaHei"/>
                <a:ea typeface="Microsoft YaHei"/>
              </a:rPr>
              <a:t>11 / 11</a:t>
            </a:r>
          </a:p>
        </p:txBody>
      </p:sp>
      <p:sp>
        <p:nvSpPr>
          <p:cNvPr id="44" name="Rectangle 44"/>
          <p:cNvSpPr/>
          <p:nvPr/>
        </p:nvSpPr>
        <p:spPr>
          <a:xfrm>
            <a:off x="0" y="6838950"/>
            <a:ext cx="12192000" cy="1905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pawbench_v2">
  <a:themeElements>
    <a:clrScheme name="pawbench_v2">
      <a:dk1>
        <a:srgbClr val="1A1A2E"/>
      </a:dk1>
      <a:lt1>
        <a:srgbClr val="FFFFFF"/>
      </a:lt1>
      <a:dk2>
        <a:srgbClr val="1F497D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64748B"/>
      </a:accent5>
      <a:accent6>
        <a:srgbClr val="94A3B8"/>
      </a:accent6>
      <a:hlink>
        <a:srgbClr val="2563EB"/>
      </a:hlink>
      <a:folHlink>
        <a:srgbClr val="93C5FD"/>
      </a:folHlink>
    </a:clrScheme>
    <a:fontScheme name="pawbench_v2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v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2339</Words>
  <Application>Microsoft Office PowerPoint</Application>
  <PresentationFormat>自定义</PresentationFormat>
  <Paragraphs>411</Paragraphs>
  <Slides>11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2" baseType="lpstr">
      <vt:lpstr>pawbench_v2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/>
  <cp:lastModifiedBy>chinalife</cp:lastModifiedBy>
  <cp:revision>12</cp:revision>
  <dcterms:created xsi:type="dcterms:W3CDTF">2026-07-20T00:49:04Z</dcterms:created>
  <dcterms:modified xsi:type="dcterms:W3CDTF">2026-07-21T03:11:11Z</dcterms:modified>
  <cp:category/>
  <cp:contentStatus/>
  <dc:language/>
</cp:coreProperties>
</file>